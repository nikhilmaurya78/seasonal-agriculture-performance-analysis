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48" r:id="rId8"/>
    <p:sldId id="329" r:id="rId9"/>
    <p:sldId id="302" r:id="rId10"/>
    <p:sldId id="339" r:id="rId11"/>
    <p:sldId id="349" r:id="rId12"/>
    <p:sldId id="350" r:id="rId13"/>
    <p:sldId id="351" r:id="rId14"/>
    <p:sldId id="352" r:id="rId15"/>
    <p:sldId id="353" r:id="rId16"/>
    <p:sldId id="354"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D9D9D9"/>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8" d="100"/>
          <a:sy n="88" d="100"/>
        </p:scale>
        <p:origin x="-370" y="-77"/>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pPr/>
              <a:t>9/9/2026</a:t>
            </a:fld>
            <a:endParaRPr lang="en-US" dirty="0"/>
          </a:p>
        </p:txBody>
      </p:sp>
      <p:sp>
        <p:nvSpPr>
          <p:cNvPr id="4" name="Footer Placeholder 3">
            <a:extLst>
              <a:ext uri="{FF2B5EF4-FFF2-40B4-BE49-F238E27FC236}">
                <a16:creationId xmlns=""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pPr/>
              <a:t>‹#›</a:t>
            </a:fld>
            <a:endParaRPr lang="en-US" dirty="0"/>
          </a:p>
        </p:txBody>
      </p:sp>
    </p:spTree>
    <p:extLst>
      <p:ext uri="{BB962C8B-B14F-4D97-AF65-F5344CB8AC3E}">
        <p14:creationId xmlns=""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pPr/>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pPr/>
              <a:t>‹#›</a:t>
            </a:fld>
            <a:endParaRPr lang="en-US" noProof="0" dirty="0"/>
          </a:p>
        </p:txBody>
      </p:sp>
    </p:spTree>
    <p:extLst>
      <p:ext uri="{BB962C8B-B14F-4D97-AF65-F5344CB8AC3E}">
        <p14:creationId xmlns=""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pPr/>
              <a:t>6</a:t>
            </a:fld>
            <a:endParaRPr lang="en-US" noProof="0" dirty="0"/>
          </a:p>
        </p:txBody>
      </p:sp>
    </p:spTree>
    <p:extLst>
      <p:ext uri="{BB962C8B-B14F-4D97-AF65-F5344CB8AC3E}">
        <p14:creationId xmlns=""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pPr/>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pPr/>
              <a:t>‹#›</a:t>
            </a:fld>
            <a:endParaRPr lang="en-US" dirty="0"/>
          </a:p>
        </p:txBody>
      </p:sp>
    </p:spTree>
    <p:extLst>
      <p:ext uri="{BB962C8B-B14F-4D97-AF65-F5344CB8AC3E}">
        <p14:creationId xmlns=""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pPr/>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spTree>
    <p:extLst>
      <p:ext uri="{BB962C8B-B14F-4D97-AF65-F5344CB8AC3E}">
        <p14:creationId xmlns=""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pPr/>
              <a:t>‹#›</a:t>
            </a:fld>
            <a:endParaRPr lang="en-US" dirty="0"/>
          </a:p>
        </p:txBody>
      </p:sp>
    </p:spTree>
    <p:extLst>
      <p:ext uri="{BB962C8B-B14F-4D97-AF65-F5344CB8AC3E}">
        <p14:creationId xmlns=""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 xmlns:p14="http://schemas.microsoft.com/office/powerpoint/2010/main" val="1409194673"/>
      </p:ext>
    </p:extLst>
  </p:cSld>
  <p:clrMapOvr>
    <a:masterClrMapping/>
  </p:clrMapOvr>
  <p:extLst>
    <p:ext uri="{DCECCB84-F9BA-43D5-87BE-67443E8EF086}">
      <p15:sldGuideLst xmlns=""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 xmlns:p14="http://schemas.microsoft.com/office/powerpoint/2010/main" val="75139580"/>
      </p:ext>
    </p:extLst>
  </p:cSld>
  <p:clrMapOvr>
    <a:masterClrMapping/>
  </p:clrMapOvr>
  <p:extLst>
    <p:ext uri="{DCECCB84-F9BA-43D5-87BE-67443E8EF086}">
      <p15:sldGuideLst xmlns=""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 xmlns:p14="http://schemas.microsoft.com/office/powerpoint/2010/main" val="1591254852"/>
      </p:ext>
    </p:extLst>
  </p:cSld>
  <p:clrMapOvr>
    <a:masterClrMapping/>
  </p:clrMapOvr>
  <p:extLst>
    <p:ext uri="{DCECCB84-F9BA-43D5-87BE-67443E8EF086}">
      <p15:sldGuideLst xmlns=""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 xmlns:p14="http://schemas.microsoft.com/office/powerpoint/2010/main" val="1795884839"/>
      </p:ext>
    </p:extLst>
  </p:cSld>
  <p:clrMapOvr>
    <a:masterClrMapping/>
  </p:clrMapOvr>
  <p:extLst>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nikhilmaurya78/Seasonal-Agriculture-Performance-Analysis.git" TargetMode="External"/><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7201737A-B873-4D1D-8A41-5ABF5184BC8F}"/>
              </a:ext>
            </a:extLst>
          </p:cNvPr>
          <p:cNvSpPr>
            <a:spLocks noGrp="1"/>
          </p:cNvSpPr>
          <p:nvPr>
            <p:ph type="body" sz="quarter" idx="11"/>
          </p:nvPr>
        </p:nvSpPr>
        <p:spPr>
          <a:xfrm>
            <a:off x="715993" y="3390181"/>
            <a:ext cx="8807570" cy="1466491"/>
          </a:xfrm>
        </p:spPr>
        <p:txBody>
          <a:bodyPr vert="horz" lIns="91440" tIns="45720" rIns="91440" bIns="45720" rtlCol="0" anchor="t">
            <a:normAutofit/>
          </a:bodyPr>
          <a:lstStyle/>
          <a:p>
            <a:r>
              <a:rPr lang="en-US" dirty="0" smtClean="0">
                <a:solidFill>
                  <a:schemeClr val="tx1"/>
                </a:solidFill>
                <a:latin typeface="Times New Roman" pitchFamily="18" charset="0"/>
                <a:cs typeface="Times New Roman" pitchFamily="18" charset="0"/>
              </a:rPr>
              <a:t>Student Name – Nikhil </a:t>
            </a:r>
            <a:r>
              <a:rPr lang="en-US" dirty="0" err="1" smtClean="0">
                <a:solidFill>
                  <a:schemeClr val="tx1"/>
                </a:solidFill>
                <a:latin typeface="Times New Roman" pitchFamily="18" charset="0"/>
                <a:cs typeface="Times New Roman" pitchFamily="18" charset="0"/>
              </a:rPr>
              <a:t>Maurya</a:t>
            </a:r>
            <a:endParaRPr lang="en-IN" dirty="0">
              <a:solidFill>
                <a:schemeClr val="tx1"/>
              </a:solidFill>
              <a:latin typeface="Times New Roman" pitchFamily="18" charset="0"/>
              <a:cs typeface="Times New Roman" pitchFamily="18" charset="0"/>
            </a:endParaRPr>
          </a:p>
          <a:p>
            <a:r>
              <a:rPr lang="en-US" dirty="0">
                <a:solidFill>
                  <a:schemeClr val="tx1"/>
                </a:solidFill>
                <a:latin typeface="Times New Roman" pitchFamily="18" charset="0"/>
                <a:cs typeface="Times New Roman" pitchFamily="18" charset="0"/>
              </a:rPr>
              <a:t>College </a:t>
            </a:r>
            <a:r>
              <a:rPr lang="en-US" dirty="0" smtClean="0">
                <a:solidFill>
                  <a:schemeClr val="tx1"/>
                </a:solidFill>
                <a:latin typeface="Times New Roman" pitchFamily="18" charset="0"/>
                <a:cs typeface="Times New Roman" pitchFamily="18" charset="0"/>
              </a:rPr>
              <a:t>Name- Faculty Of Engineering &amp; Technology, University of </a:t>
            </a:r>
            <a:r>
              <a:rPr lang="en-US" dirty="0" err="1" smtClean="0">
                <a:solidFill>
                  <a:schemeClr val="tx1"/>
                </a:solidFill>
                <a:latin typeface="Times New Roman" pitchFamily="18" charset="0"/>
                <a:cs typeface="Times New Roman" pitchFamily="18" charset="0"/>
              </a:rPr>
              <a:t>Lucknow</a:t>
            </a:r>
            <a:endParaRPr lang="en-US" dirty="0" smtClean="0">
              <a:solidFill>
                <a:schemeClr val="tx1"/>
              </a:solidFill>
              <a:latin typeface="Times New Roman" pitchFamily="18" charset="0"/>
              <a:cs typeface="Times New Roman" pitchFamily="18" charset="0"/>
            </a:endParaRPr>
          </a:p>
          <a:p>
            <a:r>
              <a:rPr lang="en-US" dirty="0" smtClean="0">
                <a:solidFill>
                  <a:schemeClr val="tx1"/>
                </a:solidFill>
                <a:latin typeface="Times New Roman" pitchFamily="18" charset="0"/>
                <a:cs typeface="Times New Roman" pitchFamily="18" charset="0"/>
              </a:rPr>
              <a:t>AICTE STU ID -  STU679b1410183791738216464</a:t>
            </a:r>
            <a:endParaRPr lang="en-US" b="0" dirty="0" smtClean="0">
              <a:solidFill>
                <a:schemeClr val="tx1"/>
              </a:solidFill>
              <a:latin typeface="Times New Roman" pitchFamily="18" charset="0"/>
              <a:cs typeface="Times New Roman" pitchFamily="18" charset="0"/>
            </a:endParaRPr>
          </a:p>
          <a:p>
            <a:endParaRPr lang="en-IN" b="0" dirty="0">
              <a:solidFill>
                <a:schemeClr val="tx1"/>
              </a:solidFill>
            </a:endParaRPr>
          </a:p>
        </p:txBody>
      </p:sp>
      <p:sp>
        <p:nvSpPr>
          <p:cNvPr id="4" name="Title 3">
            <a:extLst>
              <a:ext uri="{FF2B5EF4-FFF2-40B4-BE49-F238E27FC236}">
                <a16:creationId xmlns="" xmlns:a16="http://schemas.microsoft.com/office/drawing/2014/main" id="{92056599-CDAA-4367-BEF8-31D6E32518C8}"/>
              </a:ext>
            </a:extLst>
          </p:cNvPr>
          <p:cNvSpPr>
            <a:spLocks noGrp="1"/>
          </p:cNvSpPr>
          <p:nvPr>
            <p:ph type="title"/>
          </p:nvPr>
        </p:nvSpPr>
        <p:spPr>
          <a:xfrm>
            <a:off x="686990" y="2725946"/>
            <a:ext cx="9733719" cy="750498"/>
          </a:xfrm>
        </p:spPr>
        <p:txBody>
          <a:bodyPr>
            <a:noAutofit/>
          </a:bodyPr>
          <a:lstStyle/>
          <a:p>
            <a:r>
              <a:rPr lang="en-GB" b="1" dirty="0" smtClean="0">
                <a:latin typeface="Times New Roman" pitchFamily="18" charset="0"/>
                <a:cs typeface="Times New Roman" pitchFamily="18" charset="0"/>
              </a:rPr>
              <a:t> Project </a:t>
            </a:r>
            <a:r>
              <a:rPr lang="en-GB" b="1" dirty="0">
                <a:latin typeface="Times New Roman" pitchFamily="18" charset="0"/>
                <a:cs typeface="Times New Roman" pitchFamily="18" charset="0"/>
              </a:rPr>
              <a:t>Title </a:t>
            </a:r>
            <a:r>
              <a:rPr lang="en-GB" b="1"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Seasonal </a:t>
            </a:r>
            <a:r>
              <a:rPr lang="en-US" b="1" dirty="0" smtClean="0">
                <a:latin typeface="Times New Roman" pitchFamily="18" charset="0"/>
                <a:cs typeface="Times New Roman" pitchFamily="18" charset="0"/>
              </a:rPr>
              <a:t>Agriculture Performance Analysis</a:t>
            </a:r>
            <a:endParaRPr lang="en-IN" b="1" dirty="0">
              <a:latin typeface="Times New Roman" pitchFamily="18" charset="0"/>
              <a:cs typeface="Times New Roman" pitchFamily="18" charset="0"/>
            </a:endParaRPr>
          </a:p>
        </p:txBody>
      </p:sp>
      <p:sp>
        <p:nvSpPr>
          <p:cNvPr id="15" name="Text Placeholder 1">
            <a:extLst>
              <a:ext uri="{FF2B5EF4-FFF2-40B4-BE49-F238E27FC236}">
                <a16:creationId xmlns=""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 xmlns:a16="http://schemas.microsoft.com/office/drawing/2014/main" id="{17F04107-8754-E47D-3375-529E689711FA}"/>
              </a:ext>
            </a:extLst>
          </p:cNvPr>
          <p:cNvSpPr txBox="1"/>
          <p:nvPr/>
        </p:nvSpPr>
        <p:spPr>
          <a:xfrm>
            <a:off x="664234" y="4550590"/>
            <a:ext cx="6323161" cy="369332"/>
          </a:xfrm>
          <a:prstGeom prst="rect">
            <a:avLst/>
          </a:prstGeom>
          <a:noFill/>
        </p:spPr>
        <p:txBody>
          <a:bodyPr wrap="square" rtlCol="0">
            <a:spAutoFit/>
          </a:bodyPr>
          <a:lstStyle/>
          <a:p>
            <a:r>
              <a:rPr lang="en-US" b="1" dirty="0" smtClean="0"/>
              <a:t> </a:t>
            </a:r>
            <a:endParaRPr lang="en-US" dirty="0"/>
          </a:p>
        </p:txBody>
      </p:sp>
    </p:spTree>
    <p:extLst>
      <p:ext uri="{BB962C8B-B14F-4D97-AF65-F5344CB8AC3E}">
        <p14:creationId xmlns=""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E46E4DD1-270B-4C80-AFF0-EB26F132AF36}"/>
              </a:ext>
            </a:extLst>
          </p:cNvPr>
          <p:cNvSpPr>
            <a:spLocks noGrp="1"/>
          </p:cNvSpPr>
          <p:nvPr>
            <p:ph type="body" sz="quarter" idx="12"/>
          </p:nvPr>
        </p:nvSpPr>
        <p:spPr>
          <a:xfrm>
            <a:off x="1046480" y="2030832"/>
            <a:ext cx="6431280" cy="3607987"/>
          </a:xfrm>
        </p:spPr>
        <p:txBody>
          <a:bodyPr vert="horz" lIns="91440" tIns="45720" rIns="91440" bIns="45720" rtlCol="0" anchor="t">
            <a:normAutofit fontScale="62500" lnSpcReduction="20000"/>
          </a:bodyPr>
          <a:lstStyle/>
          <a:p>
            <a:pPr>
              <a:lnSpc>
                <a:spcPct val="120000"/>
              </a:lnSpc>
            </a:pPr>
            <a:r>
              <a:rPr lang="en-US" sz="2800" dirty="0" smtClean="0">
                <a:solidFill>
                  <a:schemeClr val="tx1"/>
                </a:solidFill>
                <a:latin typeface="Times New Roman" pitchFamily="18" charset="0"/>
                <a:cs typeface="Times New Roman"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solidFill>
                <a:schemeClr val="tx1"/>
              </a:solidFill>
              <a:latin typeface="Times New Roman" pitchFamily="18" charset="0"/>
              <a:cs typeface="Times New Roman" pitchFamily="18" charset="0"/>
            </a:endParaRPr>
          </a:p>
        </p:txBody>
      </p:sp>
      <p:sp>
        <p:nvSpPr>
          <p:cNvPr id="4" name="Title 3">
            <a:extLst>
              <a:ext uri="{FF2B5EF4-FFF2-40B4-BE49-F238E27FC236}">
                <a16:creationId xmlns=""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latin typeface="Times New Roman" pitchFamily="18" charset="0"/>
                <a:cs typeface="Times New Roman" pitchFamily="18" charset="0"/>
              </a:rPr>
              <a:t>PROBLEM  STATEMENT</a:t>
            </a:r>
            <a:endParaRPr lang="en-IN" dirty="0">
              <a:latin typeface="Times New Roman" pitchFamily="18" charset="0"/>
              <a:cs typeface="Times New Roman" pitchFamily="18" charset="0"/>
            </a:endParaRPr>
          </a:p>
        </p:txBody>
      </p:sp>
      <p:pic>
        <p:nvPicPr>
          <p:cNvPr id="5" name="Picture 4">
            <a:extLst>
              <a:ext uri="{FF2B5EF4-FFF2-40B4-BE49-F238E27FC236}">
                <a16:creationId xmlns=""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EBF2FBC7-3552-4F01-BB27-8BEEE74F7277}"/>
              </a:ext>
            </a:extLst>
          </p:cNvPr>
          <p:cNvSpPr>
            <a:spLocks noGrp="1"/>
          </p:cNvSpPr>
          <p:nvPr>
            <p:ph type="title"/>
          </p:nvPr>
        </p:nvSpPr>
        <p:spPr>
          <a:xfrm>
            <a:off x="815674" y="684444"/>
            <a:ext cx="6276109" cy="830997"/>
          </a:xfrm>
        </p:spPr>
        <p:txBody>
          <a:bodyPr>
            <a:normAutofit fontScale="90000"/>
          </a:bodyPr>
          <a:lstStyle/>
          <a:p>
            <a:r>
              <a:rPr lang="en-GB" dirty="0" smtClean="0">
                <a:latin typeface="Times New Roman" pitchFamily="18" charset="0"/>
                <a:cs typeface="Times New Roman" pitchFamily="18" charset="0"/>
              </a:rPr>
              <a:t>Project Description</a:t>
            </a:r>
            <a:r>
              <a:rPr lang="en-GB" dirty="0"/>
              <a:t/>
            </a:r>
            <a:br>
              <a:rPr lang="en-GB" dirty="0"/>
            </a:br>
            <a:r>
              <a:rPr lang="en-GB" dirty="0"/>
              <a:t/>
            </a:r>
            <a:br>
              <a:rPr lang="en-GB" dirty="0"/>
            </a:br>
            <a:endParaRPr lang="en-IN" dirty="0"/>
          </a:p>
        </p:txBody>
      </p:sp>
      <p:pic>
        <p:nvPicPr>
          <p:cNvPr id="5" name="Picture 4">
            <a:extLst>
              <a:ext uri="{FF2B5EF4-FFF2-40B4-BE49-F238E27FC236}">
                <a16:creationId xmlns=""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Box 6"/>
          <p:cNvSpPr txBox="1"/>
          <p:nvPr/>
        </p:nvSpPr>
        <p:spPr>
          <a:xfrm>
            <a:off x="845390" y="2104844"/>
            <a:ext cx="8669546" cy="3139321"/>
          </a:xfrm>
          <a:prstGeom prst="rect">
            <a:avLst/>
          </a:prstGeom>
          <a:noFill/>
        </p:spPr>
        <p:txBody>
          <a:bodyPr wrap="square" rtlCol="0">
            <a:spAutoFit/>
          </a:bodyPr>
          <a:lstStyle/>
          <a:p>
            <a:r>
              <a:rPr lang="en-US" dirty="0" smtClean="0">
                <a:latin typeface="Times New Roman" pitchFamily="18" charset="0"/>
                <a:cs typeface="Times New Roman" pitchFamily="18" charset="0"/>
              </a:rPr>
              <a:t>This project analyzes a dataset of 4,000 farm records spanning three Indian cropping</a:t>
            </a:r>
          </a:p>
          <a:p>
            <a:r>
              <a:rPr lang="en-US" dirty="0" smtClean="0">
                <a:latin typeface="Times New Roman" pitchFamily="18" charset="0"/>
                <a:cs typeface="Times New Roman" pitchFamily="18" charset="0"/>
              </a:rPr>
              <a:t>seasons — </a:t>
            </a:r>
            <a:r>
              <a:rPr lang="en-US" dirty="0" err="1" smtClean="0">
                <a:latin typeface="Times New Roman" pitchFamily="18" charset="0"/>
                <a:cs typeface="Times New Roman" pitchFamily="18" charset="0"/>
              </a:rPr>
              <a:t>Kharif</a:t>
            </a:r>
            <a:r>
              <a:rPr lang="en-US" dirty="0" smtClean="0">
                <a:latin typeface="Times New Roman" pitchFamily="18" charset="0"/>
                <a:cs typeface="Times New Roman" pitchFamily="18" charset="0"/>
              </a:rPr>
              <a:t>, Rabi and </a:t>
            </a:r>
            <a:r>
              <a:rPr lang="en-US" dirty="0" err="1" smtClean="0">
                <a:latin typeface="Times New Roman" pitchFamily="18" charset="0"/>
                <a:cs typeface="Times New Roman" pitchFamily="18" charset="0"/>
              </a:rPr>
              <a:t>Zaid</a:t>
            </a:r>
            <a:r>
              <a:rPr lang="en-US" dirty="0" smtClean="0">
                <a:latin typeface="Times New Roman" pitchFamily="18" charset="0"/>
                <a:cs typeface="Times New Roman" pitchFamily="18" charset="0"/>
              </a:rPr>
              <a:t> — across 8 states, 10 districts and 8 crops. The goal is</a:t>
            </a:r>
          </a:p>
          <a:p>
            <a:r>
              <a:rPr lang="en-US" dirty="0" smtClean="0">
                <a:latin typeface="Times New Roman" pitchFamily="18" charset="0"/>
                <a:cs typeface="Times New Roman" pitchFamily="18" charset="0"/>
              </a:rPr>
              <a:t>to understand how agricultural performance changes across seasons and to uncover</a:t>
            </a:r>
          </a:p>
          <a:p>
            <a:r>
              <a:rPr lang="en-US" dirty="0" smtClean="0">
                <a:latin typeface="Times New Roman" pitchFamily="18" charset="0"/>
                <a:cs typeface="Times New Roman" pitchFamily="18" charset="0"/>
              </a:rPr>
              <a:t>patterns in environmental conditions, resource usage, yield and economic outcomes.</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analysis was carried out in Python using Pandas, </a:t>
            </a:r>
            <a:r>
              <a:rPr lang="en-US" dirty="0" err="1" smtClean="0">
                <a:latin typeface="Times New Roman" pitchFamily="18" charset="0"/>
                <a:cs typeface="Times New Roman" pitchFamily="18" charset="0"/>
              </a:rPr>
              <a:t>NumPy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Matplotlib</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Seaborn</a:t>
            </a:r>
            <a:r>
              <a:rPr lang="en-US" dirty="0" smtClean="0">
                <a:latin typeface="Times New Roman" pitchFamily="18" charset="0"/>
                <a:cs typeface="Times New Roman" pitchFamily="18" charset="0"/>
              </a:rPr>
              <a:t> and</a:t>
            </a:r>
          </a:p>
          <a:p>
            <a:r>
              <a:rPr lang="en-US" dirty="0" err="1" smtClean="0">
                <a:latin typeface="Times New Roman" pitchFamily="18" charset="0"/>
                <a:cs typeface="Times New Roman" pitchFamily="18" charset="0"/>
              </a:rPr>
              <a:t>SciPy</a:t>
            </a:r>
            <a:r>
              <a:rPr lang="en-US" dirty="0" smtClean="0">
                <a:latin typeface="Times New Roman" pitchFamily="18" charset="0"/>
                <a:cs typeface="Times New Roman" pitchFamily="18" charset="0"/>
              </a:rPr>
              <a:t>. It covers data cleaning (handling missing values, checking for duplicates and</a:t>
            </a:r>
          </a:p>
          <a:p>
            <a:r>
              <a:rPr lang="en-US" dirty="0" smtClean="0">
                <a:latin typeface="Times New Roman" pitchFamily="18" charset="0"/>
                <a:cs typeface="Times New Roman" pitchFamily="18" charset="0"/>
              </a:rPr>
              <a:t>outliers), exploratory data analysis, statistical significance testing</a:t>
            </a:r>
          </a:p>
          <a:p>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Kruskal</a:t>
            </a:r>
            <a:r>
              <a:rPr lang="en-US" dirty="0" smtClean="0">
                <a:latin typeface="Times New Roman" pitchFamily="18" charset="0"/>
                <a:cs typeface="Times New Roman" pitchFamily="18" charset="0"/>
              </a:rPr>
              <a:t>-Wallis tests), correlation analysis, and comparison across seasons, states,</a:t>
            </a:r>
          </a:p>
          <a:p>
            <a:r>
              <a:rPr lang="en-US" dirty="0" smtClean="0">
                <a:latin typeface="Times New Roman" pitchFamily="18" charset="0"/>
                <a:cs typeface="Times New Roman" pitchFamily="18" charset="0"/>
              </a:rPr>
              <a:t>crops and irrigation methods.</a:t>
            </a:r>
          </a:p>
          <a:p>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EBF2FBC7-3552-4F01-BB27-8BEEE74F7277}"/>
              </a:ext>
            </a:extLst>
          </p:cNvPr>
          <p:cNvSpPr>
            <a:spLocks noGrp="1"/>
          </p:cNvSpPr>
          <p:nvPr>
            <p:ph type="title"/>
          </p:nvPr>
        </p:nvSpPr>
        <p:spPr>
          <a:xfrm>
            <a:off x="815674" y="684444"/>
            <a:ext cx="6276109" cy="830997"/>
          </a:xfrm>
        </p:spPr>
        <p:txBody>
          <a:bodyPr>
            <a:normAutofit fontScale="90000"/>
          </a:bodyPr>
          <a:lstStyle/>
          <a:p>
            <a:r>
              <a:rPr lang="en-GB" dirty="0" smtClean="0">
                <a:latin typeface="Times New Roman" pitchFamily="18" charset="0"/>
                <a:cs typeface="Times New Roman" pitchFamily="18" charset="0"/>
              </a:rPr>
              <a:t>Key Findings</a:t>
            </a:r>
            <a:r>
              <a:rPr lang="en-GB" dirty="0"/>
              <a:t/>
            </a:r>
            <a:br>
              <a:rPr lang="en-GB" dirty="0"/>
            </a:br>
            <a:r>
              <a:rPr lang="en-GB" dirty="0"/>
              <a:t/>
            </a:r>
            <a:br>
              <a:rPr lang="en-GB" dirty="0"/>
            </a:br>
            <a:endParaRPr lang="en-IN" dirty="0"/>
          </a:p>
        </p:txBody>
      </p:sp>
      <p:pic>
        <p:nvPicPr>
          <p:cNvPr id="5" name="Picture 4">
            <a:extLst>
              <a:ext uri="{FF2B5EF4-FFF2-40B4-BE49-F238E27FC236}">
                <a16:creationId xmlns=""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Box 6"/>
          <p:cNvSpPr txBox="1"/>
          <p:nvPr/>
        </p:nvSpPr>
        <p:spPr>
          <a:xfrm>
            <a:off x="845390" y="2096218"/>
            <a:ext cx="8669546" cy="3139321"/>
          </a:xfrm>
          <a:prstGeom prst="rect">
            <a:avLst/>
          </a:prstGeom>
          <a:noFill/>
        </p:spPr>
        <p:txBody>
          <a:bodyPr wrap="square" rtlCol="0">
            <a:spAutoFit/>
          </a:bodyPr>
          <a:lstStyle/>
          <a:p>
            <a:r>
              <a:rPr lang="en-US" b="1" dirty="0" smtClean="0">
                <a:latin typeface="Times New Roman" pitchFamily="18" charset="0"/>
                <a:cs typeface="Times New Roman" pitchFamily="18" charset="0"/>
              </a:rPr>
              <a:t>Key results</a:t>
            </a:r>
            <a:r>
              <a:rPr lang="en-US" dirty="0" smtClean="0">
                <a:latin typeface="Times New Roman" pitchFamily="18" charset="0"/>
                <a:cs typeface="Times New Roman" pitchFamily="18" charset="0"/>
              </a:rPr>
              <a:t>: seasonal yield and profit differences are statistically significant</a:t>
            </a:r>
          </a:p>
          <a:p>
            <a:r>
              <a:rPr lang="en-US" dirty="0" smtClean="0">
                <a:latin typeface="Times New Roman" pitchFamily="18" charset="0"/>
                <a:cs typeface="Times New Roman" pitchFamily="18" charset="0"/>
              </a:rPr>
              <a:t>(p &lt; 0.05). </a:t>
            </a:r>
            <a:r>
              <a:rPr lang="en-US" dirty="0" err="1" smtClean="0">
                <a:latin typeface="Times New Roman" pitchFamily="18" charset="0"/>
                <a:cs typeface="Times New Roman" pitchFamily="18" charset="0"/>
              </a:rPr>
              <a:t>Kharif</a:t>
            </a:r>
            <a:r>
              <a:rPr lang="en-US" dirty="0" smtClean="0">
                <a:latin typeface="Times New Roman" pitchFamily="18" charset="0"/>
                <a:cs typeface="Times New Roman" pitchFamily="18" charset="0"/>
              </a:rPr>
              <a:t> has the highest average profit and highest share of profitable farms</a:t>
            </a:r>
          </a:p>
          <a:p>
            <a:r>
              <a:rPr lang="en-US" dirty="0" smtClean="0">
                <a:latin typeface="Times New Roman" pitchFamily="18" charset="0"/>
                <a:cs typeface="Times New Roman" pitchFamily="18" charset="0"/>
              </a:rPr>
              <a:t>(57.8%), while </a:t>
            </a:r>
            <a:r>
              <a:rPr lang="en-US" dirty="0" err="1" smtClean="0">
                <a:latin typeface="Times New Roman" pitchFamily="18" charset="0"/>
                <a:cs typeface="Times New Roman" pitchFamily="18" charset="0"/>
              </a:rPr>
              <a:t>Zaid</a:t>
            </a:r>
            <a:r>
              <a:rPr lang="en-US" dirty="0" smtClean="0">
                <a:latin typeface="Times New Roman" pitchFamily="18" charset="0"/>
                <a:cs typeface="Times New Roman" pitchFamily="18" charset="0"/>
              </a:rPr>
              <a:t> shows the lowest (35.5% profitable, with a negative average profit).</a:t>
            </a:r>
          </a:p>
          <a:p>
            <a:r>
              <a:rPr lang="en-US" dirty="0" smtClean="0">
                <a:latin typeface="Times New Roman" pitchFamily="18" charset="0"/>
                <a:cs typeface="Times New Roman" pitchFamily="18" charset="0"/>
              </a:rPr>
              <a:t>Environmental conditions follow expected seasonal patterns — </a:t>
            </a:r>
            <a:r>
              <a:rPr lang="en-US" dirty="0" err="1" smtClean="0">
                <a:latin typeface="Times New Roman" pitchFamily="18" charset="0"/>
                <a:cs typeface="Times New Roman" pitchFamily="18" charset="0"/>
              </a:rPr>
              <a:t>Kharif</a:t>
            </a:r>
            <a:r>
              <a:rPr lang="en-US" dirty="0" smtClean="0">
                <a:latin typeface="Times New Roman" pitchFamily="18" charset="0"/>
                <a:cs typeface="Times New Roman" pitchFamily="18" charset="0"/>
              </a:rPr>
              <a:t> is wettest and most</a:t>
            </a:r>
          </a:p>
          <a:p>
            <a:r>
              <a:rPr lang="en-US" dirty="0" smtClean="0">
                <a:latin typeface="Times New Roman" pitchFamily="18" charset="0"/>
                <a:cs typeface="Times New Roman" pitchFamily="18" charset="0"/>
              </a:rPr>
              <a:t>humid, </a:t>
            </a:r>
            <a:r>
              <a:rPr lang="en-US" dirty="0" err="1" smtClean="0">
                <a:latin typeface="Times New Roman" pitchFamily="18" charset="0"/>
                <a:cs typeface="Times New Roman" pitchFamily="18" charset="0"/>
              </a:rPr>
              <a:t>Zaid</a:t>
            </a:r>
            <a:r>
              <a:rPr lang="en-US" dirty="0" smtClean="0">
                <a:latin typeface="Times New Roman" pitchFamily="18" charset="0"/>
                <a:cs typeface="Times New Roman" pitchFamily="18" charset="0"/>
              </a:rPr>
              <a:t> is hottest and driest. The analysis also found that high yield does not</a:t>
            </a:r>
          </a:p>
          <a:p>
            <a:r>
              <a:rPr lang="en-US" dirty="0" smtClean="0">
                <a:latin typeface="Times New Roman" pitchFamily="18" charset="0"/>
                <a:cs typeface="Times New Roman" pitchFamily="18" charset="0"/>
              </a:rPr>
              <a:t>guarantee profitability: 5.2% of farms had top-quartile yield but still ran at a loss,</a:t>
            </a:r>
          </a:p>
          <a:p>
            <a:r>
              <a:rPr lang="en-US" dirty="0" smtClean="0">
                <a:latin typeface="Times New Roman" pitchFamily="18" charset="0"/>
                <a:cs typeface="Times New Roman" pitchFamily="18" charset="0"/>
              </a:rPr>
              <a:t>highlighting cost management as a distinct lever from productivity.</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project concludes with data-driven recommendations for season-specific input</a:t>
            </a:r>
          </a:p>
          <a:p>
            <a:r>
              <a:rPr lang="en-US" dirty="0" smtClean="0">
                <a:latin typeface="Times New Roman" pitchFamily="18" charset="0"/>
                <a:cs typeface="Times New Roman" pitchFamily="18" charset="0"/>
              </a:rPr>
              <a:t>planning, cost control alongside yield improvement, and region-aware seasonal</a:t>
            </a:r>
          </a:p>
          <a:p>
            <a:r>
              <a:rPr lang="en-US" dirty="0" smtClean="0">
                <a:latin typeface="Times New Roman" pitchFamily="18" charset="0"/>
                <a:cs typeface="Times New Roman" pitchFamily="18" charset="0"/>
              </a:rPr>
              <a:t>advisories.</a:t>
            </a:r>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latin typeface="Times New Roman" pitchFamily="18" charset="0"/>
                <a:cs typeface="Times New Roman" pitchFamily="18" charset="0"/>
              </a:rPr>
              <a:t>WHO ARE THE END USERS?</a:t>
            </a:r>
            <a:endParaRPr lang="en-IN" sz="2000" dirty="0">
              <a:latin typeface="Times New Roman" pitchFamily="18" charset="0"/>
              <a:cs typeface="Times New Roman" pitchFamily="18" charset="0"/>
            </a:endParaRPr>
          </a:p>
        </p:txBody>
      </p:sp>
      <p:pic>
        <p:nvPicPr>
          <p:cNvPr id="6" name="Picture 5">
            <a:extLst>
              <a:ext uri="{FF2B5EF4-FFF2-40B4-BE49-F238E27FC236}">
                <a16:creationId xmlns=""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5" name="TextBox 4"/>
          <p:cNvSpPr txBox="1"/>
          <p:nvPr/>
        </p:nvSpPr>
        <p:spPr>
          <a:xfrm>
            <a:off x="526212" y="1923690"/>
            <a:ext cx="8600535" cy="3970318"/>
          </a:xfrm>
          <a:prstGeom prst="rect">
            <a:avLst/>
          </a:prstGeom>
          <a:noFill/>
        </p:spPr>
        <p:txBody>
          <a:bodyPr wrap="square" rtlCol="0">
            <a:spAutoFit/>
          </a:bodyPr>
          <a:lstStyle/>
          <a:p>
            <a:pPr>
              <a:buClr>
                <a:schemeClr val="accent5"/>
              </a:buClr>
              <a:buFont typeface="Wingdings" pitchFamily="2" charset="2"/>
              <a:buChar char="§"/>
            </a:pPr>
            <a:r>
              <a:rPr lang="en-US" dirty="0" smtClean="0">
                <a:latin typeface="Times New Roman" pitchFamily="18" charset="0"/>
                <a:cs typeface="Times New Roman" pitchFamily="18" charset="0"/>
              </a:rPr>
              <a:t>  Farmers and agricultural cooperatives — for season-specific crop, input and irrigation</a:t>
            </a:r>
          </a:p>
          <a:p>
            <a:pPr>
              <a:buClr>
                <a:schemeClr val="accent5"/>
              </a:buClr>
            </a:pPr>
            <a:r>
              <a:rPr lang="en-US" dirty="0" smtClean="0">
                <a:latin typeface="Times New Roman" pitchFamily="18" charset="0"/>
                <a:cs typeface="Times New Roman" pitchFamily="18" charset="0"/>
              </a:rPr>
              <a:t>    planning.</a:t>
            </a:r>
          </a:p>
          <a:p>
            <a:pPr>
              <a:buClr>
                <a:schemeClr val="accent5"/>
              </a:buClr>
            </a:pPr>
            <a:endParaRPr lang="en-US" dirty="0" smtClean="0">
              <a:latin typeface="Times New Roman" pitchFamily="18" charset="0"/>
              <a:cs typeface="Times New Roman" pitchFamily="18" charset="0"/>
            </a:endParaRPr>
          </a:p>
          <a:p>
            <a:pPr>
              <a:buClr>
                <a:schemeClr val="accent5"/>
              </a:buClr>
              <a:buFont typeface="Wingdings" pitchFamily="2" charset="2"/>
              <a:buChar char="§"/>
            </a:pPr>
            <a:r>
              <a:rPr lang="en-US" dirty="0" smtClean="0">
                <a:latin typeface="Times New Roman" pitchFamily="18" charset="0"/>
                <a:cs typeface="Times New Roman" pitchFamily="18" charset="0"/>
              </a:rPr>
              <a:t>  State agricultural departments and extension officers — to design season- and</a:t>
            </a:r>
          </a:p>
          <a:p>
            <a:pPr>
              <a:buClr>
                <a:schemeClr val="accent5"/>
              </a:buClr>
            </a:pPr>
            <a:r>
              <a:rPr lang="en-US" dirty="0" smtClean="0">
                <a:latin typeface="Times New Roman" pitchFamily="18" charset="0"/>
                <a:cs typeface="Times New Roman" pitchFamily="18" charset="0"/>
              </a:rPr>
              <a:t>    region-specific advisories.</a:t>
            </a:r>
          </a:p>
          <a:p>
            <a:pPr>
              <a:buClr>
                <a:schemeClr val="accent5"/>
              </a:buClr>
            </a:pPr>
            <a:endParaRPr lang="en-US" dirty="0" smtClean="0">
              <a:latin typeface="Times New Roman" pitchFamily="18" charset="0"/>
              <a:cs typeface="Times New Roman" pitchFamily="18" charset="0"/>
            </a:endParaRPr>
          </a:p>
          <a:p>
            <a:pPr>
              <a:buClr>
                <a:schemeClr val="accent5"/>
              </a:buClr>
              <a:buFont typeface="Wingdings" pitchFamily="2" charset="2"/>
              <a:buChar char="§"/>
            </a:pPr>
            <a:r>
              <a:rPr lang="en-US" dirty="0" smtClean="0">
                <a:latin typeface="Times New Roman" pitchFamily="18" charset="0"/>
                <a:cs typeface="Times New Roman" pitchFamily="18" charset="0"/>
              </a:rPr>
              <a:t>  Agri-business and </a:t>
            </a:r>
            <a:r>
              <a:rPr lang="en-US" dirty="0" err="1" smtClean="0">
                <a:latin typeface="Times New Roman" pitchFamily="18" charset="0"/>
                <a:cs typeface="Times New Roman" pitchFamily="18" charset="0"/>
              </a:rPr>
              <a:t>agri</a:t>
            </a:r>
            <a:r>
              <a:rPr lang="en-US" dirty="0" smtClean="0">
                <a:latin typeface="Times New Roman" pitchFamily="18" charset="0"/>
                <a:cs typeface="Times New Roman" pitchFamily="18" charset="0"/>
              </a:rPr>
              <a:t>-input companies — to plan fertilizer, pesticide and irrigation</a:t>
            </a:r>
          </a:p>
          <a:p>
            <a:pPr>
              <a:buClr>
                <a:schemeClr val="accent5"/>
              </a:buClr>
            </a:pPr>
            <a:r>
              <a:rPr lang="en-US" dirty="0" smtClean="0">
                <a:latin typeface="Times New Roman" pitchFamily="18" charset="0"/>
                <a:cs typeface="Times New Roman" pitchFamily="18" charset="0"/>
              </a:rPr>
              <a:t>    product demand by season.</a:t>
            </a:r>
          </a:p>
          <a:p>
            <a:pPr>
              <a:buClr>
                <a:schemeClr val="accent5"/>
              </a:buClr>
            </a:pPr>
            <a:r>
              <a:rPr lang="en-US" dirty="0" smtClean="0">
                <a:latin typeface="Times New Roman" pitchFamily="18" charset="0"/>
                <a:cs typeface="Times New Roman" pitchFamily="18" charset="0"/>
              </a:rPr>
              <a:t> </a:t>
            </a:r>
          </a:p>
          <a:p>
            <a:pPr>
              <a:buClr>
                <a:schemeClr val="accent5"/>
              </a:buClr>
              <a:buFont typeface="Wingdings" pitchFamily="2" charset="2"/>
              <a:buChar char="§"/>
            </a:pPr>
            <a:r>
              <a:rPr lang="en-US" dirty="0" smtClean="0">
                <a:latin typeface="Times New Roman" pitchFamily="18" charset="0"/>
                <a:cs typeface="Times New Roman" pitchFamily="18" charset="0"/>
              </a:rPr>
              <a:t>  Agricultural researchers and students — as a reference analysis of seasonal</a:t>
            </a:r>
          </a:p>
          <a:p>
            <a:pPr>
              <a:buClr>
                <a:schemeClr val="accent5"/>
              </a:buClr>
            </a:pPr>
            <a:r>
              <a:rPr lang="en-US" dirty="0" smtClean="0">
                <a:latin typeface="Times New Roman" pitchFamily="18" charset="0"/>
                <a:cs typeface="Times New Roman" pitchFamily="18" charset="0"/>
              </a:rPr>
              <a:t>    performance patterns.</a:t>
            </a:r>
          </a:p>
          <a:p>
            <a:pPr>
              <a:buClr>
                <a:schemeClr val="accent5"/>
              </a:buClr>
            </a:pPr>
            <a:endParaRPr lang="en-US" dirty="0" smtClean="0">
              <a:latin typeface="Times New Roman" pitchFamily="18" charset="0"/>
              <a:cs typeface="Times New Roman" pitchFamily="18" charset="0"/>
            </a:endParaRPr>
          </a:p>
          <a:p>
            <a:pPr>
              <a:buClr>
                <a:schemeClr val="accent5"/>
              </a:buClr>
              <a:buFont typeface="Wingdings" pitchFamily="2" charset="2"/>
              <a:buChar char="§"/>
            </a:pPr>
            <a:r>
              <a:rPr lang="en-US" dirty="0" smtClean="0">
                <a:latin typeface="Times New Roman" pitchFamily="18" charset="0"/>
                <a:cs typeface="Times New Roman" pitchFamily="18" charset="0"/>
              </a:rPr>
              <a:t>  Policy makers and planning bodies — for evidence-based seasonal agricultural policy</a:t>
            </a:r>
          </a:p>
          <a:p>
            <a:pPr>
              <a:buClr>
                <a:schemeClr val="accent5"/>
              </a:buClr>
            </a:pPr>
            <a:r>
              <a:rPr lang="en-US" dirty="0" smtClean="0">
                <a:latin typeface="Times New Roman" pitchFamily="18" charset="0"/>
                <a:cs typeface="Times New Roman" pitchFamily="18" charset="0"/>
              </a:rPr>
              <a:t>    and resource allocation.</a:t>
            </a:r>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8" name="TextBox 7"/>
          <p:cNvSpPr txBox="1"/>
          <p:nvPr/>
        </p:nvSpPr>
        <p:spPr>
          <a:xfrm>
            <a:off x="1199072" y="1466490"/>
            <a:ext cx="8367622" cy="2585323"/>
          </a:xfrm>
          <a:prstGeom prst="rect">
            <a:avLst/>
          </a:prstGeom>
          <a:noFill/>
        </p:spPr>
        <p:txBody>
          <a:bodyPr wrap="square" rtlCol="0">
            <a:spAutoFit/>
          </a:bodyPr>
          <a:lstStyle/>
          <a:p>
            <a:pPr>
              <a:lnSpc>
                <a:spcPct val="150000"/>
              </a:lnSpc>
              <a:buClr>
                <a:schemeClr val="accent5"/>
              </a:buClr>
              <a:buFont typeface="Wingdings" pitchFamily="2" charset="2"/>
              <a:buChar char="§"/>
            </a:pPr>
            <a:r>
              <a:rPr lang="en-US" dirty="0" smtClean="0"/>
              <a:t> </a:t>
            </a:r>
            <a:r>
              <a:rPr lang="en-US" b="1" dirty="0" smtClean="0">
                <a:latin typeface="Times New Roman" pitchFamily="18" charset="0"/>
                <a:cs typeface="Times New Roman" pitchFamily="18" charset="0"/>
              </a:rPr>
              <a:t>Language:</a:t>
            </a:r>
            <a:r>
              <a:rPr lang="en-US" dirty="0" smtClean="0">
                <a:latin typeface="Times New Roman" pitchFamily="18" charset="0"/>
                <a:cs typeface="Times New Roman" pitchFamily="18" charset="0"/>
              </a:rPr>
              <a:t> Python 3</a:t>
            </a:r>
          </a:p>
          <a:p>
            <a:pPr>
              <a:lnSpc>
                <a:spcPct val="150000"/>
              </a:lnSpc>
              <a:buClr>
                <a:schemeClr val="accent5"/>
              </a:buClr>
              <a:buFont typeface="Wingdings" pitchFamily="2" charset="2"/>
              <a:buChar char="§"/>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Environment:</a:t>
            </a:r>
            <a:r>
              <a:rPr lang="en-US" dirty="0" smtClean="0">
                <a:latin typeface="Times New Roman" pitchFamily="18" charset="0"/>
                <a:cs typeface="Times New Roman" pitchFamily="18" charset="0"/>
              </a:rPr>
              <a:t> Google </a:t>
            </a:r>
            <a:r>
              <a:rPr lang="en-US" dirty="0" err="1" smtClean="0">
                <a:latin typeface="Times New Roman" pitchFamily="18" charset="0"/>
                <a:cs typeface="Times New Roman" pitchFamily="18" charset="0"/>
              </a:rPr>
              <a:t>Colab</a:t>
            </a: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Jupyter</a:t>
            </a:r>
            <a:r>
              <a:rPr lang="en-US" dirty="0" smtClean="0">
                <a:latin typeface="Times New Roman" pitchFamily="18" charset="0"/>
                <a:cs typeface="Times New Roman" pitchFamily="18" charset="0"/>
              </a:rPr>
              <a:t> Notebook</a:t>
            </a:r>
          </a:p>
          <a:p>
            <a:pPr>
              <a:lnSpc>
                <a:spcPct val="150000"/>
              </a:lnSpc>
              <a:buClr>
                <a:schemeClr val="accent5"/>
              </a:buClr>
              <a:buFont typeface="Wingdings" pitchFamily="2" charset="2"/>
              <a:buChar char="§"/>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Data handling: </a:t>
            </a:r>
            <a:r>
              <a:rPr lang="en-US" dirty="0" smtClean="0">
                <a:latin typeface="Times New Roman" pitchFamily="18" charset="0"/>
                <a:cs typeface="Times New Roman" pitchFamily="18" charset="0"/>
              </a:rPr>
              <a:t>Pandas, </a:t>
            </a:r>
            <a:r>
              <a:rPr lang="en-US" dirty="0" err="1" smtClean="0">
                <a:latin typeface="Times New Roman" pitchFamily="18" charset="0"/>
                <a:cs typeface="Times New Roman" pitchFamily="18" charset="0"/>
              </a:rPr>
              <a:t>NumPy</a:t>
            </a:r>
            <a:endParaRPr lang="en-US" dirty="0" smtClean="0">
              <a:latin typeface="Times New Roman" pitchFamily="18" charset="0"/>
              <a:cs typeface="Times New Roman" pitchFamily="18" charset="0"/>
            </a:endParaRPr>
          </a:p>
          <a:p>
            <a:pPr>
              <a:lnSpc>
                <a:spcPct val="150000"/>
              </a:lnSpc>
              <a:buClr>
                <a:schemeClr val="accent5"/>
              </a:buClr>
              <a:buFont typeface="Wingdings" pitchFamily="2" charset="2"/>
              <a:buChar char="§"/>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Visualization: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Matplotlib</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Seaborn</a:t>
            </a:r>
            <a:endParaRPr lang="en-US" dirty="0" smtClean="0">
              <a:latin typeface="Times New Roman" pitchFamily="18" charset="0"/>
              <a:cs typeface="Times New Roman" pitchFamily="18" charset="0"/>
            </a:endParaRPr>
          </a:p>
          <a:p>
            <a:pPr>
              <a:lnSpc>
                <a:spcPct val="150000"/>
              </a:lnSpc>
              <a:buClr>
                <a:schemeClr val="accent5"/>
              </a:buClr>
              <a:buFont typeface="Wingdings" pitchFamily="2" charset="2"/>
              <a:buChar char="§"/>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Statistical analysis: </a:t>
            </a:r>
            <a:r>
              <a:rPr lang="en-US" dirty="0" err="1" smtClean="0">
                <a:latin typeface="Times New Roman" pitchFamily="18" charset="0"/>
                <a:cs typeface="Times New Roman" pitchFamily="18" charset="0"/>
              </a:rPr>
              <a:t>SciPy</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Kruskal</a:t>
            </a:r>
            <a:r>
              <a:rPr lang="en-US" dirty="0" smtClean="0">
                <a:latin typeface="Times New Roman" pitchFamily="18" charset="0"/>
                <a:cs typeface="Times New Roman" pitchFamily="18" charset="0"/>
              </a:rPr>
              <a:t>-Wallis test, Pearson correlation)</a:t>
            </a:r>
          </a:p>
          <a:p>
            <a:pPr>
              <a:lnSpc>
                <a:spcPct val="150000"/>
              </a:lnSpc>
              <a:buClr>
                <a:schemeClr val="accent5"/>
              </a:buClr>
              <a:buFont typeface="Wingdings" pitchFamily="2" charset="2"/>
              <a:buChar char="§"/>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Dataset:</a:t>
            </a:r>
            <a:r>
              <a:rPr lang="en-US" dirty="0" smtClean="0">
                <a:latin typeface="Times New Roman" pitchFamily="18" charset="0"/>
                <a:cs typeface="Times New Roman" pitchFamily="18" charset="0"/>
              </a:rPr>
              <a:t> seasonal_agriculture_performance_dataset.csv (4,000 records, 28 columns)</a:t>
            </a:r>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latin typeface="Times New Roman" pitchFamily="18" charset="0"/>
                <a:cs typeface="Times New Roman" pitchFamily="18" charset="0"/>
              </a:rPr>
              <a:t>RESULTS </a:t>
            </a:r>
            <a:endParaRPr lang="en-IN" dirty="0">
              <a:latin typeface="Times New Roman" pitchFamily="18" charset="0"/>
              <a:cs typeface="Times New Roman" pitchFamily="18" charset="0"/>
            </a:endParaRPr>
          </a:p>
        </p:txBody>
      </p:sp>
      <p:sp>
        <p:nvSpPr>
          <p:cNvPr id="7" name="Text Placeholder 30">
            <a:extLst>
              <a:ext uri="{FF2B5EF4-FFF2-40B4-BE49-F238E27FC236}">
                <a16:creationId xmlns=""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p:cNvSpPr txBox="1"/>
          <p:nvPr/>
        </p:nvSpPr>
        <p:spPr>
          <a:xfrm>
            <a:off x="672860" y="1492369"/>
            <a:ext cx="5357004" cy="461665"/>
          </a:xfrm>
          <a:prstGeom prst="rect">
            <a:avLst/>
          </a:prstGeom>
          <a:noFill/>
        </p:spPr>
        <p:txBody>
          <a:bodyPr wrap="square" rtlCol="0">
            <a:spAutoFit/>
          </a:bodyPr>
          <a:lstStyle/>
          <a:p>
            <a:r>
              <a:rPr lang="en-US" sz="2400" b="1" dirty="0" smtClean="0">
                <a:latin typeface="Times New Roman" pitchFamily="18" charset="0"/>
                <a:cs typeface="Times New Roman" pitchFamily="18" charset="0"/>
              </a:rPr>
              <a:t>Environmental Conditions by Season</a:t>
            </a:r>
            <a:endParaRPr lang="en-US" sz="2400" b="1"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3"/>
          <a:srcRect/>
          <a:stretch>
            <a:fillRect/>
          </a:stretch>
        </p:blipFill>
        <p:spPr bwMode="auto">
          <a:xfrm>
            <a:off x="717489" y="2113472"/>
            <a:ext cx="8802688" cy="2726756"/>
          </a:xfrm>
          <a:prstGeom prst="rect">
            <a:avLst/>
          </a:prstGeom>
          <a:noFill/>
          <a:ln w="9525">
            <a:noFill/>
            <a:miter lim="800000"/>
            <a:headEnd/>
            <a:tailEnd/>
          </a:ln>
          <a:effectLst/>
        </p:spPr>
      </p:pic>
    </p:spTree>
    <p:extLst>
      <p:ext uri="{BB962C8B-B14F-4D97-AF65-F5344CB8AC3E}">
        <p14:creationId xmlns=""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latin typeface="Times New Roman" pitchFamily="18" charset="0"/>
                <a:cs typeface="Times New Roman" pitchFamily="18" charset="0"/>
              </a:rPr>
              <a:t>RESULTS </a:t>
            </a:r>
            <a:endParaRPr lang="en-IN" dirty="0">
              <a:latin typeface="Times New Roman" pitchFamily="18" charset="0"/>
              <a:cs typeface="Times New Roman" pitchFamily="18" charset="0"/>
            </a:endParaRPr>
          </a:p>
        </p:txBody>
      </p:sp>
      <p:sp>
        <p:nvSpPr>
          <p:cNvPr id="7" name="Text Placeholder 30">
            <a:extLst>
              <a:ext uri="{FF2B5EF4-FFF2-40B4-BE49-F238E27FC236}">
                <a16:creationId xmlns=""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p:cNvSpPr txBox="1"/>
          <p:nvPr/>
        </p:nvSpPr>
        <p:spPr>
          <a:xfrm>
            <a:off x="715992" y="1224950"/>
            <a:ext cx="5357004" cy="461665"/>
          </a:xfrm>
          <a:prstGeom prst="rect">
            <a:avLst/>
          </a:prstGeom>
          <a:noFill/>
        </p:spPr>
        <p:txBody>
          <a:bodyPr wrap="square" rtlCol="0">
            <a:spAutoFit/>
          </a:bodyPr>
          <a:lstStyle/>
          <a:p>
            <a:r>
              <a:rPr lang="en-US" sz="2400" b="1" dirty="0" smtClean="0">
                <a:latin typeface="Times New Roman" pitchFamily="18" charset="0"/>
                <a:cs typeface="Times New Roman" pitchFamily="18" charset="0"/>
              </a:rPr>
              <a:t>Yield &amp; Production by Season</a:t>
            </a:r>
            <a:endParaRPr lang="en-US" sz="2400" b="1"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3"/>
          <a:srcRect/>
          <a:stretch>
            <a:fillRect/>
          </a:stretch>
        </p:blipFill>
        <p:spPr bwMode="auto">
          <a:xfrm>
            <a:off x="586597" y="1734988"/>
            <a:ext cx="9480431" cy="4457700"/>
          </a:xfrm>
          <a:prstGeom prst="rect">
            <a:avLst/>
          </a:prstGeom>
          <a:noFill/>
          <a:ln w="9525">
            <a:noFill/>
            <a:miter lim="800000"/>
            <a:headEnd/>
            <a:tailEnd/>
          </a:ln>
          <a:effectLst/>
        </p:spPr>
      </p:pic>
    </p:spTree>
    <p:extLst>
      <p:ext uri="{BB962C8B-B14F-4D97-AF65-F5344CB8AC3E}">
        <p14:creationId xmlns=""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latin typeface="Times New Roman" pitchFamily="18" charset="0"/>
                <a:cs typeface="Times New Roman" pitchFamily="18" charset="0"/>
              </a:rPr>
              <a:t>RESULTS </a:t>
            </a:r>
            <a:endParaRPr lang="en-IN" dirty="0">
              <a:latin typeface="Times New Roman" pitchFamily="18" charset="0"/>
              <a:cs typeface="Times New Roman" pitchFamily="18" charset="0"/>
            </a:endParaRPr>
          </a:p>
        </p:txBody>
      </p:sp>
      <p:sp>
        <p:nvSpPr>
          <p:cNvPr id="7" name="Text Placeholder 30">
            <a:extLst>
              <a:ext uri="{FF2B5EF4-FFF2-40B4-BE49-F238E27FC236}">
                <a16:creationId xmlns=""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p:cNvSpPr txBox="1"/>
          <p:nvPr/>
        </p:nvSpPr>
        <p:spPr>
          <a:xfrm>
            <a:off x="810883" y="1155939"/>
            <a:ext cx="5357004" cy="461665"/>
          </a:xfrm>
          <a:prstGeom prst="rect">
            <a:avLst/>
          </a:prstGeom>
          <a:noFill/>
        </p:spPr>
        <p:txBody>
          <a:bodyPr wrap="square" rtlCol="0">
            <a:spAutoFit/>
          </a:bodyPr>
          <a:lstStyle/>
          <a:p>
            <a:r>
              <a:rPr lang="en-US" sz="2400" b="1" dirty="0" smtClean="0">
                <a:latin typeface="Times New Roman" pitchFamily="18" charset="0"/>
                <a:cs typeface="Times New Roman" pitchFamily="18" charset="0"/>
              </a:rPr>
              <a:t>Economic Performance by Season</a:t>
            </a:r>
            <a:endParaRPr lang="en-US" sz="2400" b="1" dirty="0">
              <a:latin typeface="Times New Roman" pitchFamily="18" charset="0"/>
              <a:cs typeface="Times New Roman" pitchFamily="18" charset="0"/>
            </a:endParaRPr>
          </a:p>
        </p:txBody>
      </p:sp>
      <p:sp>
        <p:nvSpPr>
          <p:cNvPr id="3076" name="AutoShape 4" descr="data:image/png;base64,iVBORw0KGgoAAAANSUhEUgAABWgAAAN0CAYAAAApt8GeAAAAOnRFWHRTb2Z0d2FyZQBNYXRwbG90bGliIHZlcnNpb24zLjEwLjAsIGh0dHBzOi8vbWF0cGxvdGxpYi5vcmcvlHJYcgAAAAlwSFlzAAAPYQAAD2EBqD+naQABAABJREFUeJzs3X98zfX///H7me3MsI3VWn7bVuZHllFGm+VHYiPVu7xR+ZFhejPvoT56C+mdkHciLLaZVPQDlbcyPwq1Ny29C8mvRpuQX0n7lc3O7Hz/2Hev944jsR3O2O16uXThvF6P83g99/I6enqc5+vxMlmtVqsAAAAAAAAAANeci7MHAAAAAAAAAABVFQVaAAAAAAAAAHASCrQAAAAAAAAA4CQUaAEAAAAAAADASSjQAgAAAAAAAICTUKAFAAAAAAAAACehQAsAAAAAAAAATkKBFgAAAAAAAACchAItAAAAAAAAADgJBVoAgENt27ZNQUFBCgoKUpcuXZw9HKeZPXu2goKC1Lx5cx06dMjZw7monJwctWnTRkFBQXrmmWecPRwAAABcI4899piCgoLUtWtXFRUVOXs4F5WWlmb8u2LFihXOHg5wVbk6ewAAbizffPONHn/8cZttn3zyiW6//XYnjej6N2/ePM2fP/+y4x9++GHNmDHjsuO3bdumr7/+WpLUvHlz3XfffVc8RkfJysrS8uXLlZqaqoMHDyovL0/e3t669dZbFR4ergcffFABAQFXfRz79u3TZ599JkmqX7++/vKXv1zR+0+cOKElS5ZIkiIjI9WkSRNjX9k/z/r162vTpk3Gvi5duujnn382Xr/77rtq06aN8frDDz/UP/7xD0nSzTffrK1bt/7heyWpWrVq8vT0VGBgoKKiotSvXz+5uv7vf/1eXl567LHHlJSUpI8//liDBg3SHXfccUU/KwAANzLmtldPUFCQ3TZXV1d5e3srKChIDz30kB588EEnjOzGt379en377beSpGHDhtnMDwcMGGD826DsvyuOHj2qrl27GnG1a9fWxo0bVatWLWPbs88+q48++kiSFBUVpdmzZ1/0vaXc3NxUp04dtWzZUv369VOnTp1s9nfo0EF33nmnvvvuO7322mvq2bOnatSo4YAzAFQ+rKAF4FCl/0Mu68MPP3TCSHC5vv76a82fP1/z5883ipLO8Pnnn6t79+6aNWuW/vvf/+q3336TxWLR6dOntXv3bi1cuFCvvPLKNRnLvn37jHNysWv6zyxatEgFBQWSZPePuitROqktr/PnzysrK0vffvutXnzxRaO4W9bjjz8uk8kkq9Wq119/vULHAwDgRsPc9toqKirSr7/+qi+//FL/93//pzlz5jh7SDek0sUCNWvW1EMPPVSuHFlZWXrjjTcqNA6LxaJTp05p8+bNiomJuegq2dK59C+//KLly5dX6HhAZUaBFoDD5Ofna926dXbbP/74Y50/f94JI7q4goICFRcXO3sYl+2RRx7RsmXLjP9ee+01m/0TJ0602T9ixAgnjbT8tm3bplGjRikrK0uS5Ovrq3HjxumNN95QUlKSnnnmGTVv3ty5g7xMZ8+eNf4xV79+fZsVsFfq66+/tlkle7n+8pe/aNmyZYqPj1dISIixffXq1Tp58qRNbN26dY0xfv7553b7AQCoqpjbXjsjRozQsmXLNHv2bAUGBhrb33zzTVksFieO7MbzzTffKD09XZJ03333qXr16uXOtWTJEv32229X/L7Sf7/MmDFDt9xyi7F90aJFdrFlx/j++++Xe6xAZUeLAwAO8+mnnyovL0+S1Lp1a+Xk5CgjI0O//PKLtmzZonvvvVeS9J///EdDhw6VJPn7+9tNfCdMmKAPPvhAkhQTE6OxY8dKKpkkL126VOvXr1dGRoYKCwtVr149de7cWTExMfLx8TFybNu2TQMHDpRUUiRLTk7WrFmztG3bNuXk5Oi///2vsrKytGDBAu3fv18nT55UTk6OXF1dVa9ePYWHhysmJkY33XSTzdh+/vlnvfzyy9q6dausVqvuvvtuPfPMM3rhhReMW4GmT59uc0t8VlaWlixZok2bNunIkSM6f/68GjZsqB49emjIkCGqWbPmJc9rvXr1VK9ePeP10aNHbfY3bdpUd911l822jRs36r333tPu3buVk5OjWrVqqWXLlvrrX/+qHj16GHkuvNXoo48+sikubtq0Sb/99ptmz56tffv26fjx48rOzpbJZJKfn59CQ0MVExOjhg0bXvJnuJTi4mJNmTLFmHzXr19fy5cv180332zEREREaOjQocZkstTp06eVnJysL774Qj///LOsVqvq1auniIgIRUdHy8/Pz4gtLCxUYmKiNmzYoMOHD6uoqEje3t5q0KCBWrVqpZiYGPn6+trdbvf111/bbPvhhx8u+fOkpqYan4OOHTvKZDKV78T8f7Nnz1ZYWNgVvadevXrGNeHn56dHH33U2Hf8+HGb8yJJnTp10rfffqvz589r7dq1Gjx4cIXGDADAjYC57dWZ215M48aNjbmLi4uL/v73v0sq+eI7KytLvr6+Ruz58+e1YsUKrV69WgcOHFB+fr58fX0VFhZmMy/NyMhQZGSkJMnT01Nbt26Vu7u7kSc+Pl5z586VJPXq1UuzZs26ovyS/Xx627Zteu211/Tpp58qKytLt99+u8aOHauOHTsaMWXbXV3Ymqxse4Grdd5TUlKM31/YUuBK5eXlKTExUePHj7+i95X+++Wuu+7SmTNnNHPmTEnSsWPH7GJr1qypu+66S1u2bFFGRob27dt33SzcAK4EBVoADlP2FrDevXsrOzvbWO354YcfGpPYsLAw1a1bV8ePH1dmZqZ2795t9L0sLCzUhg0bJEkmk8koLJ05c0aDBg2yK9D99NNPWrJkidauXatly5ZdtFCYk5Ojxx57TGfOnLHZfujQIbtb1CwWi3788Uf9+OOP+uyzz7Rq1Sp5eXlJKrmtpl+/fjp16pQR//nnn2vHjh3y9PS86Dn56aefNHDgQJ04ccJm+8GDBzV//nxt2LBBb7/9tmrXrn3R95fH1KlT9fbbb9tsy8rK0tatW7V161b17dtX//znPy8735kzZy76bfXhw4d1+PBhbdiwQR988EG5i7S7du1SRkaG8Xr06NE2xdmymjZtavz+xx9/1IABA/Trr7/axGRmZiozM1OrV6/WkiVL1KxZM0nSpEmTtGrVKpvY06dP6/Tp09q5c6d69eplM/kvr//+97/G7++8885y52ndurV27typ77//Xp9++qm6detW4bFJ0q233mq3LTg42Pj9tm3bKNACACDmthdzree2ZrNZderUMV4XFBRo+PDh2rZtm03csWPHtGLFCq1fv17JyckKDg5WQECA2rRpo+3btys3N9dop1Xqk08+MX5f+udyJfkvpm/fvjYPh927d6+eeuoprV+/XvXr1y/3eXDkeS87V/2jn+NylM5V33nnHQ0ePNhuAUB5XGyeKpXMqbds2SKpZK5KgRY3IlocAHCI48eP66uvvpJU0tw/MjJSDzzwgLF/06ZNys7OllTyrXjZb4M//vhj4/eff/65cnNzJUl33323GjVqJEn65z//aUxgmzdvrldffVVJSUnGJOvkyZN69tlnLzq23NxcFRUVacKECVq8eLGee+45mc1m1a9fX+PGjdPcuXO1ePFivf3224qPjze+4f75559t+hzNnj3bmMDWqlVLkydP1uuvv67bb7/dblVrqWeeecaYSIWGhio+Pl4LFy5Uu3btJEnp6emaNm3an5/gy7Rx40ab4uzgwYOVmJioYcOGGSs533//fa1du1a33HKLli1bZvNnERERYddKwdvbW6NHj9bs2bO1aNEivf3221q4cKF69+4tScrOztbixYvLPeY9e/bYvA4PD7+s9z3zzDNGcbZJkyZ69dVX9dprr+m2226TJP3222965plnjFv+Sv9x5OnpqenTp+vNN9/U7NmzFRsbq1atWsnFpeR/iRe2iWjevLlNC4k/U/YfWo0bN76sn+VievfubTwQ7bXXXruiWxePHTumb775Rhs3btT06dON7ffff/9FJ77+/v7G7/9shTAAAFUBc9trO7f96aef9M0332jt2rU2D8d9/PHHbR5gNW/ePKN42qBBA02fPl2LFy9Wv379JJUUr8eOHauioiJJsrmLqOyfy549e4wFAg0aNFD79u3Llf9C2dnZmjp1ql577TWjYGmxWPTee+9d8Tkpy1Hnvbi4WAcPHpRU8oCuBg0alHtMI0eOlJubmwoKCrRgwYIrem96erq++eYbrVq1Sm+++aaxvXSV+IXKPnCXuSpuVKygBeAQ//73v40CUnh4uHx8fOTj46OQkBDt2LFDhYWFWrNmjR577DFJJT0yX3/9dVmtVq1Zs0bjx4+Xi4uLzcSpdEKVk5NjFNckaejQocaE5/HHH9emTZtksVj0zTffKCMjwyhqlfXyyy+rS5cukmTcLh4YGKjvv/9e77zzjn744Qfl5OTY9RP77rvvJJVMZtavX29sj42NNRrWh4SEqFOnTjp37pzNe9PT0433u7m5afjw4Ub/pCeeeMK4fSklJUXPP/98uW4Hu1DZlR6dO3c2Hgp177336vDhw8bP8NFHHykyMlJ33XWX0tLSjPfcdNNNdu0Sbr75ZrVs2VLvvvuu9uzZo99++81uUlr6c5ZHTk6OzevL+eZ///79NoXdV199VS1btpRU8ufaq1cvSSV/Brt371ZwcLBq1aqls2fPysPDQ02aNFGzZs2Mp8COGjXKyHXXXXfp8OHDxmtPT0+7c3IpZVezVGT1iIuLi0aPHq24uDgdOHDA5rPxZz788EObFTRms1lPPvmkzc9Zlre3t/H7C1fjAABQFTG3vbZz24ULF2rhwoXGay8vL8XExGjIkCHGNqvVajO/GTBggFHwfuCBB7Rx40b98ssvOnLkiNLS0tSxY0dFRkbqpZde0u+//64vvvhCOTk58vLysvlzeeSRR4wHpl5p/gs9//zzRluFw4cPG20Tyq6qvVKOPO9ZWVnGdV12/lce9evXV58+ffTOO+9o5cqVio6Ovuz3Tp061eb1Lbfcori4OD3yyCMXjS871gvvngNuFBRoAThE2cJg2dUFDzzwgHbs2GHElE5iGzRooA4dOujLL7/UL7/8oq+++krBwcH64osvJJUUxUpXEBw6dMhmcjlu3Lg/HMeBAwfsJrFms1mdO3e2i33ttdf+9Kn1pSsjfv31V6MHmSSbBz/5+PgoICBA+/bts3lv6bfTUsk35380abFYLMrMzDRuhauIsq0C2rZta7Ovbdu2xkS8bNyfWblypZ577rlLxpSep/Iovc2uVFZW1h+2OChVdvzVq1c3irOSdPvtt8vLy8so/GZkZCg4OFj9+vXT3LlzderUKfXv319SSX/Wli1b6oEHHlBUVFS5f4arpUePHmrRooX27t2r+fPna/jw4eXKU1hYaPxj0mw22+23Wq0VHSoAADcU5rbOndvm5ORoz549Ki4uNu5yOnPmjM0XyWXvErrQgQMH1LFjR9WoUUNRUVFasWKFCgsLtX79ej3yyCNGH9ayq5/Lk/9CHTp0MH5ftjVD6YNwy+NqnXdHzP+eeuopffjhhyooKND8+fPL/eyF06dP27X7AKoaWhwAqLDt27fbfCs8btw4BQUFKSgoyKbX6a5du/Tjjz8ar8t+Q/rxxx9r/fr1xjf1vXr1KtcTRc+ePWu37eabb7abLFgsFi1ZssR4/cADDygpKUnLli0zHvIg/W/iUtEHPf2Zi427skhKSjJ+37FjRy1YsEDLli0zVudKFZvglS2uStKXX35Z7lyXMnLkSC1YsEAPP/ywWrRooRo1aujkyZPatGmTxowZY3N7VUWUfaBHRSbjUsl1FxcXJ6lkFUbpA0b+zKhRo7Rnzx4tWbLEKIB//fXXeuGFFy4aX7bAXnb8AABURcxtK+5K57bTp0/X999/r9mzZ8vNzU1SyYrQsu0Oynv8sn8uq1ev1tdff62TJ09KKlkd/Ud9Ty83f1ll756qVq3aRWPKnvsL70qr6J1Mf3bea9eubRS8L7yLrTxuueUWY+X16tWrbT4Pl/LWW29p586dxiKQ4uJiLVmyRCtWrLhofNk59YUPugNuFKygBVBhFz546VI++ugjPf3005Kkbt26ydvbW9nZ2dqwYYN++uknI65Pnz7G75s0aaJq1aoZKw3WrVtn0zOz1NmzZ41b1su62AQ0KyvLZgLzwgsvGLcDlV0xUcrHx0eenp5GD7HvvvvOaKp/5syZi65IDQwMNH5fvXp1bdmy5aIPXPijcZdHQECAMTHavn27zb6yr8uuxCh7fi7W57Ts01T/7//+z3hQV+ntVBUVHByswMBAY9yvvfaawsLCLjr5OnDggG6//Xab8RcUFGjv3r1q0aKFpJJVBmUnnKWxVqtVXbp0MW4HtFqtWrdunVEAXbNmjQYNGiRJxsRVuvg5uZSmTZsa5yYzM9NuJfOVuvfee9W2bVt9++23xoqdy+Hq6qoOHTromWee0aRJkySVTJwHDRpkt7IiMzPTZvwAAFRlzG2dM7c1m82KiorSDz/8YLQ7WLx4sfr37y8/Pz/5+PioTp06+u233yRJycnJF312wYXHDwkJMeaa33zzjRYtWmTsK/vnUt78V6rs3WOlhWKpZGV12TlZKUeedxcXF912221KT0+XxWLRkSNHyv2g31LDhw/X+++/r7y8PO3ateuy3+fh4aGBAwfqu+++Mx7YNmfOHD3wwAN2X2YwV0VVQIEWQIWcO3fOuEVIkoYMGWL0aiqVnp6ud955R1JJP68xY8aoWrVqcnd31wMPPKClS5cqLy9P3377raSSByWUXVXp5eWlbt26ad26dZJKJgHR0dFq3LixcnJydOzYMf33v/9VRkaGEfNnbr75ZtWoUcOYyM6ePVudO3fWV199Zff0W6lkMtO9e3etXLlSkjR37ly5ubnplltuUXJysl2PLkkKCgpSq1at9P3336ugoECDBg3SgAEDdOutt+q3337T0aNH9dVXXxnfGDvCww8/rE8//VSStHnzZr388svq0KGDvvnmG5teZw8//LDx+7K3X33zzTf6/PPPVatWLfn6+qpx48Zq2LChUTxdsGCBHn30Ue3Zs8emT1hFuLi46Pnnn1d0dLQsFouOHj2qhx56SIMGDVKLFi2MhxmsXr1at956q15//XU1a9ZMLVu2NPrQjh07VqNHj5aLi4vi4+ON3E2bNjWKkf3791dAQIBCQkJ0yy23yNXVVf/5z3+M2LJ/hmVXP/zwww/asGGDfHx85OXl9aeTwnbt2mnp0qWSSlbWlH04RXmNGTNGTzzxRLne+5e//EUJCQnGwz7i4+PtHuRQdjJd+rAJAACqIua2zp/bDhkyRG+//bZ+//13nTt3TklJSZo4caJMJpP+8pe/KDk5WZI0fvx4DRs2TE2bNtXZs2d17Ngxfffdd9q8ebPdQoVHH31UL7/8soqLi435n4+Pj02riIrkvxJlH3j13//+V9OnT1fdunX19ttv2/UMlhx/3tu1a2e0E9i1a1eFC7S1a9fWk08+qXnz5pXr/aNGjVJKSoqKi4t1+vRpvffeexo8eLBNzPfff2/8/u67767IcIFKiwItgAr59NNPjW/ea9WqpTFjxtj1uMzJydGKFStksVh06tQpbd26VREREZJKJkulxaxSFytoPf/888rIyFB6eroOHz6s559/3i6mfv36lz1uk8mkJ554QomJiZKkt99+W2+//bakkknLxVaHxsXFKTU1VadOnVJOTo4xBk9PT9WvX18///yz3XteeeUVDRo0SCdOnNCePXsu+jReRxbEunbtqieeeEJLly6V1WrV4sWLtXjxYpuYv/71r8bDCySpffv2cnFxUXFxsX7++WfFxMRIKvlzeOmllzRw4EDjZ01JSTH+0fJH56k8QkNDNX/+fI0fP15ZWVk6deqU/vWvf9nFlb0FbebMmRo4cKB+/fVXZWZmasyYMTaxtWvX1r/+9S9jNWxWVpY++OCDP2wTULZoHRISIg8PD+Xn5ys3N1exsbGSSvqK/dnENyIiwliR8p///EdWq7XCtxHefffdCg8P15YtW674va6urho2bJjxZ7h582bt379fzZo1M2I+//xzSSW34pW9NgAAqGqY2zp/buvt7a3HH3/c+FlWrFihmJgY+fr6avTo0fr+++/19ddf6/Tp05fsE1vWgw8+qFdffVUWi8XY9tBDDxntFEqVN/+VCAsLU0BAgDIyMmS1Wo25paenp+rWravjx4/bvceR5z0qKsq4Rj///HP17Nmz/D/M/zd48GAtXbrUWH18Jfz9/RUZGak1a9ZIkhYtWqT+/fvL3d1dkpSXl6dvvvlGUklx2xHP7QAqI3rQAqiQsrdMderU6aIPIPLy8lJoaOhF33PhioLSlQcX8vHx0YoVKzR+/Hi1bt1anp6exrf8rVu31ogRIzR37twrGvvf//53/f3vf1fDhg3l7u6uoKAgvfLKKzaFurJ8fX317rvvqnv37qpZs6Zq1Kih8PBwvfPOOza3Knl4eBi/b9KkiVavXq2RI0cafU/NZrPq1aunu+++W2PGjNGUKVOuaNx/ZtKkSYqPj1fHjh1Vp04dubq6qnbt2rrnnns0Z84cvfjiizbxgYGBevnll3X77bfbTVIlqV+/fpoyZYoCAgLk7u6uJk2aaMKECRo5cqRDx92pUyetX79e48aN01133aU6derIzc1NN910k1q2bKkRI0bYPETjtttu0+rVqzVkyBBjbKXjGzhwoFavXm1ThBw+fLh69Oihxo0bq1atWqpWrZpq166tdu3aaebMmTbf1Ht7e2vevHm64447LnpNX4qHh4ceeughSSXtIUpXz1RUaSuG8vjLX/5iFLetVqvNKuNjx44ZrRPuvfde1a1bt0LjBADgesbctnLMbZ988knjuAUFBcaq1urVq2vJkiV68cUX1a5dO9WuXVuurq66+eab1bJlSw0ePNgoTJd100032T1Y7WKF8/LmvxLVqlXT66+/ro4dO8rDw0M1a9ZU165d9f777//halZHnve2bdsad4R99tlnKigoqNDPI5V8mVHeh9lK0ogRI4wFDb/88ouWL19u7Cs7xtIH/QI3IpOVRzcDwGW72GrIX3/9VV26dDEmDv/+979tCoOoek6cOKHu3buroKBAkZGRmjNnjrOH9Idmzpyp5ORkmUwmrVy5klUJAABUIcxtq6YNGzYYd4g9//zzeuyxx5w8oj/Wp08f7dq1S76+vtqwYYPDnt0BVDasoAWAKzBo0CC9//772rt3r44fP64vv/xSf/vb34wJbLNmzRQUFOTkUcLZbr31Vj355JOSpPXr19s8CboyycnJ0XvvvSep5GnPFGcBAKhamNtWTffff7/xINvk5GQVFRU5eUQXl5aWZjwr4e9//zvFWdzQWEELAFcgLCxMp0+fvui+m266SUuWLOHJogAAALguMLcFgMqBh4QBwBXo37+/UlNTdfjwYeXm5ho9TyMiIjRw4ED5+Pg4e4gAAADAZWFuCwCVAytoAQAAAAAAAMBJ6EELAAAAAAAAAE5CgRYAAAAAAAAAnIQetNeRHTt2yGq1ys3NzdlDAQAAuGYsFotMJpNCQkKcPRSUA3NYAABQFV3JHJYC7XXEarWKlsEAAKCqYf5zfWMOCwAAqqIrmf9QoL2OlK46aNWqlZNHAgAAcO18//33zh4CKoA5LAAAqIquZA5LD1oAAAAAAAAAcBIKtAAAAAAAAADgJBRoAQAAAAAAAMBJKNACAAAAAAAAgJNQoAUAAAAAAAAAJ6FACwAAAAAAAABOQoEWAAAAAAAAAJyEAi0AAAAAAAAAOAkFWgAAAAAAAABwEgq0AAAAAAAAAOAkFGgBAAAAAAAAwEko0AIAAAAAAACAk1CgBQAAAAAAAAAnoUALAAAAAAAAAE5CgRYAAOBPxMfHq1u3boqPj3f2UADgivD3FwAAlR8FWgAAgEsoKCjQqlWrVFxcrFWrVqmgoMDZQwKAy8LfXwAAXB8o0AIAAFxCUVGRiouLJUnFxcUqKipy8ogA4PLw9xcAANcHCrQAAAAAAAAA4CQUaAEAAAAAAADASSjQAgAAAAAAAICTUKAFAAAAAAAAACehQAsAAAAAAAAATkKBFgAAAAAAAACchAItAAAAAAAAADgJBVoAAAAAAAAAcBIKtAAAAAAAAADgJBRoAQAAAAAAAMBJKNAClyk+Pl7dunVTfHy8s4cCAAAAAACAGwQFWuAyFBQUaNWqVSouLtaqVatUUFDg7CEBAIBKasCAAQoKCrrof2vWrDHiVqxYoe7du6tVq1bq3bu3Nm/ebJcrNzdXEyZMULt27RQSEqLRo0fr1KlTdnHbt29X3759FRwcrM6dOysxMVFWq9Umxmq1KjExUZ06dVJwcLD69u2rnTt32uU6efKkYmNjFRISonbt2um5555TXl5exU8MAAAALooCLXAZioqKVFxcLEkqLi5WUVGRk0cEABVTbC129hBwg6vK19jzzz+v999/3+a/qKgoubq6qkOHDpKkNWvWaNKkSYqMjFRSUpJat26tUaNG2RVM4+LitHXrVk2ZMkWvvPKKMjMzNWzYMJu5yE8//aTo6Gj5+voqISFBgwYN0ty5c7V48WKbXElJSZo7d64GDx6shIQE+fr6asiQITpy5IgRY7FYNHToUB06dEizZs3SlClTtGXLFo0bN+7qnbArVJWvLVw7XGcAgGvJ1dkDAAAA156LyUXLvvuPTuZlO3solZ4l3/auifiv1snNo7qTRnN98Kvlrcfv7OjsYTjNbbfdZrdt3LhxCgsLk4+PjyRp7ty56tmzp+Li4iRJ7du3V3p6uuLj45WUlCRJ2rFjh7Zs2aLk5GSFh4dLkvz9/RUVFaUNGzYoKipKkpScnKw6dero1VdfldlsVocOHXTmzBktXLhQAwYMkNls1rlz55SQkKAhQ4Zo8ODBkqS2bduqR48eSk5O1pQpUyRJ69ev14EDB5SSkqKAgABJkpeXl6Kjo7Vr1y4FBwdfrdN22fj76/Lx91f5VPW/wwAA1x4FWgAAqqiTedn6OeeMs4dR6RUVFNq8PpabJVeL2UmjwfVo+/btOnr0qFGMPXLkiA4dOqRnnnnGJi4qKkozZ85UYWGhzGazUlNT5eXlpbCwMCMmICBAzZs3V2pqqlGgTU1NVbdu3WQ2m21yJSQkaMeOHQoNDdX27duVl5enyMhII8ZsNqtbt2769NNPjW2pqakKCgoyirOSFBYWptq1a+uLL76oFAVaib+/Lhd/fwEAcH2gxQEAAABwFX3yySeqUaOGunbtKknKyMiQVLIatqzAwEBZLBaj5UBGRob8/f1lMpls4gICAowcZ8+e1fHjx20KqqUxJpPJiCv99cK4wMBAHTt2zOivn5GRYRdjMpnk7+9v5AAAAIBjsYIWAAAAuEqKioq0du1adenSRTVq1JAkZWeX3Jrv5eVlE1v6unR/Tk6OPD097XJ6e3tr9+7dkkoeInaxXGazWR4eHja5zGaz3N3d7Y5ptVqVnZ2t6tWrX/KYpbnKw2q16uzZs+V+fymTySQPD48K5wEuR35+vt3D9gAAuFxWq9Xui/Y/QoEWAAAAuEq2bt2qM2fOqFevXs4eilNZLBbt27evwnk8PDzUokULB4wI+HOZmZnKz8939jAAANexsi2oLoUCLQAAAHCVfPLJJ6pdu7bxkC+pZDWqVLL61dfX19iek5Njs9/Ly0snTpywy5mdnW3ElK52LV1JW6qwsFD5+fk2uQoLC3Xu3DmbVbQ5OTkymUw2cXl5eRc9Zt26da/wp/8fNze3iz487Upd7ioUwBH8/f1ZQQsAKLeDBw9ediwF2iqs2FosFxNtiHF1cZ0BAKqqgoICffbZZ+rdu7fc3NyM7aU9Xi/s95qRkSE3Nzc1bNjQiEtLS7O7PS4zM1NNmzaVJNWoUUN169a16w+bmZkpq9Vq5C/9NTMzU82aNbM5Zr169VS9enUjLj093SaX1WpVZmamzcPKrpTJZDJaPADXC9ppAAAq4kq+WKZAW4W5mFy07Lv/6GRe+fuJVRWW/AKb1/FfrZObR3Unjeb64VfLW4/f2dHZw4ADxMfHa9WqVXrooYc0cuRIZw8HAK4LmzZt0tmzZ/XAAw/YbG/YsKGaNGmidevW6b777jO2p6SkqEOHDsatcBEREXr99deVlpame+65R1JJgXXv3r0aOnSo8b6IiAht3LhRzzzzjFEITklJkZeXl0JCQiRJbdq0Ua1atbR27VqjQGuxWLRhwwZFRETY5Fq9erUOHTqkJk2aSJLS0tKUlZWle++918FnCAAAABIF2irvZF62fs454+xhVHpFBYU2r4/lZsnVcnl9RIDrXUFBgVatWqXi4mKtWrVK0dHRxkorAMAf+/jjj1WvXj21bdvWbl9sbKyefvppNWrUSKGhoUpJSdGuXbu0dOlSIyYkJETh4eGaMGGCxo8fL3d3d82ePVtBQUG6//77jbjo6Gh9/PHHGjdunPr376/09HQlJydrzJgxRrHX3d1dMTExmjdvnnx8fNS0aVO9++67ysrKUnR0tJGre/fuSkhIUGxsrMaOHav8/HzNnDlTnTp1UnBw8FU8WwAAAFUXBVoAwCUVFRWpuLhYklRcXKyioiInjwgAKr/s7Gz95z//0aBBgy56e1uvXr2Un5+vpKQkJSYmyt/fX/PnzzdWvJaaM2eOpk+frsmTJ6uoqEjh4eGaOHGiXF3/N41v3LixkpOTNWPGDA0fPlw+Pj4aPXq0hgwZYpNr2LBhslqtWrx4sc6cOaPmzZsrOTnZaKkglfSKXbRokaZOnaqxY8fK1dVV3bp104QJExx8hgAAAFCKAi0AAADgYN7e3tq9e/clY/r06aM+ffpcMsbT01PTpk3TtGnTLhnXpk0bLV++/JIxJpNJMTExiomJuWScn5+f5s2bd8kYAAAAOA5P7gEAAAAAAAAAJ6FACwAAAAAAAABOQoEWAADgElyquUilPURNppLXAAAAAOAg/AsDAADgElzcXHVzSDPJZNLNIc3k4kYLfwDXB75gAgDg+sC/MIDLYExurVYmtwBQBTXo0k4NurRz9jAA4IqUfsF0esd+vmACAKAS4//QwGVgcnvjKbYWy8VEoR1XF9cZAMDZ+IIJAIDKjyoTcJmY3N5YXEwuWvbdf3QyL9vZQ6n0LPkFNq/jv1onN4/qThrN9cOvlrcev7Ojs4cBAAAAAKjkKNACqLJO5mXr55wzzh5GpVdUUGjz+lhullwtZieNBgAAAACAG0ulve/yww8/VFBQkN1/r7zyik3cihUr1L17d7Vq1Uq9e/fW5s2b7XLl5uZqwoQJateunUJCQjR69GidOnXKLm779u3q27evgoOD1blzZyUmJspqtdrEWK1WJSYmqlOnTgoODlbfvn21c+dOu1wnT55UbGysQkJC1K5dOz333HPKy8ur2EkBAAAAAAAAcEOp9CtoFy1aJE9PT+O1n5+f8fs1a9Zo0qRJGjFihNq3b6+UlBSNGjVKy5YtU+vWrY24uLg4HTx4UFOmTJG7u7vmzJmjYcOG6YMPPpCra8kp+OmnnxQdHa2wsDDFxcXphx9+0CuvvKJq1aopOjrayJWUlKS5c+fq6aefVlBQkJYtW6YhQ4bo3//+txo2bChJslgsGjp0qCRp1qxZKigo0Msvv6xx48YpISHhap4uAAAAAAAAANeRSl+gbdmypXx8fC66b+7cuerZs6fi4uIkSe3bt1d6erri4+OVlJQkSdqxY4e2bNmi5ORkhYeHS5L8/f0VFRWlDRs2KCoqSpKUnJysOnXq6NVXX5XZbFaHDh105swZLVy4UAMGDJDZbNa5c+eUkJCgIUOGaPDgwZKktm3bqkePHkpOTtaUKVMkSevXr9eBAweUkpKigIAASZKXl5eio6O1a9cuBQcHX6WzBQAAAAAAAOB6UmlbHPyZI0eO6NChQ4qMjLTZHhUVpbS0NBUWlvRMTE1NlZeXl8LCwoyYgIAANW/eXKmpqca21NRUde3aVWaz2SZXTk6OduzYIamkBUJeXp7NMc1ms7p162aXKygoyCjOSlJYWJhq166tL774wkFnAAAAAAAAAMD1rtIXaHv16qXmzZura9euSkhI0Pnz5yVJGRkZkkpWw5YVGBgoi8WiI0eOGHH+/v4ymUw2cQEBAUaOs2fP6vjx4zYF1dIYk8lkxJX+emFcYGCgjh07poKCAiPuwhiTySR/f38jBwAAAAAAAABU2hYHvr6+io2N1Z133imTyaRNmzZpzpw5OnnypCZPnqzs7GxJJa0Dyip9Xbo/JyfHpodtKW9vb+3evVtSyUPELpbLbDbLw8PDJpfZbJa7u7vdMa1Wq7Kzs1W9evVLHrM0V3lZrVadPXu2QjmkkoKxh4dHhfMAlyM/P9/ugXvOxPV/ZVyquUgmk2S1SiZTyWtctsp2/Ut8BnDtOOr6t1qtdl+2AwAAADeKSlug7dixozp27Gi8Dg8Pl7u7u958802NGDHCiSNzLovFon379lU4j4eHh1q0aOGAEQF/LjMzU/n5+c4ehoHr/8q4uLnq5pBmOr1jv24OaSYXt0r7v45KqbJd/xKfAVw7jrz+y7ahAgAAAG4k19W/siMjI7V48WLt27dP3t7ekkpWv/r6+hoxOTk5kmTs9/Ly0okTJ+xyZWdnGzGlq11LV9KWKiwsVH5+vk2uwsJCnTt3zmYVbU5Ojkwmk01cXl7eRY9Zt27d8v3w/5+bm5tuu+22CuWQxCoUXFP+/v6VagUh1/+Va9ClnRp0aefsYVyXKtv1L/EZwLXjqOv/4MGDDhgNAAAAUDldVwXaskp7vF7Y7zUjI0Nubm5q2LChEZeWlmZ3a1xmZqaaNm0qSapRo4bq1q1r1x82MzNTVqvVyF/6a2Zmppo1a2ZzzHr16ql69epGXHp6uk0uq9WqzMxMm4eVlYfJZFKNGjUqlAO41riVGlUZ1z+qMkdd/3ypAAAAgBvZddVIMCUlRdWqVVOLFi3UsGFDNWnSROvWrbOL6dChg3EbXEREhLKzs5WWlmbEZGZmau/evYqIiDC2RUREaOPGjbJYLDa5vLy8FBISIklq06aNatWqpbVr1xoxFotFGzZssMu1f/9+HTp0yNiWlpamrKws3XvvvY45GQAAAAAAAACue5V2BW10dLRCQ0MVFBQkSdq4caOWL1+ugQMHGi0NYmNj9fTTT6tRo0YKDQ1VSkqKdu3apaVLlxp5QkJCFB4ergkTJmj8+PFyd3fX7NmzFRQUpPvvv9/meB9//LHGjRun/v37Kz09XcnJyRozZoxR7HV3d1dMTIzmzZsnHx8fNW3aVO+++66ysrIUHR1t5OrevbsSEhIUGxursWPHKj8/XzNnzlSnTp0UHBx8LU4fAAAAAAAAgOtApS3Q+vv764MPPtCJEydUXFysJk2aaMKECRowYIAR06tXL+Xn5yspKUmJiYny9/fX/PnzjRWvpebMmaPp06dr8uTJKioqUnh4uCZOnChX1//9+I0bN1ZycrJmzJih4cOHy8fHR6NHj9aQIUNscg0bNkxWq1WLFy/WmTNn1Lx5cyUnJxstFaSSPrGLFi3S1KlTNXbsWLm6uqpbt26aMGHCVTpbAAAAAAAAAK5HlbZAO3HixMuK69Onj/r06XPJGE9PT02bNk3Tpk27ZFybNm20fPnyS8aYTCbFxMQoJibmknF+fn6aN2/eJWMAAAAAAAAAVG3XVQ9aAAAAAAAAALiRUKAFAAAAAAAAACehQAsAAAAAAG5I8fHx6tatm+Lj4509FAD4QxRoAQAAAADADaegoECrVq1ScXGxVq1apYKCAmcPCQAuigItAAAAAAC44RQVFam4uFiSVFxcrKKiIiePCAAujgItAAAAAAAAADgJBVoAAAAAAAAAcBIKtAAAAAAAAADgJBRoAQAAAAAAAMBJKNACAAAAAAAAgJNQoAUAAAAAAAAAJ6FACwAAADjYRx99pIceekitWrVSaGiohg4dqoKCAmP/pk2b1Lt3b7Vq1Urdu3fXBx98YJejsLBQL7/8ssLCwtS6dWs9+eSTysjIsIv78ccf9eSTT6p169YKCwvTzJkzVVhYaBe3YsUKde/eXa1atVLv3r21efNmu5jc3FxNmDBB7dq1U0hIiEaPHq1Tp05V8GwAAADgUijQAgAAAA60YMECvfjii4qKilJycrL++c9/qkGDBjp//rwk6ZtvvtGoUaPUunVrJSUlKTIyUs8995zWrVtnk2fq1KlasWKFxowZo3nz5qmwsFCDBw9Wbm6uEZOdna1BgwbJYrFo3rx5GjNmjJYvX64ZM2bY5FqzZo0mTZqkyMhIJSUlqXXr1ho1apR27txpExcXF6etW7dqypQpeuWVV5SZmalhw4apqKjo6pwsAAAAyNXZAwAAAABuFBkZGZo/f75ef/113Xvvvcb27t27G79fsGCBgoOD9c9//lOS1L59ex05ckRz585Vjx49JEknTpzQypUr9fzzz+vRRx+VJLVq1UqdO3fWe++9p2HDhkmS3nvvPf3++++aP3++ateuLUk6f/68XnjhBcXExMjPz0+SNHfuXPXs2VNxcXHGMdPT0xUfH6+kpCRJ0o4dO7RlyxYlJycrPDxckuTv76+oqCht2LBBUVFRV+msAQAAVG2soAUAAAAc5MMPP1SDBg1sirNlFRYWatu2bUYhtlRUVJR+/PFHHT16VJK0ZcsWFRcX28TVrl1bYWFhSk1NNbalpqaqQ4cORnFWkiIjI1VcXKytW7dKko4cOaJDhw4pMjLS7phpaWlGO4TU1FR5eXkpLCzMiAkICFDz5s1tjgkAAADHokALAAAAOMh3332npk2b6vXXX1eHDh10xx13qF+/fvruu+8kSYcPH5bFYlFAQIDN+wIDAyXJ6DGbkZGhm266Sd7e3nZxZfvQZmRk2OXy8vKSr6+vTS6pZDXshbksFouOHDlixPn7+8tkMtnEBQQEXLT3LQAAAByDFgcAAACAg/zyyy/avXu30tPT9fzzz8vDw0MLFy7UkCFDtGHDBmVnZ0sqKaKWVfq6dH9OTo48PT3t8nt5eRkxpXEX5pIkb29vI66ix/T29tbu3bsv46f/Y1arVWfPnq1QDkkymUzy8PCocB7gcuTn58tqtTp7GDZMJpPc3d3l4sJaK1xdxcXFOnfuXKX7DADXE6vVavfF9x+hQAsAAAA4SGkh8rXXXlOzZs0kSXfeeae6dOmipUuXGr1dqxqLxaJ9+/ZVOI+Hh4datGjhgBEBfy4zM1P5+fnOHoaN0s/Asu/+o5N52X/+hirOkl9g8zr+q3Vy86jupNFcP/xqeevxOztWys8AcL0xm82XFUeBFgAAAHAQLy8v1a5d2yjOSiW9Y1u0aKGDBw+qZ8+ekqTc3Fyb9+Xk5EiS0dLAy8tLeXl5dvlzcnJs2h54eXnZ5ZJKVsWWxpX+mpubK19f30se88SJE5fMVV5ubm667bbbKpRD0mWvQgEcwd/fv9KtHiz9DJzMy9bPOWecPJrKr6ig0Ob1sdwsuVour1iCyvkZAK4nBw8evOxYCrQAAACAg9x22206fPjwRfedO3dOjRo1kpubmzIyMtSxY0djX2mP19J+sgEBATp9+rRdcfTCnrMX6w+bm5urX375xSbXxd6bkZEhNzc3NWzY0IhLS0uzux0vMzNTTZs2vfKTUYbJZFKNGjUqlAO41mingaqOzwBQMVfyxTKNawAAAAAH6dy5s7Kysmxu5//tt9+0Z88etWzZUmazWaGhoVq/fr3N+1JSUhQYGKgGDRpIksLDw+Xi4qINGzYYMdnZ2dqyZYsiIiKMbREREfryyy+N1bCStG7dOrm4uCgsLEyS1LBhQzVp0kTr1q2zO2aHDh2MW+8iIiKUnZ2ttLQ0IyYzM1N79+61OSYAAAAcixW0AAAAgIPcd999atWqlUaPHq0xY8bI3d1diYmJMpvNeuyxxyRJTz31lAYOHKgpU6YoMjJS27Zt0yeffKLZs2cbeW699VY9+uijmjlzplxcXOTn56eEhAR5enqqX79+Rly/fv309ttva+TIkYqJidHJkyc1c+ZM9evXT35+fkZcbGysnn76aTVq1EihoaFKSUnRrl27tHTpUiMmJCRE4eHhmjBhgsaPHy93d3fNnj1bQUFBuv/++6/B2QMAAKiaKNACAAAADuLi4qLExERNnz5dkydPlsVi0V133aVly5YZ/V/vuusuzZs3T3PmzNHKlStVr149TZ06VZGRkTa5Jk6cqJo1a2rWrFn6/fff1aZNG73xxhvy9PQ0Yry9vfXmm2/qxRdf1MiRI1WzZk09+uijGjNmjE2uXr16KT8/X0lJSUpMTJS/v7/mz5+vkJAQm7g5c+YYYy8qKlJ4eLgmTpwoV1f+2QAAAHC1MNMCAAAAHMjHx0f/+te/LhnTtWtXde3a9ZIxZrNZ48eP1/jx4y8ZFxgYqCVLlvzpuPr06aM+ffpcMsbT01PTpk3TtGnT/jQfAAAAHIMetAAAAAAAAADgJBRoAQAAAAAAAMBJKNACAAAAAAAAgJNQoAUAAAAAAAAAJ6FACwAAAAAAAABOQoEWAAAAAADccFyquUgmU8kLk6nkNQBUQvztBAAAAAAAbjgubq66OaSZZDLp5pBmcnFzdfaQAOCi+NsJAAAAAADckBp0aacGXdo5exgAcEmsoAUAAAAAAAAAJ6FACwAAAAAAANxg4uPj1a1bN8XHxzt7KPgTFGgBAAAAAACAG0hBQYFWrVql4uJirVq1SgUFBc4eEi6BAi0AAAAAAABwAykqKlJxcbEkqbi4WEVFRU4eES6FAi0AAAAAAAAAOAkFWgAAAAAAAABwEgq0AAAAAAAAAOAkFGgBAAAAAAAAwEko0AIAAAAAAACAk1CgBQAAAAAAAAAnoUALAAAAAAAAAE5CgRYAAAAAAAAAnIQCLQAAAAAAAAA4yXVToP39998VERGhoKAgff/99zb7VqxYoe7du6tVq1bq3bu3Nm/ebPf+3NxcTZgwQe3atVNISIhGjx6tU6dO2cVt375dffv2VXBwsDp37qzExERZrVabGKvVqsTERHXq1EnBwcHq27evdu7caZfr5MmTio2NVUhIiNq1a6fnnntOeXl5FTsRAAAAAAAAAG4Y102B9vXXX9f58+fttq9Zs0aTJk1SZGSkkpKS1Lp1a40aNcquYBoXF6etW7dqypQpeuWVV5SZmalhw4apqKjIiPnpp58UHR0tX19fJSQkaNCgQZo7d64WL15skyspKUlz587V4MGDlZCQIF9fXw0ZMkRHjhwxYiwWi4YOHapDhw5p1qxZmjJlirZs2aJx48Y59sQAAAAAAAAAuG65OnsAl+PHH3/UO++8o/Hjx+v555+32Td37lz17NlTcXFxkqT27dsrPT1d8fHxSkpKkiTt2LFDW7ZsUXJyssLDwyVJ/v7+ioqK0oYNGxQVFSVJSk5OVp06dfTqq6/KbDarQ4cOOnPmjBYuXKgBAwbIbDbr3LlzSkhI0JAhQzR48GBJUtu2bdWjRw8lJydrypQpkqT169frwIEDSklJUUBAgCTJy8tL0dHR2rVrl4KDg6/yWQMAAAAAAABQ2V0XK2inTp2qfv36yd/f32b7kSNHdOjQIUVGRtpsj4qKUlpamgoLCyVJqamp8vLyUlhYmBETEBCg5s2bKzU11diWmpqqrl27ymw22+TKycnRjh07JJW0QMjLy7M5ptlsVrdu3exyBQUFGcVZSQoLC1Pt2rX1xRdfVOR0AAAAAAAAALhBVPoC7bp165Senq6RI0fa7cvIyJAku8JtYGCgLBaL0XIgIyND/v7+MplMNnEBAQFGjrNnz+r48eM2BdXSGJPJZMSV/nphXGBgoI4dO6aCggIj7sIYk8kkf39/IwcAAAAAAACAqq1StzjIz8/XjBkzNGbMGNWqVctuf3Z2tqSS1gFllb4u3Z+TkyNPT0+793t7e2v37t2SSh4idrFcZrNZHh4eNrnMZrPc3d3tjmm1WpWdna3q1atf8pilucrDarXq7Nmz5X5/KZPJJA8PjwrnAS5Hfn6+3cP2nInrH9dSZbv+JT4DuHYcdf1brVa7L9oBAACAG8VVL9BmZGQoKSlJ06dPv+L3LliwQDfddJMeeeSRqzCy65PFYtG+ffsqnMfDw0MtWrRwwIiAP5eZman8/HxnD8PA9Y9rqbJd/xKfAVw7jrz+y7agAgAAAG4kFSrQnjlzRkeOHJGXl5ddm4Fdu3YpMTFRmzZtkouLyxUXaH/++WctXrxY8fHxxurW0pWjZ8+e1e+//y5vb29JJatffX19jffm5ORIkrHfy8tLJ06csDtGdna2EVO62rX0WKUKCwuVn59vk6uwsFDnzp2zWUWbk5Mjk8lkE5eXl3fRY9atW/eKzkVZbm5uuu2228r9/lKsQsG15O/vX6lWEHL941qqbNe/xGcA146jrv+DBw86YDQAAABA5VSuAm1hYaGee+45rVmzxph0N23aVPHx8apevbomT56szZs3q3r16urfv78GDx58xcc4evSoLBaLhg8fbrdv4MCBuvPOOzVr1ixJ9v1eMzIy5ObmpoYNG0oq6ReblpZmd3tcZmammjZtKkmqUaOG6tata9cfNjMzU1ar1chf+mtmZqaaNWtmc8x69eqpevXqRlx6erpNLqvVqszMTJuHlV0pk8mkGjVqlPv9gDNwKzWqMq5/VGWOuv75UgEAAEhSsbVYLqZK/zglXOeccZ2Vq0C7cOFCffzxx2rdurXatGmjo0eP6tNPP9Wzzz6rX3/9Vb/88otGjhypJ554QrVr1y7XwJo3b6633nrLZtu+ffs0ffp0vfDCC2rVqpUaNmyoJk2aaN26dbrvvvuMuJSUFHXo0MG4FS4iIkKvv/660tLSdM8990gqKbDu3btXQ4cONd4XERGhjRs36plnnpGbm5uRy8vLSyEhIZKkNm3aqFatWlq7dq1RoLVYLNqwYYMiIiJscq1evVqHDh1SkyZNJElpaWnKysrSvffeW65zAgAAAAAAUFW5mFy07Lv/6GRe+Z/tU1VY8gtsXsd/tU5uHtWdNJrrh18tbz1+Z8drftxyFWjXrFmjsLAwJScnG9sWL16smTNn6rbbbtPatWttWg6Uh5eXl0JDQy+6r2XLlmrZsqUkKTY2Vk8//bQaNWqk0NBQpaSkaNeuXVq6dKkRHxISovDwcE2YMEHjx4+Xu7u7Zs+eraCgIN1///1GXHR0tD7++GONGzdO/fv3V3p6upKTkzVmzBij2Ovu7q6YmBjNmzdPPj4+atq0qd59911lZWUpOjrayNW9e3clJCQoNjZWY8eOVX5+vmbOnKlOnTopODi4QucGAAAAAACgKjqZl62fc844exiVXlFBoc3rY7lZcrXQ07+yKtd63WPHjqlr164227p16yZJGjp0aIWLs1eiV69eevHFF/XJJ58oOjpa27dv1/z5840Vr6XmzJmje+65R5MnT9a4cePUpEkTJSYmytX1fzXqxo0bKzk5WSdOnNDw4cO1ePFijR49WkOGDLHJNWzYMI0aNUqLFy/W8OHDdeLECSUnJxstFaSSXrGLFi1SkyZNNHbsWD3//PO65557jLYMAAAAuPF8+OGHCgoKsvvvlVdesYlbsWKFunfvrlatWql3797avHmzXa7c3FxNmDBB7dq1U0hIiEaPHq1Tp07ZxW3fvl19+/ZVcHCwOnfurMTERLvev1arVYmJicZigb59+2rnzp12uU6ePKnY2FiFhISoXbt2eu655y76XAUAAAA4TrlW0FosFuOhWqVq1aolSfLz86v4qP5AaGiofvjhB7vtffr0UZ8+fS75Xk9PT02bNk3Tpk27ZFybNm20fPnyS8aYTCbFxMQoJibmknF+fn6aN2/eJWMAAABw41m0aJHNfLnsHHnNmjWaNGmSRowYofbt2yslJUWjRo3SsmXL1Lp1ayMuLi5OBw8e1JQpU+Tu7q45c+Zo2LBh+uCDD4xFBj/99JOio6MVFhamuLg4/fDDD3rllVdUrVo1m7u7kpKSNHfuXD399NMKCgrSsmXLNGTIEP373/82FhlYLBaj/desWbNUUFCgl19+WePGjVNCQsLVPF0AAABVWrkKtNIfP6yBhzgAAACgqmvZsqV8fHwuum/u3Lnq2bOn4uLiJEnt27dXenq64uPjlZSUJEnasWOHtmzZouTkZIWHh0uS/P39FRUVpQ0bNigqKkqSlJycrDp16ujVV1+V2WxWhw4ddObMGS1cuFADBgyQ2WzWuXPnlJCQoCFDhhgP723btq169Oih5ORkTZkyRZK0fv16HThwQCkpKcaDcb28vBQdHa1du3bRpgsAAOAqKfcjyZ577jm1adPG+K+05cGIESNstrdp00Zt27Z12IABAACAa+nIkSMOzXXo0CFFRkbabI+KilJaWpoKC0v6xaWmpsrLy0thYWFGTEBAgJo3b67U1FRjW2pqqrp27Wo8L6E0V05Ojnbs2CGppAVCXl6ezTHNZrO6detmlysoKMgozkpSWFiYateurS+++MJBZwAAAAAXKtcK2ocfftjR4wAAAAAqlf379yspKUnr16/X7t27r+i9vXr10m+//aZ69erpr3/9q4YOHapq1aopIyNDUslq2LICAwNlsVh05MgRBQYGKiMjQ/7+/nZ3pwUEBBg5zp49q+PHj9sUVEtjTCaTMjIyFBoaasRfGBcYGKg333xTBQUFql69ujIyMuxiTCaT/P39jRwAAABwvHIVaKdPn+7ocQAAAADXzIEDB/Tuu+/q8OHD8vb2Vo8ePYyH3u7Zs0dz5szRli1b5OrqqgceeOCy8/r6+io2NlZ33nmnTCaTNm3apDlz5ujkyZOaPHmysrOzJZW0Diir9HXp/pycHLtnPkiSt7e3USzOzc29aC6z2SwPDw+bXGazWe7u7nbHtFqtys7OVvXq1S95zNJc5WW1WnX27NkK5ZBKCsYeHh4VzgNcjvz8fLsH7jkbnwFcS5XtM8D1j2vJEde/1Wq97Faw5e5BCwAAAFyPdu7cqUGDBuncuXPGtpSUFD377LM6f/68XnnlFdWsWVPR0dEaOHCgbrnllsvO3bFjR3Xs2NF4HR4eLnd3d7355psaMWKEQ3+O64nFYtG+ffsqnMfDw0MtWrRwwIiAP5eZman8/HxnD8MGnwFcS5XtM8D1j2vJUdd/2TZUl1KuAm1WVtYVv6d27drlORQAAADgUPHx8XJ3d9f8+fN111136ejRo/rHP/6huXPn6ty5cxo8eLCeeuqpi64mLY/IyEgtXrxY+/btk7e3t6SS1a++vr5GTE5OjiQZ+728vHTixAm7XNnZ2UZM6fhKV9KWKiwsVH5+vk2uwsJCnTt3zmYVbU5Ojkwmk01cXl7eRY9Zt27d8v3w/5+bm5tuu+22CuWQeCAxri1/f/9KtXpQ4jOAa6uyfQa4/nEtOeL6P3jw4GXHlqtA2759+yv6YJhMJu3du7c8hwIAAAAcateuXXrssceMla633367nn32WT3xxBN68skn9X//939X7dilPV4v7PeakZEhNzc3NWzY0IhLS0uzuzUuMzNTTZs2lSTVqFFDdevWtesPm5mZKavVauQv/TUzM1PNmjWzOWa9evVUvXp1Iy49Pd0ml9VqVWZmps3DysrDZDKpRo0aFcoBXGvcSo2qjs8AqjJHXP9XUjstV4F25MiRf3oQq9WqTZs2OeRWJgAAAMBRcnJy1KRJE5ttpQ/tat++vcOPl5KSomrVqqlFixby9fVVkyZNtG7dOt133302MR06dDBug4uIiNDrr7+utLQ03XPPPZJKCqx79+7V0KFDjfdFRERo48aNeuaZZ+Tm5mbk8vLyUkhIiCSpTZs2qlWrltauXWsUaC0WizZs2KCIiAibXKtXr9ahQ4eM85OWlqasrCzde++9Dj8vAAAAKFGuAm1sbOwl92/cuFHx8fHat2+fGjVqpKeeeqpcgwMAAAAczWq1qlq1ajbbXFxcJF1+n7A/Eh0drdDQUAUFBUkqmRcvX75cAwcONFoaxMbG6umnn1ajRo0UGhqqlJQU7dq1S0uXLjXyhISEKDw8XBMmTND48ePl7u6u2bNnKygoSPfff7/N8T7++GONGzdO/fv3V3p6upKTkzVmzBjjZ3F3d1dMTIzmzZsnHx8fNW3aVO+++66ysrIUHR1t5OrevbsSEhIUGxursWPHKj8/XzNnzlSnTp0UHBxcofMCAACAP+bQh4R99tlnev31143C7IwZM/TAAw/YTYABAAAAZ/riiy90+vRp43V+fr5MJpPWrVun/fv328SaTCYNHjz4svL6+/vrgw8+0IkTJ1RcXKwmTZpowoQJGjBggBHTq1cv5efnKykpSYmJifL399f8+fONFa+l5syZo+nTp2vy5MkqKipSeHi4Jk6cKFfX/03hGzdurOTkZM2YMUPDhw+Xj4+PRo8erSFDhtjkGjZsmKxWqxYvXqwzZ86oefPmSk5ONloqSCV9YhctWqSpU6dq7NixcnV1Vbdu3TRhwoTL+tkBAABQPg4p0H722WfGitnGjRtr+vTp6t27t7ESAQAAAKhMPvnkE33yySd2299//327bVdSoJ04ceJlxfXp00d9+vS5ZIynp6emTZumadOmXTKuTZs2Wr58+SVjTCaTYmJiFBMTc8k4Pz8/zZs375IxAAAAcKwKFWgvLMzOmDGDwiwAAAAqtY0bNzp7CAAAAIChXAXaTz/9VPHx8frhhx/UuHFjvfzyy3rggQcozAIAAKDSq1+/vrOHAAAAABjK/ZAwk8mk5s2bKyoqSmfOnNGbb775h/FXclsYAAAAAAAAgPJzqeYimUyS1SqZTCWvUWmVu8WB1WrV3r17tXfv3j+NpUALAACAymLq1KlX/J7L7S0LAABQGbi4uermkGY6vWO/bg5pJhc3hzyGCldJuf506NsFAACA69XSpUsvK85kMhm/p0ALAACuNw26tFODLu2cPQxchnIVaOnbBQAAgOvV/v37/zTmwofhAgAAAFcL65sBAACA/++zzz7T66+/rn379qlRo0aaPn26evfu7exhAQAA4AZWrgItfbsAAABwIyktzO7du1eNGzc2CrMuLjxQAwAAAFdXuQq0l9u3q5TJZKJACwAAgEqntJXB/v371ahRI82YMYPCLAAAAK6pchVoL6dvFwAAAFBZffrpp0ZhlhWzAAAAcKZr3oP27NmzWrx4sR566CE1aNDgWh8eAAAAVdyDDz6o9PR0NWnSRDNnztQDDzwgk8nk7GEBAACginJKgTY+Pl5t27alQAsAAIBr7ocffpAkHT9+XFOmTNGUKVMuGW8ymfTtt99eg5EBAACgKrrmBVpJslqtzjgsAAAAoIceeogVswAAAKg0nFKgBQAAAJxlxowZzh4CAAAAYOApCAAAAAAAAADgJKygBQAAQJWSlZV1xe+pXbu2w8cBAAAASBRoAQAAUMW0b9/+invQ7tu37yqNBgAAAFUdBVoAAABUKSNHjuQhYQAAAKg0KNACAACgSomNjXX2EAAAAABDhR8S9o9//EPffffdH+7ftWuX/vGPfxivfXx8tHHjRrVt27aihwYAAACuqdOnT6t58+ZKS0tz9lAAAABwg6hwgfajjz7S4cOH/3D/0aNHtWrVqv8d0MVF9evXl9lsruihAQAAgGvOarU6ewgAAAC4gVS4QPtnTp06perVq1/twwAAAAAAAADAdadcPWg/++wzbdy40Xi9fPlyffnll3Zxubm5+vLLL3XHHXeUf4QAAAAAAAAAcIMqV4H2xx9/1Lp16yRJJpNJ3333nXbv3m0TYzKZVKNGDd1999169tlnKz5SAAAAAAAAALjBlKtAGxMTo5iYGElSs2bN9NJLL+mBBx5w6MAAAAAAAAAA4EZXrgJtWfv373fEOAAAAAAAAACgyqlwgTYvL0+5ubmqW7euse3kyZN67733VFhYqO7duys4OLiihwEAAAAAAACAG06FC7STJ0/W0aNHtXz5ckklBdu+ffvqxIkTcnFx0VtvvaVFixYpNDS0woMFAAAAnKl69ep6+OGHdcsttzh7KAAAALhBuFQ0wbfffqtOnToZr//973/r1KlTeu+99/T1118rKChICxYsqOhhAAAAgKtm586dSkhI0LRp03To0CFJUn5+vvbs2aPff//diKtVq5amT5+uwMBAJ40UAAAAN5oKF2h/++03+fn5Ga83bdqktm3bqnXr1qpVq5Yeeugh+tQCAACgUiosLNSoUaPUv39/zZ49W2+//baOHz8uSXJxcdGQIUP01ltvOXmUAAAAuJFVuEDr5eWl06dPS5IKCgr07bffKiwszNhfrVo1FRQUVPQwAAAAgMO99tpr+vzzzzVlyhStW7dOVqvV2Ofu7q4ePXpo48aNThwhAAAAbnQVLtCGhITonXfe0aeffqpp06bp3Llz6tq1q7H/0KFDNitsAQAAgMpizZo16tevn/r27Stvb2+7/YGBgTpy5Ei58//++++KiIhQUFCQvv/+e5t9K1asUPfu3dWqVSv17t1bmzdvtnt/bm6uJkyYoHbt2ikkJESjR4/WqVOn7OK2b9+uvn37Kjg4WJ07d1ZiYqJNsVmSrFarEhMT1alTJwUHB6tv377auXOnXa6TJ08qNjZWISEhateunZ577jnl5eWV+xwAAADg0ipcoH366afl6uqq2NhYLV++XIMHD9btt98uSTp//rzWrVunu+++u8IDBQAAABzt119/VVBQ0B/ur+jdYK+//rrOnz9vt33NmjWaNGmSIiMjlZSUpNatW2vUqFF2BdO4uDht3bpVU6ZM0SuvvKLMzEwNGzZMRUVFRsxPP/2k6Oho+fr6KiEhQYMGDdLcuXO1ePFim1xJSUmaO3euBg8erISEBPn6+mrIkCE2BWiLxaKhQ4fq0KFDmjVrlqZMmaItW7Zo3Lhx5T4HAAAAuDTXiiZo3Lix1q1bpx9//FG1atVSgwYNjH35+fmaNGmSmjVrVtHDAAAAAA5Xt25dZWRk/OH+7du3q1GjRuXK/eOPP+qdd97R+PHj9fzzz9vsmzt3rnr27Km4uDhJUvv27ZWenq74+HglJSVJknbs2KEtW7YoOTlZ4eHhkiR/f39FRUVpw4YNioqKkiQlJyerTp06evXVV2U2m9WhQwedOXNGCxcu1IABA2Q2m3Xu3DklJCRoyJAhGjx4sCSpbdu26tGjh5KTkzVlyhRJ0vr163XgwAGlpKQoICBAUklLs+joaO3atUvBwcHlOhcAAAD4YxVeQStJbm5uatasmU1xVip5yu19991ntx0AAACoDHr16qX33ntPO3bsMLaZTCZJ0vLly7V27Vo99NBD5co9depU9evXT/7+/jbbjxw5okOHDikyMtJme1RUlNLS0lRYWChJSk1NlZeXl83zHQICAtS8eXOlpqYa21JTU9W1a1eZzWabXDk5OcbPtX37duXl5dkc02w2q1u3bna5goKCjOKsJIWFhal27dr64osvynUeAAAAcGkOKdCeP39eH330kf7+97+rT58+6tOnj/7+979r1apVF72l63J88cUXeuKJJ9S+fXvdcccd6tq1q6ZPn67c3FybuE2bNql3795q1aqVunfvrg8++MAuV2FhoV5++WWFhYWpdevWevLJJy+6UuLHH3/Uk08+qdatWyssLEwzZ840JshlObJfGAAAAJxnxIgRatOmjZ544gkNHDhQJpNJ06dPV6dOnTR58mR17NjRWHF6JdatW6f09HSNHDnSbl/pPPTCwm1gYKAsFovRciAjI0P+/v5GwbhUQECAkePs2bM6fvy4TUG1NMZkMhlxpb9eGBcYGKhjx44ZbRwyMjLsYkwmk/z9/S+50hgAAADlV+EWB7m5uYqOjtb333+vmjVrqmHDhpKkL7/8Uhs2bNC7776r5ORk1apV64ryZmVlKTg4WAMGDFDt2rV14MABzZs3TwcOHDD6aX3zzTcaNWqUHn30UU2YMEFfffWVnnvuOdWsWVM9evQwck2dOlUpKSl69tln5efnp4ULF2rw4MFas2aNPD09JUnZ2dkaNGiQmjRponnz5unkyZOaMWOGCgoKNHnyZCNXab+wESNGqH379kpJSdGoUaO0bNkytW7d2oiLi4vTwYMHNWXKFLm7u2vOnDkaNmyYPvjgA7m6Vvi0AwAAwAHMZrMWLVqk1atXa/369SouLlZhYaGCgoIUFxenBx980K5A+mfy8/M1Y8YMjRkz5qJz4OzsbEklrQPKKn1duj8nJ8eYq5bl7e2t3bt3S5KxeOHCXGazWR4eHja5zGaz3N3d7Y5ptVqVnZ2t6tWrX/KYpbnKw2q16uzZs+V+fymTySQPD48K5wEuR35+vt3D9pyNzwCupcr2GeD6x7XkiOvfarVe9jyywpXC2bNna8+ePZo4caL++te/ys3NTVLJAwZWrFihl156SbNnz9akSZOuKO+DDz5o8zo0NFRms1mTJk3SyZMn5efnpwULFig4OFj//Oc/JZX07jpy5Ijmzp1rFGhPnDihlStX6vnnn9ejjz4qSWrVqpU6d+6s9957T8OGDZMkvffee/r99981f/581a5dW1LJyuAXXnhBMTEx8vPzk+TYfmEAAABwPpPJpAcffNBu/lleCxYs0E033aRHHnnEIfluBBaLRfv27atwHg8PD7Vo0cIBIwL+XGZmpvLz8509DBt8BnAtVbbPANc/riVHXf9lW1BdSoULtJ9++qn69++vxx9/3Ga7m5ubHnvsMWVkZGjdunVXXKC9mNLCqcViUWFhobZt26ann37aJiYqKkqffPKJjh49qgYNGmjLli0qLi62WVFbu3ZthYWFKTU11SjQpqamqkOHDsYxJCkyMlLPP/+8tm7dqr/85S9Gv7BnnnnG7pil7RDMZvOf9gujQAsAAHBj+vnnn7V48WLFx8cbq1tLV46ePXtWv//+u7y9vSWVrH719fU13puTkyNJxn4vLy+dOHHC7hjZ2dlGTOlq1wvbgBUWFio/P98mV2Fhoc6dO2ezijYnJ0cmk8kmLi8v76LHrFu37pWeDoObm5tuu+22cr+/1JWuZgYqwt/fv1KtHpT4DODaqmyfAa5/XEuOuP4PHjx42bEVLtBmZWXZ9c8qy9/fv0K3Q50/f15FRUU6ePCg4uPj1aVLFzVo0EAHDx6UxWK5aB8tqaR/VoMGDZSRkaGbbrrJmHSWjVu5cqXxOiMjw26Vg5eXl3x9fe16d12qX1hgYOBl9QsDAACA8w0cOPBPY0wmk958883Lynf06FFZLBYNHz78ose68847NWvWLEn2/V4zMjLk5uZmtAwLCAhQWlqa3e1xmZmZatq0qSSpRo0aqlu3rt0cMzMzU1ar1chf+mtmZqaaNWtmc8x69eqpevXqRlx6erpNLqvVqszMTJvFB1fKZDKpRo0a5X4/4AzcSo2qjs8AqjJHXP9X8qVChQu0jRs31qZNm+xW0JbatGmTGjVqVO78nTt31smTJyVJHTt2NCa0Fe3d5eXlZVM4zsnJscsl2fbbcmS/sPKifxeuR/QuQlVW2a5/ic8Arh1HXf9X0r+rPLkvVFxcrGPHjun48eNq3LixbrnllsvO17x5c7311ls22/bt26fp06frhRdeUKtWrdSwYUM1adJE69at03333WfEpaSkqEOHDsatcBEREXr99deVlpame+65R1JJgXXv3r0aOnSo8b6IiAht3LhRzzzzjNFuLCUlRV5eXgoJCZEktWnTRrVq1dLatWuNAq3FYtGGDRsUERFhk2v16tU6dOiQmjRpIklKS0tTVlaW7r333ss+DwAAALh8FS7Q9u/fXy+++KKGDRtmPGRLKpk8vv322/ryyy8r1N4gMTFR+fn5OnjwoBYsWKARI0bojTfeqOiwr1v078L1iN5FqMoq2/Uv8RnAtePI6/9y+3ddqbfffvsP923evFmTJk3SP/7xj8vO5+XlpdDQ0Ivua9mypVq2bClJio2N1dNPP61GjRopNDRUKSkp2rVrl5YuXWrEh4SEKDw8XBMmTND48ePl7u6u2bNnKygoSPfff78RFx0drY8//ljjxo1T//79lZ6eruTkZI0ZM8Y4b+7u7oqJidG8efPk4+Ojpk2b6t1331VWVpaio6ONXN27d1dCQoJiY2M1duxY5efna+bMmerUqZOCg4Mv+zwAAADg8lW4QPv444/rzJkzSkxM1JYtW2yTu7pq5MiReuyxx8qdv/Qb/pCQELVq1UoPPvigPv30U6OH1YX9ti7Wu+tifbRycnJs2h54eXnZ5ZJse3w5sl9YedG/C9cjehehKqts17/EZwDXjqOu/yvp3+VInTt3Vu/evTVt2jSbwqkj9OrVS/n5+UpKSlJiYqL8/f01f/58Y8VrqTlz5mj69OmaPHmyioqKFB4erokTJ8rV9X/T+MaNGys5OVkzZszQ8OHD5ePjo9GjR2vIkCE2uYYNGyar1arFixfrzJkzat68uZKTk42WClLJXHPRokWaOnWqxo4dK1dXV3Xr1k0TJkxw6M8PAACA/6lwgVYqWQHw+OOPKy0tTT///LMkqX79+urQoYN8fHwccQhJUlBQkNzc3HT48GF16dJFbm5uysjIUMeOHY2Y0v5bZfttnT592q44emHPr4v1h83NzdUvv/xi17vLEf3Cyov+XbgecSs1qjKuf1Rljrr+nfmlQqNGjbRs2bIK5QgNDdUPP/xgt71Pnz7q06fPJd/r6empadOmadq0aZeMa9OmjZYvX37JGJPJpJiYGMXExFwyzs/PT/PmzbtkDAAAABzHxVGJfHx81LNnTw0fPlzDhw9Xz549HVqclaTvvvtOFotFDRo0kNlsVmhoqNavX28Tk5KSosDAQDVo0ECSFB4eLhcXF23YsMGIyc7O1pYtW+z6bX355ZfGalhJWrdunVxcXIwHIpTtF3bhMS/sF5adna20tDQjprRfWNljAgAAoPIqKirS2rVrVadOHWcPBQAAADewcq2gzc3NVVxcnO6++26NGDHiD+MWLFigb7/9Vq+99ppq1qx5RccYNWqU7rjjDgUFBal69erav3+/kpOTFRQUZDxM4amnntLAgQM1ZcoURUZGatu2bfrkk080e/ZsI8+tt96qRx99VDNnzpSLi4v8/PyUkJAgT09P9evXz4jr16+f3n77bY0cOVIxMTE6efKkZs6cqX79+snPz8+Ic2S/MAAAADjXH/WXzc3N1c6dO3X69Gk9++yz13hUAAAAqErKVaBdunSpduzYoX/961+XjPvrX/+qRYsWadmyZRo+fPgVHSM4OFgpKSlKTEyU1WpV/fr11adPH0VHRxsrVe+66y7NmzdPc+bM0cqVK1WvXj1NnTpVkZGRNrkmTpyomjVratasWfr999/Vpk0bvfHGG/L09DRivL299eabb+rFF1/UyJEjVbNmTT366KMaM2aMTS5H9gsDAACAc23bts1um8lkkre3t9q2bas+ffooPDzcCSMDAABAVVGuauGnn356WS0MbrrpJvXs2VMbNmy44gJtaauEP9O1a1d17dr1kjFms1njx4/X+PHjLxkXGBioJUuW/OkxHdkvDAAAAM6zadMmZw8BAAAAVVy5etBmZmbqjjvuuKzYli1b6scffyzPYQAAAAAAAADghlauFbRWq/WqxgMAAADX0sGDB3XkyBFlZ2dfdP9DDz10bQcEAACAKqNcBdq6detqz549lxW7Z88e1a1btzyHAQAAAK6qw4cP65lnntGuXbv+cFGByWSiQAsAAICrplwF2k6dOundd9/VkCFD1KRJkz+MO3TokFavXq3+/fuXd3wAAADAVTN58mSlp6drwoQJuuuuu+Tl5eXsIQEAAKCKKVcP2qFDh6p69ep64oknlJKSoqKiIpv9RUVFSklJ0cCBA1W9enVFR0c7ZLAAAACAI23fvl1Dhw7VgAED1Lx5c9WvX/+i/wEAAABXS7lW0N50001KTEzUqFGjNG7cOFWvXl1NmjRRzZo19fvvv+vQoUMqKCjQzTffrMTERN18882OHjcAAABQYXXq1JGnp6ezhwEAAIAqrFwFWkkKDg7WmjVr9O6772rz5s3KyMhQXl6eatWqpaCgIHXp0kX9+vXjNjEAAABUWv369dPq1av1+OOPq1q1as4eDgAAAKqgchdoJcnT01PDhw/X8OHDL/s9FotFO3fuVLNmzVitAAAAAKdq0qSJiouL9eCDD+qRRx7RrbfeetFC7f333++E0QEAAKAqqFCBtjyys7M1cOBALV68WB06dLjWhwcAAAAMY8aMMX7/8ssvXzTGZDJp375912pIAAAAqGKueYFWkqxWqzMOCwAAANh46623nD0EAAAAVHFOKdACAAAAlUG7du2cPQQAAABUcRRoAQAAUOUVFhZqz549+vXXX9WmTRv5+Pg4e0gAAACoIlycPQAAAADAmd566y2Fh4frscceU2xsrH744QdJ0pkzZxQaGqqVK1c6eYQAAAC4kVGgBQAAQJX1wQcfaNq0aerYsaNeeuklm2cl+Pj4qH379kpJSXHiCAEAAHCjo0ALAACAKuuNN95Q165dNWvWLHXu3Nluf8uWLXXgwAEnjAwAAABVBQVaAAAAVFk//fSTIiIi/nB/7dq1lZWVde0GBAAAgCrnmhdoPT09NX36dN1+++3X+tAAAACADS8vL/32229/uP/gwYPy9fW9hiMCAABAVeN6pW/473//W64D3X333ZIkd3d3Pfzww+XKAQAAADhSRESEli9frscee8xu34EDB7RixQo98sgjThgZAAAAqoorLtAOGDBAJpPpsuOtVqtMJpP27dt3pYcCAAAArqq4uDj99a9/Va9evdS5c2eZTCatWrVKH3zwgTZs2CBfX1/97W9/c/YwAQAAcAO74gLtW2+9dTXGAQAAAFxzfn5++vDDD/Xqq69q7dq1slqt+ve//62aNWuqZ8+eevrpp+Xj4+PsYQIAAOAGdsUF2nbt2l2NcQAAAABOcdNNN+mll17SSy+9pDNnzqi4uFg+Pj5yceF5ugAAALj6mHUCAACgyvriiy90/vx547WPj49uvvlmirMAAAC4Zq54Be3FnDt3TuvXr9fevXuVm5ur4uJim/0mk0nTpk1zxKEAAAAAh4mJiZG3t7fuv/9+RUVFKTQ0lOIsAAAArqkKF2h//vlnDRw4UD///LO8vLyUm5srb29v5ebm6vz586pTp45q1KjhiLECAAAADpWUlKSUlBStX79eK1euVJ06ddS9e3f17NlTd911l7OHBwAAgCqgwgXamTNnKi8vT8uXL1eDBg10zz33aPbs2Wrbtq3eeustLVu2TMnJyY4YKwAAAOBQHTt2VMeOHWWxWLRlyxalpKTo448/1nvvvSdfX191795dUVFRCgkJcfZQAQAAcIOq8P1bX331lfr376/g4GCb28HMZrOGDh2q9u3b094AAAAAlZqbm5s6d+6sf/3rX/ryyy81b9483X333Vq5cqUef/xxZw8PAAAAN7AKF2gLCgpUv359SVKtWrVkMpmUm5tr7A8JCdG3335b0cMAAAAA18TZs2d15swZnT59WufOnZPVanX2kAAAAHADq3CLg7p16+rkyZMlyVxd5efnp507d+r++++XJB08eFDu7u4VPQwAAABw1eTm5mrDhg1KSUnRtm3bVFRUpKZNm2r06NGKiopy9vAAAABwA6twgbZ9+/bauHGjRo0aJUl6+OGHlZiYqJycHBUXF2v16tV68MEHKzxQAAAAwNFWrVqldevWaevWrbJYLAoICNCIESMUGRmpwMDAK873xRdfKCkpSQcPHlReXp78/Px03333adSoUfL09DTiNm3apDlz5igzM1P16tXT8OHD9cgjj9jkKiws1OzZs7V69Wr9/vvvCgkJ0aRJkxQQEGAT9+OPP2rq1KnasWOHatasqQcffFBxcXEym802cStWrNCiRYt07Ngx+fv7a8yYMercubNNTG5urqZPn67PPvtMFotFHTt21MSJE3XLLbdc8bkAAADA5alwgXb48OH6/vvvVVhYKLPZrBEjRujUqVNav369XFxc1KtXLz377LOOGCsAAADgUM8++6waNmyoIUOGKDIyUs2aNatQvqysLAUHB2vAgAGqXbu2Dhw4oHnz5unAgQNavHixJOmbb77RqFGj9Oijj2rChAn66quv9Nxzz6lmzZrq0aOHkWvq1KlKSUnRs88+Kz8/Py1cuFCDBw/WmjVrjGJvdna2Bg0apCZNmmjevHk6efKkZsyYoYKCAk2ePNnItWbNGk2aNEkjRoxQ+/btlZKSolGjRmnZsmVq3bq1ERcXF6eDBw9qypQpcnd315w5czRs2DB98MEHcnWt8D8dAAAAcBEVnmXVq1dP9erVM167u7vrpZde0ksvvVTR1AAAAMBVtXLlSt1xxx0Oy3fhnWOhoaEym82aNGmSTp48KT8/Py1YsEDBwcH65z//KankjrQjR45o7ty5RoH2xIkTWrlypZ5//nk9+uijkqRWrVqpc+fOeu+99zRs2DBJ0nvvvafff/9d8+fPV+3atSVJ58+f1wsvvKCYmBj5+flJkubOnauePXsqLi7OOGZ6erri4+OVlJQkSdqxY4e2bNmi5ORkhYeHS5L8/f0VFRWlDRs20OoBAADgKqnwQ8L+8Y9/6LvvvvvD/bt27dI//vGPih4GAAAAcLiyxdlTp05p//79Onv2rEOPUVo4tVgsKiws1LZt22xWykpSVFSUfvzxRx09elSStGXLFhUXF9vE1a5dW2FhYUpNTTW2paamqkOHDsYxJCkyMlLFxcXaunWrJOnIkSM6dOiQIiMj7Y6ZlpamwsJCI5eXl5fCwsKMmICAADVv3tzmmAAAAHCsChdoP/roIx0+fPgP9x89elSrVq2q6GEAAACAq+Kzzz5Tjx49dO+99+rhhx82Fh+cOXNGDz30kD777LMrznn+/HmdO3dOe/bsUXx8vLp06aIGDRro8OHDRq/bskr73WZkZBi/3nTTTfL29raLK40pjbswl5eXl3x9fW1ySSWrYS/MZbFYdOTIESPO399fJpPJJi4gIMDmmAAAAHCsq95I6tSpU6pevfrVPgwAAABwxTZt2qTY2Fi1bt1avXr10vz58419Pj4+8vPz0wcffKD77rvvivJ27txZJ0+elCR17NhRs2bNklTSM1YqKaKWVfq6dH9OTo7NQ8XKxpXGlMZdmEuSvL29jbiKHtPb21u7d+++5M/7Z6xWq0NWJptMJnl4eFQ4D3A58vPzZbVanT0MG3wGcC1Vts8A1z+uJUdc/1ar1e6L7z9SrgLtZ599po0bNxqvly9fri+//NIuLjc3V19++aVD+3oBAAAAjhIfH6+77rpLb7/9tn777TebAq0ktW7dWu+///4V501MTFR+fr4OHjyoBQsWaMSIEXrjjTccNezrjsVi0b59+yqcx8PDQy1atHDAiIA/l5mZqfz8fGcPwwafAVxLle0zwPWPa8lR17/ZbL6suHIVaH/88UetW7dOUsk3GN99953dt+omk0k1atTQ3XffrWeffbY8hwEAAACuqgMHDlxyrnrzzTfr119/veK8zZo1kySFhISoVatWevDBB/Xpp5/qtttuk1SykKGsnJwcSTJaGnh5eSkvL88ub05Ojk3bAy8vL7tcUsmq2NK40l9zc3Pl6+t7yWOeOHHikrnKy83NzfjZK+JyV6EAjuDv71+pVg9KfAZwbVW2zwDXP64lR1z/Bw8evOzYchVoY2JiFBMTI6lk8vnSSy/pgQceKE8qAAAAwGk8PDwuuTriyJEjNg/gKo+goCC5ubnp8OHD6tKli9zc3JSRkaGOHTsaMaU9Xkv7yQYEBOj06dN2xdELe85erD9sbm6ufvnlF5tcF3tvRkaG3Nzc1LBhQyMuLS3N7na8zMxMNW3atELnoHTxBnA94VZqVHV8BlCVOeL6v5IvFSr8kLD9+/dTnAUAAMB1KTQ0VKtWrVJRUZHdvl9++UXLly9XeHh4hY7x3XffyWKxqEGDBjKbzQoNDdX69ettYlJSUhQYGKgGDRpIksLDw+Xi4qINGzYYMdnZ2dqyZYsiIiKMbREREfryyy+N1bCStG7dOrm4uCgsLEyS1LBhQzVp0sS4A67sMTt06GDcehcREaHs7GylpaUZMZmZmdq7d6/NMQEAAOBYDntI2JEjR5Samqpjx45JkurVq6eIiAjjG3kAAACgsomLi1Pfvn316KOPqkePHjKZTNqyZYu++uorvf/++7JarRo5cuRl5xs1apTuuOMOBQUFqXr16tq/f7+Sk5MVFBRkPGjsqaee0sCBAzVlyhRFRkZq27Zt+uSTTzR79mwjz6233qpHH31UM2fOlIuLi/z8/JSQkCBPT0/169fPiOvXr5/efvttjRw5UjExMTp58qRmzpypfv36yc/Pz4iLjY3V008/rUaNGik0NFQpKSnatWuXli5dasSEhIQoPDxcEyZM0Pjx4+Xu7q7Zs2crKChI999/f0VOMwAAAC7BIQXaGTNm6K233lJxcbHNdhcXFw0aNEjjx493xGEAAAAAhwoICNA777yjl156Sa+99pqsVquSk5MlSe3atdPzzz+v+vXrX3a+4OBgpaSkKDExUVarVfXr11efPn0UHR1trFS96667NG/ePM2ZM0crV65UvXr1NHXqVEVGRtrkmjhxomrWrKlZs2bp999/V5s2bfTGG2/I09PTiPH29tabb76pF198USNHjlTNmjX16KOPasyYMTa5evXqpfz8fCUlJSkxMVH+/v6aP3++QkJCbOLmzJmj6dOna/LkySoqKlJ4eLgmTpwoV1eHresAAADABSo801q8eLGWLFmi7t27a8iQIQoMDJRU8iCxJUuWaMmSJfLz89PgwYMreigAAADA4W6//XYtWbJE2dnZ+umnn2S1WtWwYUPVqlVLH330kf72t7/ZtST4I8OHD9fw4cP/NK5r167q2rXrJWPMZrPGjx//p4sdAgMDtWTJkj89Zp8+fdSnT59Lxnh6emratGmaNm3an+YDAACAY1S4QLt8+XJ16dJFr732ms32O++8U7Nnz9a5c+f03nvvUaAFAABApVFYWKhNmzbp8OHD8vb2VqdOneTn56fg4GDl5+dr6dKlevPNN3X69Gk1atTI2cMFAADADazCBdqff/5ZAwcO/MP94eHh+s9//lPRwwAAAAAOcfLkSQ0cOFCHDx+W1WqVJLm7u2vhwoVyc3PTuHHjdPLkSQUHB2vSpEn0XwUAAMBVVeEC7U033aT9+/f/4f79+/fLx8enoocBAAAAHGLOnDk6evSohg4dqrvuuktHjx5VfHy8Jk2apN9++0233367/vWvf6ldu3bOHioAAACqgHIVaP/73/8qMDBQPj4+6tGjh9566y01aNBATzzxhGrUqCFJOnv2rJYuXaqVK1dq0KBBDh00AAAAUF5bt27VX/7yF40bN87YdvPNN+vvf/+7OnXqpNdff10uLi5OHCEAAACqknLNPAcOHKitW7dKkv7+97/r7rvv1quvvqp27dqpS5cu6tKli9q1a6dXX31Vd999t0aPHn3Fx1i7dq2eeuopRUREqHXr1nrwwQe1cuVK4za0UitWrFD37t3VqlUr9e7dW5s3b7bLlZubqwkTJqhdu3YKCQnR6NGjderUKbu47du3q2/fvgoODlbnzp2Np++WZbValZiYqE6dOik4OFh9+/bVzp077XKdPHlSsbGxCgkJUbt27fTcc88pLy/vis8DAAAAHOvXX3/VnXfeabOtdevWkqRHHnmE4iwAAACuqXKtoC1btPTw8NCbb76pzz77TKmpqTp27Jikkt6z9957r7p06SKTyXTFx1iyZInq16+vZ599VnXq1NGXX36pSZMm6cSJExo1apQkac2aNZo0aZJGjBih9u3bKyUlRaNGjdKyZcuMSbYkxcXF6eDBg5oyZYrc3d01Z84cDRs2TB988IFcXUtOwU8//aTo6GiFhYUpLi5OP/zwg1555RVVq1ZN0dHRRq6kpCTNnTtXTz/9tIKCgrRs2TINGTJE//73v9WwYUNJksVi0dChQyVJs2bNUkFBgV5++WWNGzdOCQkJV3wuAAAA4Djnz5+Xu7u7zTaz2SxJqlWrljOGBAAAgCqswj1oS91333267777HJVOCxYssOld26FDB2VlZemNN97Q3/72N7m4uGju3Lnq2bOn4uLiJEnt27dXenq64uPjlZSUJEnasWOHtmzZouTkZIWHh0uS/P39FRUVpQ0bNigqKkqSlJycrDp16ujVV1+V2WxWhw4ddObMGS1cuFADBgyQ2WzWuXPnlJCQoCFDhmjw4MGSpLZt26pHjx5KTk7WlClTJEnr16/XgQMHlJKSooCAAEmSl5eXoqOjtWvXLgUHBzvsPAEAAODK/fzzz9qzZ4/xOjc3V1LJl/ZeXl528S1btrxmYwMAAEDVUu4CbXlWxV6Jiz1YrHnz5lq+fLnOnj2r3377TYcOHdIzzzxjExMVFaWZM2eqsLBQZrNZqamp8vLyUlhYmBETEBCg5s2bKzU11SjQpqamqlu3bsbqidJcCQkJ2rFjh0JDQ7V9+3bl5eUpMjLSiDGbzerWrZs+/fRTY1tqaqqCgoKM4qwkhYWFqXbt2vriiy8o0AIAADjZa6+9ptdee81u+wsvvGDz2mq1ymQyad++fddqaAAAAKhiyl2gfeaZZ+yKo3/EZDJp79695T2U4dtvv5Wfn59q1aqlb7/9VlLJatiyAgMDZbFYdOTIEQUGBiojI0P+/v52BeWAgABlZGRIKnmg2fHjx20KqqUxJpNJGRkZCg0NNeIvjAsMDNSbb76pgoICVa9eXRkZGXYxJpNJ/v7+Rg4AAAA4x/Tp0509BAAAAMBQ7gLtPffcoyZNmjhwKJf2zTffKCUlRePHj5ckZWdnS5LdLWilr0v35+TkyNPT0y6ft7e3du/eLel/t7RdmMtsNsvDw8Mml9lstutZ5uXlJavVquzsbFWvXv2SxyzNVV5Wq1Vnz56tUA6ppGDs4eFR4TzA5cjPz7d74J4zcf3jWqps17/EZwDXjqOu/9JVrI7y8MMPOywXAAAAUFHlLtA+9NBDeuCBBxw5lj904sQJjRkzRqGhoRo4cOA1OWZlZbFYHHKLnYeHh1q0aOGAEQF/LjMzU/n5+c4ehoHrH9dSZbv+JT4DuHYcef2XbUMFAAAA3Egc9pCwqyUnJ0fDhg1T7dq1NW/ePLm4uEgqWY0qlax+9fX1tYkvu9/Ly0snTpywy5udnW3ElK52LV1JW6qwsFD5+fk2uQoLC3Xu3DmbVbQ5OTkymUw2cXl5eRc9Zt26dctxFv7Hzc1Nt912W4VySFe/hzBQlr+/f6VaQcj1j2upsl3/Ep8BXDuOuv4PHjzogNEAAAAAlVOlLtAWFBQoJiZGubm5ev/9923aBpT2eL2w32tGRobc3NzUsGFDIy4tLc3u1rjMzEw1bdpUklSjRg3VrVvXrj9sZmamrFarkb/018zMTDVr1szmmPXq1VP16tWNuPT0dJtcVqtVmZmZNg8rKw+TyaQaNWpUKAdwrXErNaoyrn9UZY66/vlSAQAAADcyF2cP4I8UFRUpLi5OGRkZWrRokfz8/Gz2N2zYUE2aNNG6detstqekpKhDhw7GbXARERHKzs5WWlqaEZOZmam9e/cqIiLC2BYREaGNGzfKYrHY5PLy8lJISIgkqU2bNqpVq5bWrl1rxFgsFm3YsMEu1/79+3Xo0CFjW1pamrKysnTvvfdW4KwAAAAAAAAAuJGUawXt/v37HT0OOy+88II2b96sZ599Vnl5edq5c6exr0WLFjKbzYqNjdXTTz+tRo0aKTQ0VCkpKdq1a5eWLl1qxIaEhCg8PFwTJkzQ+PHj5e7urtmzZysoKEj333+/ERcdHa2PP/5Y48aNU//+/ZWenq7k5GSNGTPGKPa6u7srJiZG8+bNk4+Pj5o2bap3331XWVlZio6ONnJ1795dCQkJio2N1dixY5Wfn6+ZM2eqU6dOCg4OvurnDgAAAAAAAMD1odK2ONi6daskacaMGXb7Nm7cqAYNGqhXr17Kz89XUlKSEhMT5e/vr/nz5xsrXkvNmTNH06dP1+TJk1VUVKTw8HBNnDhRrq7/+/EbN26s5ORkzZgxQ8OHD5ePj49Gjx6tIUOG2OQaNmyYrFarFi9erDNnzqh58+ZKTk42WipIJX1iFy1apKlTp2rs2LFydXVVt27dNGHCBEeeIgAAAAAAAADXuUpboN20adNlxfXp00d9+vS5ZIynp6emTZumadOmXTKuTZs2Wr58+SVjTCaTYmJiFBMTc8k4Pz8/zZs375IxAAAAAAAAAKq2StuDFgAAAAAAAABudBRoAQAAAAAAAMBJKNACAAAAAAAAgJNQoAUAAAAAAAAAJ6FACwAAAAAAAABOQoEWAAAAAAAAAJyEAi0AAAAAAAAAOAkFWgAAAAAAAABwEgq0AAAAAAAAAOAkFGgBAAAAAAAAwEko0AIAAAAAAACAk1CgBQAAAAAAAAAnoUALAAAAAAAAAE5CgRYAAAAAAAAAnIQCLQAAAAAAAAA4CQVaAAAAwEHWrl2rp556ShEREWrdurUefPBBrVy5Ular1SZuxYoV6t69u1q1aqXevXtr8+bNdrlyc3M1YcIEtWvXTiEhIRo9erROnTplF7d9+3b17dtXwcHB6ty5sxITE+2OZ7ValZiYqE6dOik4OFh9+/bVzp077XKdPHlSsbGxCgkJUbt27fTcc88pLy+vYicFAAAAl0SBFgAAAHCQJUuWyMPDQ88++6wWLFigiIgITZo0SfHx8UbMmjVrNGnSJEVGRiopKUmtW7fWqFGj7AqmcXFx2rp1q6ZMmaJXXnlFmZmZGjZsmIqKioyYn376SdHR0fL19VVCQoIGDRqkuXPnavHixTa5kpKSNHfuXA0ePFgJCQny9fXVkCFDdOTIESPGYrFo6NChOnTokGbNmqUpU6Zoy5YtGjdu3NU5WQAAAJAkuTp7AAAAAMCNYsGCBfLx8TFed+jQQVlZWXrjjTf0t7/9TS4uLpo7d6569uypuLg4SVL79u2Vnp6u+Ph4JSUlSZJ27NihLVu2KDk5WeHh4ZIkf39/RUVFacOGDYqKipIkJScnq06dOnr11VdlNpvVoUMHnTlzRgsXLtSAAQNkNpt17tw5JSQkaMiQIRo8eLAkqW3bturRo4eSk5M1ZcoUSdL69et14MABpaSkKCAgQJLk5eWl6Oho7dq1S8HBwdfgDAIAAFQ9rKAFAAAAHKRscbZU8+bNlZeXp7Nnz+rIkSM6dOiQIiMjbWKioqKUlpamwsJCSVJqaqq8vLwUFhZmxAQEBKh58+ZKTU01tqWmpqpr164ym802uXJycrRjxw5JJS0Q8vLybI5pNpvVrVs3u1xBQUFGcVaSwsLCVLt2bX3xxRflPSUAAAD4ExRoAQAAgKvo22+/lZ+fn2rVqqWMjAxJJathywoMDJTFYjFaDmRkZMjf318mk8kmLiAgwMhx9uxZHT9+3KagWhpjMpmMuNJfL4wLDAzUsWPHVFBQYMRdGGMymeTv72/kAAAAgOPR4gAAAAC4Sr755hulpKRo/PjxkqTs7GxJJa0Dyip9Xbo/JydHnp6edvm8vb21e/duSSUPEbtYLrPZLA8PD5tcZrNZ7u7udse0Wq3Kzs5W9erVL3nM0lzlZbVadfbs2QrlkEoKxh4eHhXOA1yO/Px8uwfuORufAVxLle0zwPWPa8kR17/VarX7sv2PUKAFAAAAroITJ05ozJgxCg0N1cCBA509HKeyWCzat29fhfN4eHioRYsWDhgR8OcyMzOVn5/v7GHY4DOAa6myfQa4/nEtOer6L9uG6lIo0AIAAAAOlpOTo2HDhql27dqaN2+eXFxKOot5e3tLKln96uvraxNfdr+Xl5dOnDhhlzc7O9uIKV3tWrqStlRhYaHy8/NtchUWFurcuXM2q2hzcnJkMpls4vLy8i56zLp165bjLPyPm5ubbrvttgrlkHTZq1AAR/D3969UqwclPgO4tirbZ4DrH9eSI67/gwcPXnYsBVoAAADAgQoKChQTE6Pc3Fy9//77Nm0DSnu8XtjvNSMjQ25ubmrYsKERl5aWZndrXGZmppo2bSpJqlGjhurWrWvXHzYzM1NWq9XIX/prZmammjVrZnPMevXqqXr16kZcenq6TS6r1arMzEybh5WVh8lkUo0aNSqUA7jWuJUaVR2fAVRljrj+r+RLBR4SBgAAADhIUVGR4uLilJGRoUWLFsnPz89mf8OGDdWkSROtW7fOZntKSoo6dOhg3AYXERGh7OxspaWlGTGZmZnau3evIiIijG0RERHauHGjLBaLTS4vLy+FhIRIktq0aaNatWpp7dq1RozFYtGGDRvscu3fv1+HDh0ytqWlpSkrK0v33ntvBc4KAAAALoUVtAAAAICDvPDCC9q8ebOeffZZ5eXlaefOnca+Fi1ayGw2KzY2Vk8//bQaNWqk0NBQpaSkaNeuXVq6dKkRGxISovDwcE2YMEHjx4+Xu7u7Zs+eraCgIN1///1GXHR0tD7++GONGzdO/fv3V3p6upKTkzVmzBij2Ovu7q6YmBjNmzdPPj4+atq0qd59911lZWUpOjrayNW9e3clJCQoNjZWY8eOVX5+vmbOnKlOnTopODj46p88AACAKooCLQAAAOAgW7dulSTNmDHDbt/GjRvVoEED9erVS/n5+UpKSlJiYqL8/f01f/58Y8VrqTlz5mj69OmaPHmyioqKFB4erokTJ8rV9X9T+MaNGys5OVkzZszQ8OHD5ePjo9GjR2vIkCE2uYYNGyar1arFixfrzJkzat68uZKTk42WClJJn9hFixZp6tSpGjt2rFxdXdWtWzdNmDDBkacIAAAAF6BACwAAADjIpk2bLiuuT58+6tOnzyVjPD09NW3aNE2bNu2ScW3atNHy5csvGWMymRQTE6OYmJhLxvn5+WnevHmXjAEAAIBj0YMWAAAAAAAAAJyEAi0AAAAAAAAAOAkFWgAAAAAAAABwEgq0AAAAAAAAAOAkFGgBAAAAAAAAwEko0AIAAAAAAACAk1CgBQAAAAAAAAAnoUALAAAAAAAAAE5CgRYAAAAAAAAAnIQCLQAAAAAAAAA4CQVaAAAAAAAAAHASCrQAAAAAAAAA4CQUaAEAAAAAAADASSjQAgAAAAAAAICTUKAFAAAAAAAAACehQAsAAAAAAAAATkKBFgAAAAAAAACchAItAAAAAAAAADhJpS7Q/vTTT5o8ebIefPBBtWjRQr169bpo3IoVK9S9e3e1atVKvXv31ubNm+1i/h97dx4f09n/f/w9iUyILBpU7RIqRS2htTSEUlVBVe+qpbZKNW3tS2u51dLbD1VqV0RUW25a2qqSxtaW0lQXWtQSJPadZpNEQub3R745tzFBEpHJ8no+Hh7JnHOd63zm5Iy55jPX+Zy4uDiNGTNGDRs2lK+vrwYNGqSLFy/atNu9e7e6dOmiOnXq6Omnn9bixYtlsVis2lgsFi1evFgtWrRQnTp11KVLF/355582fV24cEEDBw6Ur6+vGjZsqH//+9+Kj4/P3sEAAAAAAAAAUODk6QTtkSNHtG3bNlWuXFlVq1bNsM2GDRv07rvvqm3btgoODla9evU0YMAAm4TpkCFDtHPnTk2YMEHTp09XVFSU+vXrpxs3bhhtTpw4ocDAQJUuXVqLFi1S7969NWfOHC1dutSqr+DgYM2ZM0d9+vTRokWLVLp0afXt21enTp0y2qSkpOi1117T8ePHNWPGDE2YMEE7duzQ8OHDc+4AAQAAAAAAAMjXitg7gLtp2bKlnnnmGUnSqFGjtH//fps2c+bMUbt27TRkyBBJUuPGjRUREaH58+crODhYkrRnzx7t2LFDISEhatq0qSTJy8tLAQEB2rRpkwICAiRJISEheuihh/Thhx/KbDarSZMmunr1qhYuXKiePXvKbDbr+vXrWrRokfr27as+ffpIkho0aKDnnntOISEhmjBhgiRp48aNOnLkiEJDQ+Xt7S1Jcnd3V2BgoPbu3as6deo8qMMGAAAAAAAAIJ/I0zNoHRzuHt6pU6d0/PhxtW3b1mp5QECAwsPDlZycLEnavn273N3d5efnZ7Tx9vZWjRo1tH37dmPZ9u3b1apVK5nNZqu+YmNjtWfPHklpJRDi4+Ot9mk2m9W6dWubvnx8fIzkrCT5+fmpRIkS2rZtW1YOAwAAAAAAAIACKk8naO8lMjJSUtps2FtVrVpVKSkpRsmByMhIeXl5yWQyWbXz9vY2+khISNC5c+esEqrpbUwmk9Eu/eft7apWraqzZ88qKSnJaHd7G5PJJC8vL6MPAAAAAAAAAIVbni5xcC8xMTGS0koH3Cr9cfr62NhYubm52Wzv4eFhlE2Ii4vLsC+z2axixYpZ9WU2m+Xs7GyzT4vFopiYGBUtWvSu+0zvKzssFosSEhKyvX06k8mkYsWK3Xc/QGYkJiba3GzPnjj/kZvy2vkv8RpA7smp899isdh80Q4AAAAUFPk6QVsYpaSk6ODBg/fdT7FixVSzZs0ciAi4t6ioKCUmJto7DAPnP3JTXjv/JV4DyD05ef7fWoIKAAAAKEjydYLWw8NDUtrs19KlSxvLY2Njrda7u7vr/PnzNtvHxMQYbdJnu6bPpE2XnJysxMREq76Sk5N1/fp1q1m0sbGxMplMVu3i4+Mz3GfZsmWz94QlOTk5qVq1atnePh2zUJCbvLy88tQMQs5/5Ka8dv5LvAaQe3Lq/D969GgORAMAAADkTfk6QZte4/X2eq+RkZFycnJSxYoVjXbh4eE2l8dFRUWpevXqkiQXFxeVLVvWpj5sVFSULBaL0X/6z6ioKD322GNW+yxXrpyKFi1qtIuIiLDqy2KxKCoqyupmZVllMpnk4uKS7e0Be+BSahRmnP8ozHLq/OdLBQAAABRk+fomYRUrVlSVKlUUFhZmtTw0NFRNmjQxLoXz9/dXTEyMwsPDjTZRUVE6cOCA/P39jWX+/v7aunWrUlJSrPpyd3eXr6+vJKl+/fpydXXVd999Z7RJSUnRpk2bbPo6dOiQjh8/biwLDw9XdHS0mjdvnjMHAAAAAAAAAEC+lqdn0CYmJmrbtm2SpDNnzig+Pt5IxjZs2FCenp4aOHCgRowYoUqVKqlRo0YKDQ3V3r17tXz5cqMfX19fNW3aVGPGjNHIkSPl7OysmTNnysfHR88++6zRLjAwUN9++62GDx+ubt26KSIiQiEhIRo6dKiR7HV2dlZQUJDmzp0rT09PVa9eXStXrlR0dLQCAwONvtq0aaNFixZp4MCBGjZsmBITEzVt2jS1aNFCderUyY3DBwAAAAAAACCPy9MJ2itXrmjw4MFWy9Iff/rpp2rUqJHat2+vxMREBQcHa/HixfLy8tK8efOMGa/pZs2apSlTpmjcuHG6ceOGmjZtqrFjx6pIkf8dgsqVKyskJERTp07V66+/Lk9PTw0aNEh9+/a16qtfv36yWCxaunSprl69qho1aigkJMQoqSCl1YpdsmSJJk2apGHDhqlIkSJq3bq1xowZk9OHCQAAAAAAAEA+lacTtBUqVNDhw4fv2a5z587q3LnzXdu4ublp8uTJmjx58l3b1a9fX1988cVd25hMJgUFBSkoKOiu7cqUKaO5c+fetQ0AAAAAAACAwitf16AFAAAAAAAAgPyMBC0AAACQg06cOKFx48apY8eOqlmzptq3b59hu9WrV6tNmzaqXbu2nn/+ef3www82beLi4jRmzBg1bNhQvr6+GjRokC5evGjTbvfu3erSpYvq1Kmjp59+WosXL5bFYrFqY7FYtHjxYuOeCF26dNGff/5p09eFCxc0cOBA+fr6qmHDhvr3v/+t+Pj47B0MAAAA3BMJWgAAACAHHTlyRNu2bVPlypVVtWrVDNts2LBB7777rtq2bavg4GDVq1dPAwYMsEmYDhkyRDt37tSECRM0ffp0RUVFqV+/frpx44bR5sSJEwoMDFTp0qW1aNEi9e7dW3PmzNHSpUut+goODtacOXPUp08fLVq0SKVLl1bfvn116tQpo01KSopee+01HT9+XDNmzNCECRO0Y8cODR8+POcOEAAAAKzk6Rq0AAAAQH7TsmVLPfPMM5KkUaNGaf/+/TZt5syZo3bt2mnIkCGSpMaNGysiIkLz589XcHCwJGnPnj3asWOHQkJC1LRpU0mSl5eXAgICtGnTJgUEBEiSQkJC9NBDD+nDDz+U2WxWkyZNdPXqVS1cuFA9e/aU2WzW9evXtWjRIvXt21d9+vSRJDVo0EDPPfecQkJCNGHCBEnSxo0bdeTIEYWGhsrb21uS5O7ursDAQO3du1d16tR5UIcNAACg0GIGLQAAAJCDHBzuPsQ+deqUjh8/rrZt21otDwgIUHh4uJKTkyVJ27dvl7u7u/z8/Iw23t7eqlGjhrZv324s2759u1q1aiWz2WzVV2xsrPbs2SMprQRCfHy81T7NZrNat25t05ePj4+RnJUkPz8/lShRQtu2bcvKYQAAAEAmkaAFAAAAclFkZKSktNmwt6patapSUlKMkgORkZHy8vKSyWSyauft7W30kZCQoHPnzlklVNPbmEwmo136z9vbVa1aVWfPnlVSUpLR7vY2JpNJXl5eRh8AAADIWZQ4AAAAAHJRTEyMpLTSAbdKf5y+PjY2Vm5ubjbbe3h4GGUT4uLiMuzLbDarWLFiVn2ZzWY5Ozvb7NNisSgmJkZFixa96z7T+8oOi8WihISEbG+fzmQyqVixYvfdD5AZiYmJNjfbszdeA8hNee01wPmP3JQT57/FYrH5ov1OSNACAAAAeKBSUlJ08ODB++6nWLFiqlmzZg5EBNxbVFSUEhMT7R2GFV4DyE157TXA+Y/clFPn/60lqO6GBC0AAACQizw8PCSlzX4tXbq0sTw2NtZqvbu7u86fP2+zfUxMjNEmfbZr+kzadMnJyUpMTLTqKzk5WdevX7eaRRsbGyuTyWTVLj4+PsN9li1bNntPWJKTk5OqVauW7e3TZXYWCpATvLy88tTsQYnXAHJXXnsNcP4jN+XE+X/06NFMtyVBCwAAAOSi9Bqvt9d7jYyMlJOTkypWrGi0Cw8Pt7k8LioqStWrV5ckubi4qGzZsjb1YaOiomSxWIz+039GRUXpscces9pnuXLlVLRoUaNdRESEVV8Wi0VRUVFWNyvLKpPJJBcXl2xvD9gDl1KjsOM1gMIsJ87/rHypwE3CAAAAgFxUsWJFValSRWFhYVbLQ0ND1aRJE+NSOH9/f8XExCg8PNxoExUVpQMHDsjf399Y5u/vr61btyolJcWqL3d3d/n6+kqS6tevL1dXV3333XdGm5SUFG3atMmmr0OHDun48ePGsvDwcEVHR6t58+Y5cwAAAABghRm0AAAAQA5KTEzUtm3bJElnzpxRfHy8kYxt2LChPD09NXDgQI0YMUKVKlVSo0aNFBoaqr1792r58uVGP76+vmratKnGjBmjkSNHytnZWTNnzpSPj4+effZZo11gYKC+/fZbDR8+XN26dVNERIRCQkI0dOhQI9nr7OysoKAgzZ07V56enqpevbpWrlyp6OhoBQYGGn21adNGixYt0sCBAzVs2DAlJiZq2rRpatGiherUqZMbhw8AAKDQIUELAAAA5KArV65o8ODBVsvSH3/66adq1KiR2rdvr8TERAUHB2vx4sXy8vLSvHnzjBmv6WbNmqUpU6Zo3LhxunHjhpo2baqxY8eqSJH/DeMrV66skJAQTZ06Va+//ro8PT01aNAg9e3b16qvfv36yWKxaOnSpbp69apq1KihkJAQo6SClFYrdsmSJZo0aZKGDRumIkWKqHXr1hozZkxOHyYAAAD8HxK0AAAAQA6qUKGCDh8+fM92nTt3VufOne/axs3NTZMnT9bkyZPv2q5+/fr64osv7trGZDIpKChIQUFBd21XpkwZzZ07965tAAAAkHOoQQsAAAAAAAAAdkKCFgAAAAAAAADshAQtAAAAAAAAANgJCVoAAAAAAAAAsBMStAAAAAAAAABgJyRoAQAAAAAAAMBOSNACAAAAAAAAgJ2QoAUAAAAAAAAAOyFBCwAAAAAAAAB2QoIWAAAAAAAAAOyEBC0AAAAAAAAA2AkJWgAAAAAAAACwExK0AAAAAAAAAGAnJGgBAAAAAAAAwE5I0AIAAAAAAACAnZCgBQAAAAAAAAA7IUELAAAAAAAAAHZCghYAAAAAAAAA7IQELQAAAAAAAADYCQlaAAAAAAAAALATErQAAAAAAAAAYCckaAEAAAAAAADATkjQAgAAAAAAAICdkKAFAAAAAAAAADshQQsAAAAAAAAAdkKCFgAAAAAAAADshAQtAAAAAAAAANgJCVoAAAAAAAAAsBMStAAAAAAAAABgJyRoAQAAAAAAAMBOSNACAAAAAAAAgJ2QoH2Ajh07pldffVX16tWTn5+fpk2bpuTkZHuHBQAAANwRY1gAAIDcVcTeARRUMTEx6t27t6pUqaK5c+fqwoULmjp1qpKSkjRu3Dh7hwcAAADYYAwLAACQ+0jQPiCrVq3StWvXNG/ePJUoUUKSdPPmTU2cOFFBQUEqU6aMfQMEAAAAbsMYFgAAIPdR4uAB2b59u5o0aWIMbCWpbdu2Sk1N1c6dO+0XGAAAAHAHjGEBAAByHwnaByQyMlLe3t5Wy9zd3VW6dGlFRkbaKSoAAADgzhjDAgAA5D5KHDwgsbGxcnd3t1nu4eGhmJiYbPWZkpIii8WivXv33m94kiSTyaQmRcvoprl0jvQH3M7RwUH79u2TxWKxdyg2OP/xoOXl81/iNYAHK6fP/5SUFJlMphzpC3fHGBbgPRzIy68Bzn88aDl5/mdlDEuCNh9J/6Pm5AcUV3PRHOsLuJO8+qGa8x+5Ia+e/xKvATx4OXX+m0ymPP1awt0xhkV+lZf/3+E1gNyQV18DnP/IDTlx/mdlDEuC9gFxd3dXXFyczfKYmBh5eHhkq09fX9/7DQsAAAC4I8awAAAAuY8atA+It7e3TZ2uuLg4Xbp0yaauFwAAAJAXMIYFAADIfSRoHxB/f3/9/PPPio2NNZaFhYXJwcFBfn5+dowMAAAAyBhjWAAAgNxnsuTFqs8FQExMjNq1aycvLy8FBQXpwoULmjp1qjp06KBx48bZOzwAAADABmNYAACA3EeC9gE6duyY/vOf/2jPnj0qXry4OnbsqKFDh8psNts7NAAAACBDjGEBAAByFwlaAAAAAAAAALATatACAAAAAAAAgJ2QoAUAAAAAAAAAOyFBCwAAAAAAAAB2QoIWAAAAAAAAAOyEBC0AAAAAAAAA2AkJWgAAAAAAAACwExK0KLDmzp0rX19fm+VTp07VY489ptWrV2vUqFFq3779A41j165d8vHx0b59+4xl0dHR6t+/v5588kn5+Phoy5YtDzQGIN3cuXPl4+Nj/GvUqJG6deumbdu2ZbkvHx8fhYSE3LVNRuc/YA/p5+Ld/s2dOzfT/bVs2VLvvffeXdvExsbKx8dHX3311f2GD6AQYQwL2GIMi8KMcWzhUMTeAQC56YMPPtCyZcs0ceJEde7cWX/88ccD32etWrX0+eefq2rVqsayjz/+WLt27dL777+vkiVLysvL64HHAaQrWrSoPvnkE0nSxYsXtXDhQr3xxhtasWKF6tevn6P7yuj8B+wh/VzMyOzZs/Xrr7+qadOmme5v3rx5cnd3z6nwAOCuGMMCjGFReDGOLRxI0KLQmDlzppYsWaLx48erS5cuD3x/FotFKSkpcnV1Vb169azWRUVFycfHR61atXrgcQC3c3BwsDon69atq+bNm2vt2rU5PrjN6PwH7OFO5+LWrVv1888/a/DgwRnOWLuTmjVr5mB0AHBnjGGBNIxhUVgxji0cKHGAQmHu3LlauHCh3n33XXXv3t1m/a5du/TCCy+oXr16eumll7R//36r9UuXLtW//vUvNWjQQE2aNFFQUJCioqKs2qRfarZt2zY9//zzql27tr7//nuby2N8fHy0ceNG/f7778blCIA9lSlTRp6enjp79qyktBkJo0ePVqtWrVSnTh09++yz+vDDD5WcnGyz7c2bNzVt2jQ1btxYvr6+GjVqlOLj4431XB6GvOzChQsaM2aMGjZsqDfeeEOSlJCQoPfee09t2rRR3bp11bJlS40bN05xcXFW22Z0adgXX3yhli1bqm7duurdu7dOnDiRa88FQMHEGBa4M8awKMwYxxY8zKBFgffRRx9p3rx5Gj16tHr06GGz/tKlS5o0aZJef/11ubm5acaMGRowYIA2b94sJycnSdL58+fVo0cPlStXTvHx8Vq1apW6du2qjRs3qkSJEkZfFy9e1KRJk/Tmm2+qbNmyKleunM6fP2+1v88//1zTp0/XtWvXNH78+Af63IHMuHbtmmJiYlShQgVJ0j///KMSJUpo9OjRcnd31/HjxzV37lxdunRJU6ZMsdr2s88+U61atfT+++/r9OnTmj59uq5fv66ZM2fa46kAmZaamqq3335bkjR9+nQ5OKR9Z52UlKSbN29q6NCh8vT01Llz57Rw4UK99dZb+uyzz+7Y3w8//KB3331XL774ogICAvT3339r8ODBufJcABRMjGGBu2MMi8KKcWzBRIIWBVpCQoJmzZqlzp07q0+fPhm2iYmJ0fLly/Xoo49KkooVK6ZevXrpr7/+0hNPPCFJGjNmjNH+5s2b8vPzU5MmTbRx40arS81iYmIUHBysunXrGstuH9zWq1dP7u7uMplMXDYDu7lx44aktA9kH3zwgYoXL65evXpJSpshM3LkSKNt/fr1VaxYMY0aNUrjxo1TsWLFjHVms1nz58+Xo6OjJMnZ2Vljx47VgAEDqNmFPC04OFi7du3SRx99pDJlyhjLPT09NXHiROPxjRs3VKFCBXXv3l1RUVF3rLf40Ucf6YknnjA+ADZr1kzXr1/XggULHuwTAVAgMYYFMsYYFmAcW1CRoEWBVrRoUdWuXVvr169Xp06d1KBBA5s2Dz/8sDGwlaRq1apJSrtkIN2ff/6p2bNn68CBA4qOjjaWHz9+3KqvEiVKWA1sgbwoISFBtWrVMh47OjpqwYIF8vb2lpRWe+6TTz7RF198odOnT+v69etG21OnTql69erG46efftoY2ErSc889p3//+9/at28fg1vkWX/99ZfmzJmjnj17qmXLljbr165dq2XLlunEiRNKSEgwlh8/fjzDge3Nmzf1999/GzMZ0rVp04aBLYBsYQwL2GIMCzCOLcioQYsCzcHBQR999JGqVKmiN954Q4cPH7Zpc/vdC9MvCUt/Qz979qz69u2rmzdvauLEiVq5cqXWrFmjkiVLWr3pS1KpUqUe0DMBck7RokW1Zs0arV69Wh988IFKly6tkSNH6uLFi5KkTz75RO+//75atWqlBQsWaPXq1Ro3bpwk2ZzzJUuWtHrs6uoqZ2dnoy8gr4mPj9ewYcNUrVo1vfPOOzbrN2/erJEjR6pOnTqaNWuWvvjiC82fP1+S7fmf7urVq7px44Y8PT2tlvOeACC7GMMCthjDorBjHFuwMYMWBZ6bm5tCQkLUrVs3BQYGauXKlapYsWKmt//pp5+UkJCgefPmGQPhGzduKCYmxqatyWTKsbiBB8XBwUG1a9eWJNWpU0deXl56+eWXNX/+fE2cOFFhYWFq2bKlhg8fbmxz7NixDPu6cuWK1eP4+Hhdv35dDz/88IN7AsB9GD9+vK5cuaLFixfLbDbbrA8LC1ONGjWsbpzw66+/3rVPT09PFSlSRFevXrVafvny5ZwJGkChxBgWsMYYFoUd49iCjRm0KBRKliyppUuXymQyqW/fvrp06VKmt01KSpLJZFKRIv/7PuO7774z6h8B+V3t2rXVrl07ffXVV7p06ZKSkpKMWTjpvv322wy3/eGHH3Tz5k3jcVhYmEwmkzF4BvKStWvXav369Ro7duwdL1/MyvmfztHRUTVr1tTmzZutlm/cuPH+AgZQ6DGGBe6MMSwKE8axBR8zaFFoVKhQQSEhIerRo4dee+01LV++PFPbNW7cWJI0evRode3aVUeOHNHHH39sc1kZkJ+99dZbCg0N1SeffKKnnnpKn376qZYvX64qVapo3bp1OnHiRIbbJScnq3///urWrZtxB9w2bdpQuwt5zsmTJzVx4kQ9/vjjqlatmv7880+bNq6urnrqqaf03nvvaf78+fL19dW2bdsUHh5+z/7feOMNvfXWWxo9erRx99tvvvnmATwTAIUNY1jgzhjDojBgHFs4kKBFoVK9enUtWrRIr776qoKCgjJ1CYuPj4+mTJmiefPmKSgoSDVq1NDs2bM1ZMiQBx8wkEu8vb0VEBCglStX6scff9Q///yjOXPmSEorED927Fi98cYbNtv17NlTV69e1TvvvKPk5GS1bt3aqPUF5CW///67EhIStH//fqs7l9+qYcOGWrZsmU6fPq3ly5crJCRETZs21YwZM/Tyyy/ftf9WrVpp4sSJWrhwoTZs2KC6desad2AHgPvFGBbIGGNYFAaMYwsHk8Visdg7CAAAAAAAAAAojKhBCwAAAAAAAAB2QoIWAAAAAAAAAOyEBC0AAAAAAAAA2AkJWgAAAAAAAACwExK0AAAAAAAAAGAnJGgBAAAAAAAAwE5I0AIAAAAAAACAnZCgBQAAAAAAAAA7IUELAAAAAAAAAHZSxN4BAACy5/Dhw5o/f7727duny5cvq0SJEqpWrZpatmypnj172js8AAAAIEOMYwHAmslisVjsHQQAIGt2796tXr16qVy5cnrhhRdUunRpnTt3Tn/99ZdOnjypzZs32ztEAAAAwAbjWACwxQxaAMiHFi5cKDc3N61Zs0bu7u5W665cuWKnqAAAAIC7YxwLALaoQQsA+dDJkydVrVo1m0GtJJUsWdLq8TfffKMXX3xRderUUcOGDTV06FCdO3fOqs3vv/+uQYMGqUWLFnr88cfVvHlzTZ48WUlJSVbtLl26pNGjR8vf31+PP/64mjZtqjfffFOnT5+2ardixQq1a9fOaDNx4kTFxsZatenZs6fat2+vo0ePqmfPnqpbt66aNWum4ODg+zk0AAAAyMMYxwKALWbQAkA+VL58ee3Zs0cRERGqXr36Hdt99NFHmj17ttq2bauXXnpJV69e1fLly/XKK69o7dq1xsA4LCxMSUlJ6tatm0qUKKG9e/dq+fLlOn/+vObMmWP0N3DgQB09elQ9evRQ+fLldfXqVe3cuVPnzp1ThQoVJElz587VvHnz9NRTT6lbt26KiorSypUrtW/fPq1cuVJOTk5GfzExMXrttdfUunVrtW3bVhs3btT06dNVvXp1NW/e/AEdPQAAANgL41gAyIAFAJDv7Nixw1KjRg1LjRo1LF26dLFMmzbN8tNPP1mSk5ONNqdPn7bUqFHD8tFHH1lte/jwYUvNmjWtlicmJtrsY9GiRRYfHx/LmTNnLBaLxRITE2OpXr26ZcmSJXeM68qVK5ZatWpZ+vbta7l586axfPny5Zbq1atb1qxZYyzr0aOHpXr16pavv/7aWHb9+nWLn5+fZeDAgZk/GAAAAMg3GMcCgC1KHABAPuTn56dVq1apZcuWOnTokJYsWaLAwED5+/tr69atkqTNmzcrNTVVbdu21dWrV41/pUqVUuXKlbVr1y6jv6JFixq/JyQk6OrVq/L19ZXFYtGBAweMNk5OTvr1118VExOTYVw///yzUlJS1KtXLzk4/O8tpnPnznJ1ddW2bdus2ru4uKhjx47GY7PZrNq1a+vUqVP3f5AAAACQ5zCOBQBblDgAgHyqTp06mjdvnpKTk3Xo0CFt2bJFy5Yt0+DBg7V27VodP35cFotFzz77bIbbFynyv7eAs2fPas6cOfr+++9tBq3x8fGS0gadI0aM0Pvvvy8/Pz/VrVtXLVq0MO6+m96PJHl7e1v1YTabVbFiRZ05c8Zq+SOPPCKTyWS1zMPDQ4cPH87GEQEAAEB+wDgWAKyRoAWAfM5sNqtOnTqqU6eOqlSpotGjRyssLEypqakymUwKDg6Wo6OjzXYuLi6SpJs3b+rVV1816mh5e3vLxcVFFy5c0KhRo5Sammps06dPH7Vs2VJbtmzRjh07NHv2bC1evFiffPKJatasmeXYM4oLAAAAhQPjWABIQ4IWAAqQxx9/XJJ08eJFVapUSRaLRRUqVJCXl9cdt4mIiNDx48f1/vvv64UXXjCW79y5M8P2lSpVUt++fdW3b18dP35cL7zwgpYuXarp06erXLlykqTIyEhVrFjR2CY5OVmnT5/WU089lQPPEgAAAAUN41gAhRk1aAEgH/rll19ksVhslqfXxvL29tazzz4rR0dHzZs3z6atxWLRP//8I0lGja1b21gsFn366adW2yQmJur69etWyypVqqTixYsrOTlZkvTUU0/JyclJn332mVV/a9asUVxcHHe0BQAAKOQYxwKALWbQAkA+NGnSJCUmJqp169by9vZWSkqKdu/ere+++07ly5fXiy++KHd3dw0ZMkQzZszQmTNn9Mwzz6h48eI6ffq0tmzZopdfflmBgYHy9vZWpUqV9P777+vChQtydXXVxo0bFRsba7XP48ePq0+fPnruuedUrVo1OTo6asuWLbp8+bLatWsnSfL09FRQUJDmzZun1157TS1btlRUVJT++9//qnbt2nr++eftcbgAAACQRzCOBQBbJGgBIB965513FBYWpm3btunzzz9XSkqKypUrp+7du+vNN9+Uu7u7JOn1119XlSpVtGzZMs2fP19S2g0N/Pz81LJlS0mSk5OTFi5cqEmTJmnRokVydnZW69at9corr1jdmfaRRx5Ru3btFB4ernXr1snR0VHe3t6aNWuW2rRpY7QbOHCgPD09tXz5ck2ZMkUeHh56+eWXNWzYMDk5OeXiUQIAAEBewzgWAGyZLBldWwAAAAAAAAAAeOCoQQsAAAAAAAAAdkKCFgAAAAAAAADshAQtAAAAAAAAANgJCVoAAAAAAAAAsBMStAAAAAAAAABgJyRoAQAAAAAAAMBOSNACAAAAAAAAgJ2QoAUAAAAAAAAAOyFBCwAAAAAAAAB2QoIWAAAAAAAAAOyEBC0AAAAAAAAA2AkJWgAAAAAAAACwExK0AAAAAAAAAGAnJGgBAAAAAAAAwE5I0AIAAAAAAACAnZCgBQAAAAAAAAA7IUELAAAAAAAAAHZCghYAAAAAAAAA7IQELQAAAAAAAADYCQlaAAAAAAAAALATErQAAAAAAAAAYCckaAEAecKhQ4f0xhtvyM/PTz4+PvLx8dGoUaMkyXjs4+Oj06dP5+h+R4wYIR8fHzVo0ECxsbE52ndOOX78uGrUqCEfHx/NmjXL3uEAAJBvrF69Ws8//7x8fX2NscSuXbv01VdfGY979uxp7zDzpJYtW1ods/zs6tWrevLJJ+Xj46N33nnH3uHYmDt3rs34V1K+O0937dplxNuyZctMbXOn5343PXv2NLb56quvMrXNg/w8cS9vv/22fHx89OSTT+qff/7J1X0j/yhi7wAA4F5+//13vfLKK1bL1q9fr0cffdROERUcPj4+NstMJpNcXV3l7e2tgIAAde/eXWaz+YHGce3aNfXr108XL17M0na7du3Sr7/+KkmqUaOGnnnmmSxtv2/fPq1fv16S1L17d7m7uxvrRo0apa+//lqS1LBhQ3322WfGuluPm5OTk8LCwlShQgVj2dy5czVv3jxJUt26dfXFF19kuG26IkWKyMPDQz4+PnrhhRfUsWNHq/VVqlTRc889p9DQUC1btkzdunVTmTJlsvRcAQDIDV999ZVGjx5ts9zJyUkPPfSQ6tatq549e6pRo0YPPJZNmzZp7NixWd5u2bJliouLkyR16tTJ6j3+bnbt2qVevXpZLZs7d66effZZq2VHjhxR+/btrZZNmTJFL774YpZjze/Cw8M1Z84cRUREyNnZWQ0aNNDbb7+tSpUqWbXbvHmzBgwYoJ49e2brbzp//nzFxsbKZDIpKCgop8LPtK+++kpnzpyRJD3zzDOqUaNGrscA+wkKCtK3336r2NhYzZ8/P1vnMAo+ErQA8rz0JNmtvvrqK40cOdIO0RR8FotFcXFx+uuvv/TXX38pLCxMn3766QNN0u7du9dIzpYoUUJTpkyRu7u7SpUqJUlasWKF0fbhhx82fv/111+NRGinTp2ynKCdP3++LBaLTCaTunfvnq3YU1JSNG/ePE2dOjVb20vSjRs3dOXKFf3888/6+eefFRUVpSFDhli1eeWVVxQaGqrExEQtWbJE//73v7O9PwAAcltKSoouXryozZs3a/PmzRo7duwDnxG4efNm4/eWLVuqT58+cnR0lI+Pj6pVq2aML9zc3Ky2+/TTT41kWsOGDTOdoM3I8uXLbRK0t37pm5fNnj1b169fl5TxF8z369ChQ+rXr58cHR01e/ZsRUREaMaMGTp48KDWrVsnFxcXSVJ8fLzee+89lS1b1mZ8lBmXLl3S559/Lklq0qSJqlatmpNPI1O+/vprY1JB+fLlM52gbd68+R3P04LiX//6l5o0aSJJxti/oKlWrZoaN26s8PBwrVq1Sm+++aZKlixp77CQx1DiAECelpiYqLCwMJvl3377rW7evGmHiDKWlJSk1NRUe4dxX9544w2tWLFCS5YssZrBuWfPHq1cufKe26empiopKSlb+75w4YLx+6OPPqqWLVvqiSeeUJUqVSRJTzzxhPEvpxLFZ86c0bZt2yRJDRo0UNmyZbPd17p163Ts2LEsb5d+zGfOnGn1YeGTTz5RSkqKVdsGDRqoXLlykqRvvvkm28caAIDctGLFCq1YsUIzZsww3tcladq0abpy5co9t7927Vq2933r+OKZZ55Ro0aN9MQTT8jNzU0lS5Y0xhYPIvmYbteuXYqIiDAex8TEaN26dQ9sf7e7n+NXu3Zt4xg9iOTgd999p5SUFD311FNq0aKF+vXrJzc3N506dUp//vmn0W769Om6ePGixo8fL1dX1yzvZ/Xq1ca4ql27djkVfq7IjfP0fsbwOaFcuXLGc7z1/4iCJv3cS0lJ0ZdffmnnaJAXkaAFkKdt3rxZ8fHxkqR69erJ29tbUto34Tt27DDa/fTTT0ZNoeeee86mnzFjxhjrP/zwQ2N5YmKigoOD9dJLL6l+/fp6/PHH9eyzz2rKlCm6evWqVR+311SKiorSgAED9OSTT6pu3bqKj4/XyZMnNXr0aHXq1ElPPfWUHn/8cdWrV08BAQGaPHlyhh9Ezpw5o0GDBqlBgwaqX7++goKCdPTo0bvWVoqOjtasWbOMmmp16tRRu3btNHfu3GwPxCtXrqwnnnhCzZo109SpU1W+fHmr557u1vpNhw4d0qRJk9SsWTPVqlXL6m+ydetW9evXT02aNFGtWrXUqFEj9e3b1ybh7uPjYzUb+rfffrN53rfXjDp9+rR8fHyM2bNS2syErNS8CgsLM5LqzZs3z+LRsnbz5k3Nnj07y9ulH/OAgAANGjTIWJ6QkKDo6GirtiaTSc2aNZOU9uHu1mMNAEBelZ54ad++vSZOnGgsT05O1p49eyTZ1tncu3evXn31VdWvX18tWrQwtomPj9f8+fPVqVMn+fr66vHHH1erVq00duxYHT9+3GiX3t+t45dbx4IZ7VP6Xy3M9NmzktSrVy+j3dy5c7P03NOTicuXLzeWrV69WomJiXJwcDBmiN5u3759GjFihDp06KDGjRurVq1a8vX1VceOHTVnzhybsd7tNTx/+uknde3aVfXq1bO6Qui3335T165dVadOHT311FMaP368YmJi7lib8041aG8fo65Zs0bPP/+8ateuraZNm2rGjBmZmkiRnJwsKa38hZQ21ilSpIjVut27d2vVqlVq27atnn766Xv2mZHQ0FDj91vPp1tldtwq3bmWaUb1V9PPs/TZs5I0evToTNdcvVcN2tDQUPXt21eNGjXS448/rqZNm2rYsGE6dOjQXeO+0xj+m2++Uffu3fXkk0+qZs2aatSokTp06KBRo0ZZJc0z6+LFixo9erQaNWqkOnXqqHv37tq3b59Vm7vVoD116pTV56Q33njjnpMifvnlF6vzfMKECfe8z8SxY8f073//W61atVLt2rVVv359de3aVV999ZUsFotV21GjRln9n7B161a9/PLLqlOnjho3bqxx48YpISHBZh+3nnsbNmy4azwonChxACBPu7W8wfPPP6+YmBgjEfbVV18ZiTU/Pz+VLVtW586dU1RUlPbv36/HH39cUtoAb9OmTZLSBn4vvfSSpLSbBfTu3dtqVoMknThxQsuWLdN3332nFStWqGLFijZxxcbGqnv37jZJ3OPHj9skU1NSUnTs2DEdO3ZMW7Zs0dq1a41ap5cuXVLXrl2taq/++OOP2rNnzx1nKpw4cUK9evXS+fPnrZYfPXpU8+bN06ZNm/TZZ5+pRIkSGW6fGQ4ODlYzFG6fzZlu8ODBVh+I0k2aNMnm8r3o6Gjt3LlTO3fuVJcuXfTee+9lO76c8Ntvvxm/161bN9v91KtXT3/++ac2bdqkv//+W7Vq1brv2Mxmsx566CGb5XXr1jUu0fvll1+yXNIBAAB7urXWu/S/JNytTpw4oZ49exoz+tLHQ5cuXVKPHj1sxh2nT5/W6tWrtX79ei1YsEBPPfXUgwk+Gzp16qTPPvtM3377rd5++225uLjov//9ryTp6aef1qFDhzJM5Ozfv1/ffvut1bIbN27o0KFDOnTokH788Ud98cUXRjLzVr///ru++eYbmyu7wsPD1a9fP2NMd/36da1atcomWZZVixYtsvqbXLp0SYsXL5abm5tef/31u27r7++vpUuX6tdff9XZs2d15MgR/fPPP/Lw8FDdunWVnJysd999V25ubtku7XT16lUdPXpUUlppgYwuoc8P49bbpaam6u233zbupZDu0qVL2rBhgzZv3qzZs2ffcdJCRmP4L7/8UmPGjLFaFh0drejoaEVERMjb21v16tXLdIxxcXHq3Lmz1WeWP/74Q/369dOWLVvuORv6woUL6tatmy5dumQs++GHH7R79+47brtjxw4FBQXpxo0bktLO85UrV+qvv/664362bNmiYcOGGeU8pP99gbRnzx79/PPP+uCDD2QymWy2/fbbb60mjFy/ft0Yq99+zpQuXVrlypXT2bNndfjwYUVHR9/X5zUUPCRoAeRZ586d0y+//CIp7SZKbdu21bVr14wE7ffff6+YmBh5eHjIwcFBL774oubPny8p7c0yPUH7448/Gjd6ePLJJ42bDrz33ntGcrZGjRrGZVVr1qzRxo0bdeHCBY0aNcqq/mm6uLg4ubu7a8yYMapWrZqOHTsms9ms8uXLa/jw4apcubJcXV3l5OSk2NhYrVq1Sj/99JPOnDmjL774Qq+99pokaebMmUZy1tXVVcOGDdMjjzyipUuX6vfff8/wuLz99tvGQKdRo0bq1auXHB0djQFuRESEJk+erGnTpmXruCcmJmrdunU6fPiwsaxmzZoZtj158qT69u2rJk2a6J9//lHFihW1detWq0Funz599NRTT+m3337TkiVLZLFY9Pnnn6tJkyZq27atVqxYoZ9++kkLFy6UlPa3SC+c7+XlleF+H374Ya1YsUJffvmlkRD39/c3bvrg7Ox8z+d5a2L+fi6n6t27t44fP27Mag4ODs70tidOnNDvv/+uS5cuGeeulFZvNqMPXbfGeevfBwCAvO78+fOaM2eO1bKM6nBeuHBBZcqU0dixY1WuXDljttzEiRONhFKpUqU0bNgweXh4aOnSpfrjjz+UmJioESNGaMuWLUbdzkmTJungwYOS0soKpV+JcifptTCHDBliJIXGjh1rxJleaiizunfvrhUrVighIUFffvmlypcvb8zO7dGjxx1vFJQ+k7BixYoqXry4HBwc9M8//2jJkiXat2+f/v77b23evFlt27a12fbUqVOqVq2aXn/9dZUsWVLnzp1Tamqqxo8fbyRnvb29NXjwYF2/fl0zZszI0nO63fHjx9WzZ081a9ZMX375pTZu3CgprY7vvRK0TZo00fjx4zVr1ixjdmyVKlX0n//8Rw899JDmzZuno0ePatKkSSpdurQk6cqVK3Jzc8t0yasjR44YMyArV65ssz6r49asute5mN2aq6tWrTKSsw899JAGDhwoLy8v/frrr1q4cKGSk5P1zjvvaOvWrfLw8LDZPqMx/OrVq431AwcOVIMGDXTt2jWdPn1aO3bsyNT4+laxsbFyd3fXjBkzlJycrMmTJysuLk7//POP1q9fr65du951+1mzZhmvQzc3N+Nz0scff2w1IzldamqqJk6caCRnq1WrpoEDByo5OdnqCspbXb16VW+//baRnO3ataueeeYZXb16VbNnz9aZM2f07bffqnHjxsYkn1udOHFC7du3V4cOHfTjjz8aZeG+/PJLjRw5UsWLF7dqX6VKFZ09e1YWi0URERFq2LDhPY4iChMStADyrFu//W/atKk8PT3l6ekpX19f7dmzR8nJydqwYYNx6daLL76oBQsWyGKxaMOGDRo5cqQcHBysZiCkv7HGxsYas2ol6bXXXlOZMmUkpSXHvv/+e6WkpOj3339XZGSkUVrhVu+//77xrbSfn58kqWrVqtq3b5/++9//6vDhw4qNjbW5xCv9G9zU1FRjECulDYReeeUVSZKvr69atGhh9U2ulJZUTN/eyclJr7/+uooWLSopbaCfPlgJDQ3V+PHjbQYFdzN69OgM77pcqlQp9ejRI8NtevfubXOztlsv/3v66aeNPps3b66TJ08az/nrr79W27Zt9cQTT+jkyZPGNm5ubnriiSfuGqvZbNYTTzyh8PBwY1l6ja7MunX28/18e+3q6qp+/frpgw8+0Pbt2++YWM/IwoULjcS0lDazKCgoSH379s2w/a1x3j57GwCAvOhOdTM7deqU4RexJpNJixcv1mOPPSYpbYwVExOjrVu3Gm3Gjx9v3Hirfv36evrpp5WUlKQrV65o27Ztatu2rUqWLGl1NVJ6WaG7KVeunMqVK2eV/KtevXqWxhe3Kl++vJ5++mlt3bpVK1as0COPPCIpbbx4t5m+derU0YEDBxQSEqJjx44pLi7OZkbsX3/9lWHCsFixYvrkk0+sEn/79+/XiRMnjMczZswwvnz38PAwvuDOjubNmxuJ5lq1ahnjvEuXLik+Pv6esyS7d++url276vz583J2djZunBQZGalFixapYcOGeumll7R27Vp98MEHunz5shwdHeXv76/33nvP6uaxGbnXeO/Wq/UyM27NqpIlS2brXLyXNWvWGL+/+OKLxuusadOm2rZtmw4cOKC4uDh99913GSZCMxrD3/q38vLyko+Pjzw9PSWlJa6zY+bMmapTp46ktHN21apVkpThFXi3Sk1NtbrJ36BBg4zPfPXr11fz5s1t6uYeOHDA6jPFjBkzjP9HPDw8MvzCIDQ01JjFXr16dXXo0EFS2mu3Q4cOxjh99erVGSZoH330UU2fPl0mk0n+/v5au3atEhMTdePGDaMk261uTZZnpgY3ChcStADyrFsHTOlvlum/p9cs+/rrr4036woVKqhJkyb6+eefdenSJf3yyy+qU6eOcSMoNzc3tWnTRlLaoODWxOnw4cPvGMeRI0dsErRmsznDOlizZ8/WggUL7vq8YmJiJKW9KafX15XSBhvpPD095e3tbXzTni79Ei0prexAYGBghvtISUlRVFSUMYs4O4oUKaIWLVpo1KhRxqyF291+V2IpbUCdrkGDBlbrGjRoYAx0b21nb7fXlsqqHj16aNmyZbp06ZJmzZqlRo0aZauf2NhY/f3330pNTZWDg22Z+PuNEwAAe/P09NQrr7xyx6Rg5cqVjaRKuhMnTlglKG8dX3h6esrLy8sYM+Wl8YWUVq9169atOnnypJE8Sv9C/k7GjBmjb7755q5t0seTt6tfv77NrMxbk7PFihWzujLq9rFaVjVp0sT4/fYEaExMTKZu6uXg4GA1O9lisWjcuHGS0q54++OPPzRq1Cg5OTlpzJgx2r59u3744Qe9/fbb+uSTTzIda0bjqPw4bpVkVYc1JCREISEhGbY7cuRIhsszGsO//PLL+u6773Tz5k0NGzZMUlpC0cfHRy1atFD37t1VrFixTMdYvHhxIzkrWZ8fdzp/0129etW4AlKSVWmFEiVKyNvbWwcOHLDa5tbkbLFixaz+H7nTeX7rZ6uIiIg7vjZvL4mXrnHjxkbpAwcHB7m7uysxMVFSxs+RsTzuhgQtgDxp9+7dVt+sDh8+PMMk6t69e3Xs2DFVrVpVUtqlaT///LOktDIH586dM2ahtm/f3phtmhUZ1QYrVaqUTR2ilJQULVu2zHjcoUMHPf/883JxcdEPP/ygJUuWSPrfG3NGdYxyUkZx30365VbpN62oXLnyPQdhd0rc5geenp7GZYYxMTHZOjfSFS1aVG+++abee+89/fbbb8alVfcyZcoUtW/fXlu2bNE777yjlJQUhYaGqnLlyhoyZIhN+1tvHJY+owEAgLwsvVSUk5OTPD09VaFChbuOgfLz2CIjTZo0UbVq1YxEkKurq1544YU7tr9w4YJVcrZ3795q3ry5nJ2dtXr1aq1du1bSnRM9GR2/BznmvHVG4O3lmbKbjFq9erV+++03DR48WF5eXgoJCZHFYlGbNm2M49GmTRv98ssvRkmMO7l1vHSvpGB23DrhIy9e3XSnzwMZnSeNGjUyyoft379fUVFR+ueff/Trr7/q119/1e7du61Kct3L7Qn7W8+P/JaovNNxvL18xL2e463nYPpscSAdCVoAeVL64DMzvv76a40YMUKS1Lp1a3l4eCgmJkabNm2ymjHQuXNn4/cqVarI0dHRGFSFhYVleJldQkJChnfYzWigGx0dbfXmPXHiRKPEwK2zgdN5enrKzc3N+Hb4r7/+Mr5lvnr1aobf1KcnoqW0pOCOHTsyvJnYneK+m+xcbpXRcfD29ja+1d+9e7fVulsfZ1Q2Iqtu3f/tl/7dS/Xq1Y0EbWRk5F0H95nx8ssva+nSpTp9+rQxwzszzGazAgICdPjwYeMyqqVLl6pbt242MUVFRRm/3+mSUQAA8pKcGFtUrlxZDg4Oxnv97t271bp1a0nSP//8Y/X+aO/xRUZeeeUVTZw4UVLa5eh3K0F17tw54/cSJUpY3bTp1psR3cmdjl+6xMREHT582BhHZKU0U264dOmSPvjgA1WvXl39+vWTJON+DeXLl7f6KemeCdpHH31UJpNJFovF6jxJl51xa/pnDSmttnL68f3hhx/uGEdOn1NVq1bV33//LSltlnGXLl1s2iQnJ98xOZ/RcovFoho1aljdkO3kyZPq2LGjEhIStHXrViUmJmZpFm12eXp6ytXV1bja8NbPSdHR0Rl+Trr1xs63n+e3/23T3frZytfX1yjBcLusTny5k/Rz0GQy6dFHH82RPlFwkKAFkOdcv35doaGhxuO+ffsaN/ZKFxERYdwF95tvvtHQoUPl6OgoZ2dndejQQcuXL1d8fLz++OMPSWk3oahVq5axvbu7u1q3bq2wsDBJ0uuvv67AwEBVrlxZsbGxOnv2rH777TdFRkYabe6lVKlScnFxMd7AZ86cqaefflq//PKLcSOrWzk4OKhNmzZGDak5c+bIyclJDz/8sEJCQmzqz0ppSbnatWtr3759SkpKUu/evdWzZ0898sgj+ueff3T69Gn98ssvSk1NtZrNm5s6depk1Iz64Ycf9P7776tJkyb6/fffrer+durU6b739dBDDxm///777/rxxx/l6uqq0qVLZ3gjiFs1bNjQGEjv27fP6hK97HByctLAgQNt6nllVt++ffXZZ5/p2rVrun79uoKDg21uHnLrnZaffPLJ+4oXAID8wsPDQ61atTLGFxMnTlRcXJw8PDz08ccfG7UoPT091bx58/veX4kSJXT69GlJaZMGHBwc5OjoqMceeyxTl+zf7oUXXtDVq1dlsVj04osv3rXtrUmm6OhoffTRR3r88ce1ceNGq9r7WVGzZk1VqVLFuDptxIgRGjBggK5fv67p06dnq88HZdKkSYqPj9d//vMfOTk5SfrfMUmfoXrrTNVbj1dGPD099eijjyoiIkLnzp3TpUuXrGaPZmfcWqVKFeOeEO+99566d++uv//++65lKW6dTRoWFqby5cvLyclJ3t7e2boq6l//+peRoJ06daquXr2q2rVrKyUlRefOndP+/fv1/fffa82aNapQoUKm+pw8ebJOnTolPz8/lS1bVq6urjpw4IDx+rJYLEpOTs6VBK2Dg4Nat25tTHJJ/5xUpkwZq9f8rWrVqqWKFSvq1KlTkv53nicnJ2vmzJkZ7icgIEAffvihEhIStGfPHg0aNEjt27eXm5ubLly4oKioKG3btk3PPPOMBgwYcF/P6eLFi8aNnh999FGrzzGARIIWQB60efNmY1apq6urhg4danOn1tjYWK1evVopKSm6ePGidu7cKX9/f0lpNwJbvny5VfuMirqPHz9ekZGRioiI0MmTJzV+/HibNrd+Q38vJpNJPXr00OLFiyVJn332mXFX2IYNG2Z4t9EhQ4Zo+/btunjxomJjY40Y3NzcrO70e6vp06erd+/eOn/+vP7++2+NGjXKpo097wjaqlUr9ejRQ8uXL5fFYtHSpUu1dOlSqzYvv/xytm60cLvGjRsbM2rOnDlj1LN76aWX9P/+3/+767bPPfecPvjgA6WmpurHH3+8552GM+P555/X4sWLreqCZZaHh4deeeUV4/xZvXq1goKCjA8RFotF27dvl5T2BUP6+Q4AQGEwfvx4HTlyRMePH9elS5dsbmxarFgxTZ8+PctXEGXEz89P+/fvl5SWoE2/smvFihXZurmTi4tLppM7JUuWVLt27bRhwwZJaXeylyRHR0c98cQT2ZrxajKZNGHCBPXr108pKSmKiIjQoEGDJKVNYrhw4UKW+3wQfvjhB4WFhalHjx5WNUe7du2qzz//XJs2bVJAQIAxeaJ9+/aZSnIFBAQYNUR//PFHq6vqsjNu7dmzp5GgPXr0qN577z1JaVdn3alWqZ+fn1HP9qefftJPP/0kSZo2bZo6dux4z+dwu27dumn37t1av369EhISjPPkfly/fl0//PDDHWcCt2zZ0uaS/gdp6NCh+umnn3T58mWrz0kuLi4qU6aMzXnr4OCgcePG6c0339SNGzeszvOMrpSU0l5v06ZN0/Dhw3X9+nVt3LjR6ibO6Vq1anXfzyf9viiS1K5du/vuDwWP7R1IAMDObi0H0KJFC5vkrJSWoLr1Rky3bnP7bNn0WbW38/T01OrVqzVy5EjVq1dPbm5uxgzWevXq6Y033tCcOXOyFPvgwYM1ePBgVaxYUc7OzvLx8dH06dPvOFu0dOnSWrlypdq0aaPixYvLxcVFTZs21X//+1+5u7sb7W79prpKlSpat26d+vfvr5o1a8rFxUVms1nlypXTk08+qaFDh2rChAlZijunvfvuu5o/f76aNWumhx56SEWKFFGJEiX01FNPadasWfrPf/6TI/upWrWq3n//fT366KPGLIvMKleunDHLZvfu3Tp79ux9x+Pg4KDBgwdne/tXX33V+FsnJSVZ3fDhjz/+MC577NixY67MXgAAIK8oXbq0vvzySw0cOFA1atRQsWLF5OTkpPLly+ull17S119/LT8/vxzZ15tvvqkuXbqoZMmSD/yeARmZNGmSevfurUceeURFixZV3bp1tXjxYjVu3DjbfTZp0kRLly6Vr6+vzGazPD091blzZ82dO9eqXU4kuLPj2rVrmjhxoh555BENHTrUat2jjz6qkJAQeXl56a233tL27dvVu3dvIzF6L507dzbGievXr7dZn9Vxa4cOHfTOO+8Ys2CrVKmi0aNHW5WjuN1LL72koKAgPfLIIxneCDarHBwcNGPGDM2aNUvNmjWTp6enihQpooceekg+Pj7q2rWrFi9erLJly2a6z/bt26tz586qXr26SpQoIUdHR7m4uKhmzZoaNGhQjiSBs6JMmTJatWqVWrdubXxO8vPz0/Lly+94pZy/v7+WLFmievXqyWw2q0SJEnrxxReNWtgZSZ+p26VLF1WuXFnOzs7G/TiefvppTZw40bgp9f1IP/ecnJwynDwEmCz5rTozABQwFovFZvB/5coVtWzZ0rh855tvvrG5ozHu3759+9S5c2dZLBa99tprevvtt+0d0h0NHjxYYWFhKlasmDZu3HjfNXMBAEDhkdF4U5K+//57vfnmm5LSLsMPDw/PkQRiXjNp0iR99tlnMplMWr9+vapVq2bvkFCIHDlyRB06dJDFYlHPnj1typgBEjNoAcDuevfurc8//1wHDhzQuXPn9PPPP+utt94ykrOPPfYYN4R6QGrXrm3Mrl65cqViY2PtHFHGoqKijDpoffr0ITkLAACyJCoqSoGBgdq4caMiIyN18uRJffvtt1Ylvjp06FAgk7OS1L9/f7m7u8tisWjRokX2DgeFzOLFi2WxWOTu7q7+/fvbOxzkUcygBQA78/Pz0+XLlzNcV7JkSS1btkzVq1fP5agAAABQUBw7dkwBAQF3XF+3bl0tXbo0WzdBAwDcP24SBgB21q1bN23fvl0nT55UXFycnJ2dVaVKFfn7+6tXr17ZurMrAAAAkK5kyZJ6+eWXtWfPHp0/f16JiYlydXVV9erVFRAQoJdeeinL9fwBADmHGbQAAAAAAAAAYCcFs8AMAAAAUIicOHFC48aNU8eOHVWzZk21b98+w3arV69WmzZtVLt2bT3//PP64YcfbNrExcVpzJgxatiwoXx9fTVo0CBdvHjxQT8FAACAQosELQAAAJDPHTlyRNu2bVPlypVVtWrVDNts2LBB7777rtq2bavg4GDVq1dPAwYM0J9//mnVbsiQIdq5c6cmTJig6dOnKyoqSv369dONGzdy4ZkAAAAUPpQ4yEf27Nkji8VCbSAAAFCopKSkyGQyydfX196h5FmpqanG3ddHjRql/fv3a/369VZt2rRpo8cff1wzZswwlnXt2lVubm4KDg6WlDbe7Nq1q0JCQtS0aVNJUmRkpAICAvThhx/e9SZDd8IYFgAAFEZZGcMygzYfsVgsIp8OAAAKG8ZA95aenL2TU6dO6fjx42rbtq3V8oCAAIWHhys5OVmStH37drm7u8vPz89o4+3trRo1amj79u3Zio2/HwAAKIyyMgYq8oBjQQ5Kn3VQu3ZtO0cCAACQe/bt22fvEPK9yMhISZKXl5fV8qpVqyolJUWnTp1S1apVFRkZKS8vL5lMJqt23t7eRh9ZxRgWAAAURlkZw5KgBQAAAAq4mJgYSZK7u7vV8vTH6etjY2Pl5uZms72Hh4f279+f7f1bLBYlJCRke3sAAID8xmKx2HzpfSckaAEAAAA8UCkpKTp48KC9wwAAAMhVZrM5U+1I0AIAAAAFnIeHhyQpLi5OpUuXNpbHxsZarXd3d9f58+dtto+JiTHaZIeTk5OqVauW7e0BAADym6NHj2a6LQlaAAAAoIDz9vaWlFaLNv339MdOTk6qWLGi0S48PNzmkryoqChVr1492/s3mUxycXHJ9vYAAAD5TWbLG0jS3W/3CgAAACDfq1ixoqpUqaKwsDCr5aGhoWrSpIlx+Z2/v79iYmIUHh5utImKitKBAwfk7++fqzEDAAAUFsygBQAAAPK5xMREbdu2TZJ05swZxcfHG8nYhg0bytPTUwMHDtSIESNUqVIlNWrUSKGhodq7d6+WL19u9OPr66umTZtqzJgxGjlypJydnTVz5kz5+Pjo2WeftctzAwAAKOhI0AIAAAD53JUrVzR48GCrZemPP/30UzVq1Ejt27dXYmKigoODtXjxYnl5eWnevHny9fW12m7WrFmaMmWKxo0bpxs3bqhp06YaO3asihThowMAAMCDYLJYLBZ7B4HM2bdvnySpdu3ado4EAAAg9zAGyt/4+wEAgMIoK2MgatACAAAAAAAAgJ2QoAUAAAAAAAAAOyFBCwAAAAAAAAB2QoIWAAAAAAAAAOyEBC0AAAAAAAAA2EkRewcA5Bfz58/X2rVr9cILL6h///72DgcAAAB5zIULF5SQkGDvMPIVFxcXlSlTxt5hAABgVyRogUxISkrS2rVrlZqaqrVr1yowMFBFixa1d1gAAADII2JjYzVs2DBZLBZ7h5KvODg4aMGCBXJ3d7d3KAAA2A0JWiATbty4odTUVElSamqqbty4YeeIAAAAkJe4u7vrww8/zHMzaM+cOaMFCxborbfeUvny5e0djg0XFxeSswCAQo8ELQAAAADkgLx8qX758uXl5eVl7zBQgFHiI+so8QEgXZ5N0H733Xdat26d/v77b8XGxqpy5crq2bOn/vWvf8lkMhntVq9erSVLlujs2bPy8vLS0KFD9fTTT1v1FRcXpylTpmjLli1KSUlRs2bNNHbsWD388MNW7Xbv3q33339fBw8eVMmSJdWtWzf169fPan8Wi0XBwcH673//q6tXr6pGjRoaPXq06tWrZ9XXhQsXNGnSJO3YsUNOTk5q3bq1Ro8eLVdX15w/WAAAAAAA2AklPrKHEh8A0uXZBO2yZctUvnx5jRo1Sg899JB+/vlnvfvuuzp//rwGDBggSdqwYYPeffddvfHGG2rcuLFCQ0M1YMAArVixwiphOmTIEB09elQTJkyQs7OzZs2apX79+unLL79UkSJph+DEiRMKDAyUn5+fhgwZosOHD2v69OlydHRUYGCg0VdwcLDmzJmjESNGyMfHRytWrFDfvn31zTffqGLFipKklJQUvfbaa5KkGTNmKCkpSe+//76GDx+uRYsW5dIRBAAAAADgwcurJT6kvF3mgxIfANLl2QTtRx99JE9PT+NxkyZNFB0drY8//lhvvfWWHBwcNGfOHLVr105DhgyRJDVu3FgRERGaP3++goODJUl79uzRjh07FBISoqZNm0qSvLy8FBAQoE2bNikgIECSFBISooceekgffvihzGazmjRpoqtXr2rhwoXq2bOnzGazrl+/rkWLFqlv377q06ePJKlBgwZ67rnnFBISogkTJkiSNm7cqCNHjig0NFTe3t6S0t6wAgMDtXfvXtWpUycXjiAAAAAAALkjr1+qT5kPAHmZg70DuJNbk7PpatSoofj4eCUkJOjUqVM6fvy42rZta9UmICBA4eHhSk5OliRt375d7u7u8vPzM9p4e3urRo0a2r59u7Fs+/btatWqlcxms1VfsbGx2rNnj6S0Egjx8fFW+zSbzWrdurVNXz4+PkZyVpL8/PxUokQJbdu2LbuHBAAAAAAAAEABk2cTtBn5448/VKZMGbm6uioyMlKSbL4Bq1q1qlJSUnTq1ClJUmRkpLy8vKzqyEppSdr0PhISEnTu3DmrhGp6G5PJZLRL/3l7u6pVq+rs2bNKSkoy2t3exmQyycvLy+gDAAAAAAAAAPJsiYPb/f777woNDdXIkSMlSTExMZJkU68l/XH6+tjYWLm5udn05+Hhof3790tKu4lYRn2ZzWYVK1bMqi+z2SxnZ2ebfVosFsXExKho0aJ33Wd6X9llsVjyZF2fgu72Y56QkCAHh3z1/QYAAPmWxWKx+bIdAAAgr7hw4QK5mixycXHJ86VRclO+SNCeP39eQ4cOVaNGjdSrVy97h2NXKSkpOnjwoL3DKHQSExOtHkdERKhYsWJ2igYAgMLn1jJUAAAAeUVsbKyGDRsmi8Vi71DyFQcHBy1YsIAb5f2fPJ+gjY2NVb9+/VSiRAnNnTvXmLXo4eEhKW32a+nSpa3a37re3d1d58+ft+k3JibGaJM+2zV9Jm265ORkJSYmWvWVnJys69evW82ijY2NlclksmoXHx+f4T7Lli2bjaPwP05OTqpWrdp99YGsu/3vWb16dbm6utopGgAACpejR4/aOwQAAIAMubu768MPP8yTM2jPnDmjBQsW6K233lL58uXtHY4VFxcXkrO3yNMJ2qSkJAUFBSkuLk6ff/65VdmA9Bqvt9d7jYyMlJOTkypWrGi0Cw8Pt7k0LioqStWrV5eUdlKULVvWpj5sVFSULBaL0X/6z6ioKD322GNW+yxXrpyKFi1qtIuIiLDqy2KxKCoqyupmZdlhMpnk4uJyX30g61JTU60eu7i48HcAACCXUN4AAADkZXn9Uv3y5cvb3MMJeUueLaJ548YNDRkyRJGRkVqyZInNyV6xYkVVqVJFYWFhVstDQ0PVpEkT4zI4f39/xcTEKDw83GgTFRWlAwcOyN/f31jm7++vrVu3KiUlxaovd3d3+fr6SpLq168vV1dXfffdd0ablJQUbdq0yaavQ4cO6fjx48ay8PBwRUdHq3nz5vdxVAAAAAAAAAAUJHl2Bu3EiRP1ww8/aNSoUYqPj9eff/5prKtZs6bMZrMGDhyoESNGqFKlSmrUqJFCQ0O1d+9eLV++3Gjr6+urpk2basyYMRo5cqScnZ01c+ZM+fj46NlnnzXaBQYG6ttvv9Xw4cPVrVs3RUREKCQkREOHDjWSvc7OzgoKCtLcuXPl6emp6tWra+XKlYqOjlZgYKDRV5s2bbRo0SINHDhQw4YNU2JioqZNm6YWLVqoTp06D/7gAQAAAAAAAMgX8myCdufOnZKkqVOn2qzbunWrKlSooPbt2ysxMVHBwcFavHixvLy8NG/ePGPGa7pZs2ZpypQpGjdunG7cuKGmTZtq7NixKlLkf0+/cuXKCgkJ0dSpU/X666/L09NTgwYNUt++fa366tevnywWi5YuXaqrV6+qRo0aCgkJMUoqSGl1YpcsWaJJkyZp2LBhKlKkiFq3bq0xY8bk5CECAAAAAAAAkM/l2QTt999/n6l2nTt3VufOne/axs3NTZMnT9bkyZPv2q5+/fr64osv7trGZDIpKChIQUFBd21XpkwZzZ07965tAAAAAAAAABRuebYGLQAAAAAAAAAUdCRoAQAAAAAAAMBOSNACAAAAAAAAgJ2QoAUAAAAAAAAAOyFBCwAAAAAAAAB2QoIWAAAAAAAAAOyEBC0AAAAAAAAA2AkJWgAAAAAAAACwExK0AAAAAAAAAGAnJGgBAAAAAAAAwE5I0AIAAAAAAACAnZCgBQAAAAAAAAA7IUELAAAAFAJfffWVfHx8bP5Nnz7dqt3q1avVpk0b1a5dW88//7x++OEHO0UMAABQOBSxdwAAAAAAcs+SJUvk5uZmPC5Tpozx+4YNG/Tuu+/qjTfeUOPGjRUaGqoBAwZoxYoVqlevnh2iBQAAKPhI0AIAAACFSK1ateTp6Znhujlz5qhdu3YaMmSIJKlx48aKiIjQ/PnzFRwcnItRAgAAFB6UOAAAAACgU6dO6fjx42rbtq3V8oCAAIWHhys5OdlOkQEAABRsJGgBAACAQqR9+/aqUaOGWrVqpUWLFunmzZuSpMjISEmSl5eXVfuqVasqJSVFp06dyvVYAQAACgNKHAAAAACFQOnSpTVw4EDVrVtXJpNJ33//vWbNmqULFy5o3LhxiomJkSS5u7tbbZf+OH19dlgsFiUkJGQ/eGRbUlKS8ZO/AQojXgMozDj/7ctischkMmWqLQnaQizVkioHE5Oo8WBxngEAkDc0a9ZMzZo1Mx43bdpUzs7O+uSTT/TGG2880H2npKTo4MGDD3QfyNiFCxckSVFRUXw4R6HEawCFGee//ZnN5ky1I0FbiDmYHLTir590IT77syEKi5TEJKvH838Jk1OxonaKJv8o4+qhV+o2u3dDAABgF23bttXSpUt18OBBeXh4SJLi4uJUunRpo01sbKwkGeuzw8nJSdWqVbu/YJEtLi4uktJKV1SuXNnO0QC5j9cACjPOf/s6evRoptuSoC3kLsTH6EzsVXuHkefdSLK+KcbZuGgVScnctyAAAAD5gbe3t6S0WrTpv6c/dnJyUsWKFbPdt8lkMj4kIncVLVrU+MnfAIURrwEUZpz/9pXZ8gYSNwkDAAAACq3Q0FA5OjqqZs2aqlixoqpUqaKwsDCbNk2aNMn0JXoAAADIGmbQAgAAAIVAYGCgGjVqJB8fH0nS1q1b9cUXX6hXr15GSYOBAwdqxIgRqlSpkho1aqTQ0FDt3btXy5cvt2foAAAABRoJWgAAAKAQ8PLy0pdffqnz588rNTVVVapU0ZgxY9SzZ0+jTfv27ZWYmKjg4GAtXrxYXl5emjdvnnx9fe0YOQAAQMFGghYAAAAoBMaOHZupdp07d1bnzp0fcDQAAABIRw1aAAAAAAAAALATErQAAAAAAAAAYCeUOAAAAACQb1y+fFlxcXH2DiPfOHPmjNVPZI6bm5tKlSpl7zAAAIUECVoAAAAA+cLly5c1fMQIpSQn2zuUfGfBggX2DiFfcTKbNWP6dJK0AIBcQYIWAAAAQL4QFxenlORklfCroyIexe0dDgqoGzHXFL1zr+Li4kjQAgByBQlaAAAAAPlKEY/icirpYe8wAAAAcgQ3CQMAAAAAAAAAOyFBCwAAAAAAAAB2QoIWAAAAAAAAAOyEBC0AAAAAAAAA2AkJWgAAAAAAAACwkyL2DgAAAAAAAGTO5cuXFRcXZ+8w8o0zZ85Y/UTmuLm5qVSpUvYOAyg0SNACAAAAAJAPXL58WcNHjFBKcrK9Q8l3FixYYO8Q8hUns1kzpk8nSQvkEhK0AAAAAADkA3FxcUpJTlYJvzoq4lHc3uGggLoRc03RO/cqLi6OBC2QS0jQAgAAAACQjxTxKC6nkh72DgMAkEO4SRgAAAAAAAAA2AkJWgAAAAAAAACwExK0AAAAAAAAAGAnJGgBAAAAAAAAwE5I0AIAAAAAAACAnZCgBQAAAAAAAAA7IUELAAAAAAAAAHaSpxO0J06c0Lhx49SxY0fVrFlT7du3t2nTs2dP+fj42Pw7duyYVbu4uDiNGTNGDRs2lK+vrwYNGqSLFy/a9Ld792516dJFderU0dNPP63FixfLYrFYtbFYLFq8eLFatGihOnXqqEuXLvrzzz9t+rpw4YIGDhwoX19fNWzYUP/+978VHx9/fwcFAAAAAAAAQIFRxN4B3M2RI0e0bds21a1bV6mpqTaJ0nT169fXyJEjrZZVqFDB6vGQIUN09OhRTZgwQc7Ozpo1a5b69eunL7/8UkWKpB2GEydOKDAwUH5+fhoyZIgOHz6s6dOny9HRUYGBgUZfwcHBmjNnjkaMGCEfHx+tWLFCffv21TfffKOKFStKklJSUvTaa69JkmbMmKGkpCS9//77Gj58uBYtWpRjxwgAAAAAAKAwuHz5suLi4uwdRr5x5swZq5/IHDc3N5UqVSpX95mnE7QtW7bUM888I0kaNWqU9u/fn2E7d3d31atX74797NmzRzt27FBISIiaNm0qSfLy8lJAQIA2bdqkgIAASVJISIgeeughffjhhzKbzWrSpImuXr2qhQsXqmfPnjKbzbp+/boWLVqkvn37qk+fPpKkBg0a6LnnnlNISIgmTJggSdq4caOOHDmi0NBQeXt7G3EGBgZq7969qlOnTg4cIQAAAAAAgILv8uXLGj5ihFKSk+0dSr6zYMECe4eQrziZzZoxfXquJmnzdILWwSFnKjBs375d7u7u8vPzM5Z5e3urRo0a2r59u5Gg3b59u1q3bi2z2Wy0CwgI0KJFi7Rnzx41atRIu3fvVnx8vNq2bWu0MZvNat26tTZv3my1Tx8fHyM5K0l+fn4qUaKEtm3bRoIWAAAAAAAgk+Li4pSSnKwSfnVUxKO4vcNBAXUj5pqid+5VXFwcCdqs+vXXX1WvXj3dvHlTdevW1eDBg/Xkk08a6yMjI+Xl5SWTyWS1nbe3tyIjIyVJCQkJOnfunFVCNb2NyWRSZGSkGjVqZLS/vV3VqlX1ySefKCkpSUWLFlVkZKRNG5PJJC8vL6MPAAAAAAAAZF4Rj+JyKulh7zCAHJXvE7RPPvmkOnbsqCpVqujixYsKCQnRq6++qs8++0y+vr6SpNjYWLm5udls6+HhYZRNSK9h4u7ubtXGbDarWLFiiomJMfoym81ydna2aufu7i6LxaKYmBgVLVr0rvtM7ys7LBaLEhISsr19OpPJpGLFit13P4WFg6ODZDJJFotkMqU9RqYlJibesYY0AAD3YrFYbL5oBwAAAAqKfJ+gHTRokNXjFi1aqH379lqwYIGCg4PtFNWDk5KSooMHD953P8WKFVPNmjVzIKLCwcGpiEr5PqbLew6plO9jcnDK9y+dXBUVFaXExER7hwEAyMduLUEF3IiJt3cIKMA4vwAAua3AZZlcXFzUvHlzbdy40Vjm7u6u8+fP27SNiYmRh0fatPj02a633w0wOTlZiYmJRjt3d3clJyfr+vXrVrNoY2NjZTKZrNrFx9u+scfExKhs2bLZfn5OTk6qVq1atrdPxyyUrKvQsqEqtGxo7zDyJS8vL2bQAgCy7ejRo/YOAXlM9M599g4BAAAgxxS4BG1GvL29FR4ebnN5XFRUlKpXry4pLbFbtmxZm/qwUVFRslgsRj3Z9J9RUVF67LHHjHaRkZEqV66cihYtarSLiIiw6stisSgqKsrqZmVZZTKZ5OLiku3tAXugnAYA4H7wxTJuV8Kvtop4uNo7DBRQN2Li+RIAAJCrClyCNiEhQT/++KNq165tLPP399eCBQsUHh6up556SlJagvXAgQN67bXXrNpt3bpVb7/9tpycnCRJoaGhcnd3N+rZ1q9fX66urvruu++MBG1KSoo2bdokf39/q77WrVun48ePq0qVKpKk8PBwRUdHq3nz5g/0GAAAAAAFWREPV24QAwAACow8naBNTEzUtm3bJElnzpxRfHy8wsLCJEkNGzZUZGSklixZotatW6t8+fK6ePGiPv74Y126dEmzZ882+vH19VXTpk01ZswYjRw5Us7Ozpo5c6Z8fHz07LPPGu0CAwP17bffavjw4erWrZsiIiIUEhKioUOHGnXPnJ2dFRQUpLlz58rT01PVq1fXypUrFR0drcDAQKOvNm3aaNGiRRo4cKCGDRumxMRETZs2TS1atFCdOnVy4/ABAAAAAAAAyOPydIL2ypUrGjx4sNWy9MeffvqpHnnkEaWkpGjmzJmKjo5WsWLF5Ovrq4kTJ9okQWfNmqUpU6Zo3LhxunHjhpo2baqxY8eqSJH/HYLKlSsrJCREU6dO1euvvy5PT08NGjRIffv2teqrX79+slgsWrp0qa5evaoaNWooJCREFStWNNo4OTlpyZIlmjRpkoYNG6YiRYqodevWGjNmTE4fJgAAACDHHDt2TJMmTdKePXtUvHhxdezYUUOGDOFGbQAAAA9Ink7QVqhQQYcPH75rm5CQkEz15ebmpsmTJ2vy5Ml3bVe/fn198cUXd21jMpkUFBSkoKCgu7YrU6aM5s6dm6n4AAAAAHuLiYlR7969VaVKFc2dO1cXLlzQ1KlTlZSUpHHjxtk7PAAAgAIpTydoAQAAAOSeVatW6dq1a5o3b55KlCghSbp586YmTpyooKAglSlTxr4BAgAAFEAO9g4AAAAAQN6wfft2NWnSxEjOSlLbtm2VmpqqnTt32i8wAACAAowELQAAAABJUmRkpLy9va2Wubu7q3Tp0oqMjLRTVAAAAAUbJQ4AAAAASJJiY2Pl7u5us9zDw0MxMTHZ7tdisSghIeF+QpMkJSUl3XcfQGYlJSXlyHmbk3gNIDfltdcA5z9yU06c/xaLRSaTKVNtSdACAAAAeKBSUlJ08ODB++7nwoULORANkDlRUVF5Kjkl/e81cCMm3s6RoCBLP7/y2muA9wDkppw6/81mc6bakaAFAAAAICmtnEFcXJzN8piYGHl4eGS7XycnJ1WrVu1+QpMkubi43HcfQGZ5eXmpcuXK9g7DSvprIHrnPjtHgsIgr70GeA9AbsqJ8//o0aOZbkuCFgAAAIAkydvb26bWbFxcnC5dumRTmzYrTCZTjnywLlq06H33AWRW0aJF81xCKP01UMKvtop4uNo5GhRUN2LiFb1zX557DfAegNyUE+d/ZssbSCRoAQAAAPwff39/LVy40KoWbVhYmBwcHOTn52fn6ACkK+LhKqeS2Z/VDgDIWxzsHQAAAACAvKFr164qXry4+vfvrx07dujLL7/UtGnT1LVrV5UpU8be4QEAABRIJGgBAAAASJI8PDz0ySefyNHRUf3799eMGTP00ksvadSoUfYODQAAoMCixAEAAAAAQ9WqVbVs2TJ7hwEAAFBoMIMWAAAAAAAAAOyEBC0AAAAAAAAA2AkJWgAAAAAAAACwExK0AAAAwH3o1auXwsPD77j+l19+Ua9evXIxIgAAAOQnJGgBAACA+/Drr7/q8uXLd1x/9epV/fbbb7kYEQAAAPITErQAAADAfTKZTHdcd+LECRUvXjwXowEAAEB+UsTeAQAAAAD5zddff62vv/7aePzRRx/piy++sGkXFxenw4cPy9/fPzfDAwAAQD5CghYAAADIosTERP3zzz/G42vXrsnBwfbiNBcXF3Xt2lX9+/fPzfAAAACQj5CgBQAAALKoe/fu6t69uySpZcuW+ve//61WrVrZOSoAAADkRyRoAQAAgPvw/fff2zsEAAAA5GPcJAwAAAC4Dz///LM+/PDDO66fOXOmwsPDczEiAAAA5CckaAEAAID7sGDBAp07d+6O6y9cuKCPPvooFyMCAABAfkKCFgAAALgPERERqlu37h3X165dW4cPH87FiAAAAJCfkKAFAAAA7kNycrJSUlLuuj4pKSkXIwIAAEB+QoIWAAAAuA+PPvqoNm/enOE6i8WiTZs2qWrVqrkcFQAAAPKLIvYOAAAAAMjPevTooZEjR2rQoEHq37+/kYw9evSoFixYoD///FOTJ0+2c5QAABQMN2Li7R0CCjB7nV8kaAEAAID70LFjR506dUoLFizQ5s2b5eCQdpFaamqqTCaT3nzzTXXq1MnOUQIAUDBE79xn7xCAHEeCFgAAALhPAwYM0PPPP6/Nmzfr1KlTkqRKlSrpmWeeUaVKlewcHQAABUcJv9oq4uFq7zBQQN2IibfLlwAkaAEAAIAcUKlSJQUGBto7DAAACrQiHq5yKulh7zCAHEWCFgAAAMgBERER2rZtm86cOSNJqlChgpo1ayYfHx87RwYAAIC8jAQtAAAAcB+Sk5M1btw4ffPNN7JYLFY1aGfMmKEOHTpo0qRJMpvNdo4UAAAAeREJWgAAAOA+fPDBB1q7dq26d++uHj16qFKlSjKZTDpx4oQ+++wzrVy5Uh4eHvr3v/9t71ABAACQBznYOwAAAAAgP1u3bp06duyocePGydvbW0WKFJGjo6O8vb01fvx4dejQQevWrbN3mAAAAMijSNACAAAA9+HGjRuqW7fuHdf7+vrq5s2buRgRAAAA8hMStAAAAMB9aNq0qXbs2HHH9T/99JP8/PxyMSIAAADkJyRoAQAAgPswePBgnT59WgMGDFB4eLjOnDmjM2fO6Oeff1b//v119uxZDR48WNHR0Vb/AAAAAImbhAEAAAD3JSAgQJIUERGhrVu3Wq2zWCySpHbt2tlsd/DgwQcfHAAAAPI8ErQAgHuaP3++1q5dqxdeeEH9+/e3dzgAkKf0799fJpPJ3mEAAAAgnyJBCwC4q6SkJK1du1apqalau3atAgMDVbRoUXuHBQB5xsCBA7PUPjU1VefPn1dycrLMZvMDigoAAAD5BTVoAQB3dePGDaWmpkpKSyrcuHHDzhEBQP529epVtWrVSn/88Ye9QwEAAEAeQIIWAAAAyGXptWkBAAAAErQAAAAAAAAAYCfUoAUAAACQr9yIuWbvEFCAcX4BAHIbCVoAAACgEBg1apS+/vprm+XBwcHy9/c3HicnJ2vmzJlat26drl27Jl9fX7377rvy9vbOzXAz5ObmJiezWdE799o7FBRwTmaz3Nzc7B0GAKCQeOAJ2lOnTqlixYoPejcAAAAA7qFixYqaPn261bKqVataPZ40aZJCQ0M1atQolSlTRgsXLlSfPn20YcMGuyesSpUqpRnTpysuLs6uceQnZ86c0YIFC/TWW2+pfPny9g4n33Bzc1OpUqXsHQYAoJB4YAnaQ4cOKTg4WBs3btT+/fuz1ceJEycUEhKiv/76S0eOHJG3t7fWr19v02716tVasmSJzp49Ky8vLw0dOlRPP/20VZu4uDhNmTJFW7ZsUUpKipo1a6axY8fq4Ycftmq3e/duvf/++zp48KBKliypbt26qV+/fjKZTEYbi8Wi4OBg/fe//9XVq1dVo0YNjR49WvXq1bPq68KFC5o0aZJ27NghJycntW7dWqNHj5arq2u2jgcAAABwP4oWLWozZr3V+fPntWbNGo0fP14vvfSSJKl27dp6+umntWrVKvXr1y+XIr2zUqVKkTjLhvLly8vLy8veYQAAgAxk6yZhR44c0XvvvafXXntNw4cP1+bNm411f//9t/r166dOnTpp06ZN6tChQ7aDO3LkiLZt26bKlSvbfLOfbsOGDXr33XfVtm1bBQcHq169ehowYID+/PNPq3ZDhgzRzp07NWHCBE2fPl1RUVHq16+fbty4YbQ5ceKEAgMDVbp0aS1atEi9e/fWnDlztHTpUqu+goODNWfOHPXp00eLFi1S6dKl1bdvX506dcpok5KSotdee03Hjx/XjBkzNGHCBO3YsUPDhw/P9vEAAAAAHqQdO3YoNTVVzz33nLGsRIkS8vPz0/bt2+0YGQAAQMGV5Rm0f/75p3r37q3r168by9Ivgbp586amT5+u4sWLKzAwUL169bKZoZoVLVu21DPPPCMprWZWRjNx58yZo3bt2mnIkCGSpMaNGysiIkLz589XcHCwJGnPnj3asWOHQkJC1LRpU0mSl5eXAgICtGnTJgUEBEiSQkJC9NBDD+nDDz+U2WxWkyZNdPXqVS1cuFA9e/aU2WzW9evXtWjRIvXt21d9+vSRJDVo0EDPPfecQkJCNGHCBEnSxo0bdeTIEYWGhhr1utzd3RUYGKi9e/eqTp062T4uAAAAyL9cXFw0YMAAu5QBO3HihBo0aKDr16+revXqeuutt4zxtiRFRkaqZMmS8vDwsNquatWqWrNmTW6HCwAAUChkOUE7f/58OTs7a968eXriiSd0+vRpjR49WnPmzNH169fVp08fvfnmmzlSn8rB4e4TfE+dOqXjx4/r7bfftloeEBCgadOmKTk5WWazWdu3b5e7u7v8/PyMNt7e3qpRo4a2b99uJGi3b9+u1q1by2w2W/W1aNEi7dmzR40aNdLu3bsVHx+vtm3bGm3MZrNat25tNZN4+/bt8vHxsbqZgp+fn0qUKKFt27aRoAUAAChg4uPjdfbsWcXGxspisdisf/LJJyX9L0Gb22rUqKHatWurWrVqiouL08qVK9W/f3/Nnj3bmDEbGxub4Tje3d1dMTEx2d63xWJRQkJCtrdH9iUlJRk/+Rvkf+l/TyA35LX/Nzj/kZty4vy3WCxWJVPvJssJ2r1796p79+5q1qyZJOnRRx/VqFGj1KNHD7366qt65513stpltkVGRkqSTS2lqlWrKiUlRadOnVLVqlUVGRkpLy8vm4Pi7e1t9JGQkKBz587Z3J3W29tbJpNJkZGRatSokdH+9nZVq1bVJ598oqSkJBUtWlSRkZE2bUwmk7y8vIw+AAAAkP/9888/+s9//qNNmzbp5s2bNuvTB+cHDx7M0f3GxcXp4sWL92xXsWJFmc1m9e7d22p5y5Yt1bVrV82ZM8eqpMGDkJKSkuPPH5lz4cIFSVJUVFSeSrQge9L/nkBuyGv/b3D+Izfl1Pl/6yTQu8lygjY2NlZVqlSxWpaeIG3cuHFWu7sv6d/iu7u7Wy1Pf5y+/k4zATw8PIyyCel3gr29L7PZrGLFiln1ZTab5ezsbLNPi8WimJgYFS1a9K77zAuzD0wmk4oVK3bf/QCZkZiYmOFMIuQPt/+fk5CQcM8rHAAgJ2Vl9oE9vPvuu/rhhx/Us2dPPfHEEzbjyQclLCxMY8eOvWe70NDQDO/n4ODgoGeffVYffPCBMcnA3d1d8fHxNm1jY2Ntyh5khZOTk6pVq5bt7ZF9Li4uktI+s1WuXNnO0eB+pf89gdyQ1/7f4PxHbsqJ8//o0aOZbpvlBK3FYpGjo6PVsvQP6pnNCiP7cmr2QbFixVSzZs0ciAi4t6ioKCUmJto7DGTT7X+7iIgIvuABkOvy8jhz586d6t27d65eSSZJnTt3VufOnXO0T29vb12+fFkxMTFWCdmMrg7LCpPJxAdrOylatKjxk79B/pf+9wRyQ177f4PzH7kpJ87/rEwwyHKCVpK2bdumy5cvG48TExNlMpkUFhamQ4cO2QSTfjOtnJY+aIyLi1Pp0qWN5bGxsVbr3d3ddf78eZvtbx14ps92TZ9Jmy45OVmJiYlWfSUnJ+v69etWs2hjY2NlMpms2mU0+yAmJkZly5bN3hNWzs0+yMuzUFDweHl5MYM2H7v9/7Lq1avL1dXVTtEAKIyyMvvAHooWLary5cvbO4wsS01NVVhYmB599FHjQ2/Tpk3l4OCgTZs2GcnfmJgY7dixQ2+99ZY9wwUAACiwspWgXb9+vdavX2+z/PPPP7dZ9iATtOnf4t/+jX5kZKScnJyMO+N6e3srPDzc5vK4qKgoVa9eXVLaVPmyZcva1IeNioqSxWIx+k//GRUVpccee8xqn+XKlTMGt97e3oqIiLDqy2KxKCoqyupmZVnF7APkR8y2zN9SU1OtHru4uPD/EIBclde/WH7++ee1ZcsWvfLKK/YO5Y7OnDmjUaNGqV27dqpcubJiYmK0cuVK7d+/X3PnzjXaPfLII3rppZc0bdo0OTg4qEyZMlq0aJHc3NzUtWtXOz4DAACAgivLCdqtW7c+iDiypWLFiqpSpYrCwsL0zDPPGMtDQ0PVpEkT41I4f39/LViwQOHh4XrqqackpSVYDxw4oNdee83Yzt/fX1u3btXbb78tJycnoy93d3f5+vpKkurXry9XV1d99913RoI2JSVFmzZtkr+/v1Vf69at0/Hjx42aveHh4YqOjlbz5s0f3EEBAABArmrTpo1+++03BQYGqkuXLnrkkUdsSoJJUq1atewQXZrixYvL1dVVH330ka5cuSInJyc9/vjjCg4ONm7+m27s2LEqXry4ZsyYoWvXrql+/fr6+OOPM7y/AgAAAO5flhO0uXn5VmJiorZt2yYp7Vv/+Ph4hYWFSZIaNmwoT09PDRw4UCNGjFClSpXUqFEjhYaGau/evVq+fLnRj6+vr5o2baoxY8Zo5MiRcnZ21syZM+Xj46Nnn33WaBcYGKhvv/1Ww4cPV7du3RQREaGQkBANHTrUSPY6OzsrKChIc+fOlaenp6pXr66VK1cqOjpagYGBRl9t2rTRokWLNHDgQA0bNkyJiYmaNm2aWrRooTp16uTG4QMAAEAu6N69u/H7zz//bLM+/SqunLiPQHaVKFFCH330Uabams1mjRw5UiNHjnzAUQEAAEDKZomD3HLlyhUNHjzYaln6408//VSNGjVS+/btlZiYqODgYC1evFheXl6aN2+eMeM13axZszRlyhSNGzdON27cUNOmTTV27FgVKfK/Q1C5cmWFhIRo6tSpev311+Xp6alBgwapb9++Vn3169dPFotFS5cu1dWrV1WjRg2FhIQYJRWktFqxS5Ys0aRJkzRs2DAVKVJErVu31pgxY3L6MAEAAMCOpkyZYu8QAAAAkI9lOUE7adKkLO9k7NixWd5GkipUqKDDhw/fs11m7mDr5uamyZMna/LkyXdtV79+fX3xxRd3bWMymRQUFKSgoKC7titTpoxVTS8AAAAUPJ06dbJ3CAAAAMjHspygvbV0wN3cejOH7CZoAQAAAAAAAKAgy3KC9tChQ/dss2XLFs2fP18HDx5U5cqVsxUYAAAAkBeNHj1aJpNJ//nPf+To6KjRo0ffcxuTyXTPK7kAILNuxFyzdwgowDi/gNyXozVot2zZogULFujgwYOqVKmSpkyZoueffz4ndwEAAADY1a5du2QymZSamipHR0ft2rXrntvcenUZAGSXm5ubnMxmRe/ca+9QUMA5mc1yc3OzdxhAoZEjCdr0xOyBAwdUuXJlIzHr4OCQE90DAAAAecb3339/18cA8KCUKlVKM6ZPV1xcnL1DyTfOnDmjBQsW6K233lL58uXtHU6+4ebmplKlStk7DKDQuK8EbXopg0OHDqlSpUqaOnUqiVkAAAAAAB6QUqVKkTjLhvLly8vLy8veYQBAhrKVoN28ebORmGXGLAAAAAAAAABkT5YTtB07dlRERISqVKmiadOmqUOHDtTUAgAAQKH12GOP3XM87OzsrDJlyqhRo0Z67bXXVKlSpVyKDgAAAHldlhO0hw8fliSdO3dOEyZM0IQJE+7a3mQy6Y8//shWcAAAAEBe179/f23dulVHjx5Vs2bNVLlyZUnS8ePHtWPHDlWvXl2NGjXSyZMn9dVXX2nDhg1asWKFHnvsMTtHDgAAgLwgywnaF154gRmzAPK9VEuqHEyUZcGDxXkGFA4PP/yw/vnnH3333XeqWLGi1boTJ06oZ8+eqlatmkaOHKnjx4+rS5cu+vDDD7V48WI7RQwAAIC8JMsJ2qlTpz6IOAAgVzmYHLTir590IT7G3qHkeSmJSVaP5/8SJqdiRe0UTf5RxtVDr9RtZu8wAOSCkJAQvfLKKzbJWUmqXLmyXnnlFS1evFj/+te/VKVKFXXt2lX//e9/7RApAAAA8qJs3SQMAAqCC/ExOhN71d5h5Hk3kpKtHp+Ni1aRFLOdogGAvOf8+fNydHS843pHR0edO3fOeFyhQgUlJyffsT0AAAAKlywnaKOjo7O8kxIlSmR5GwAAACA/qFatmlauXKmOHTuqVKlSVusuXbqklStXqlq1asayU6dO2bQDAABA4ZXlBG3jxo2zXIP24MGDWd0NAAAAkC+MHDlS/fr1U+vWrfXMM88YNwk7ceKEtmzZohs3bmjy5MmSpOvXr+urr76Sv7+/PUMGAABAHpLlBG3//v25SRgAAADwfxo1aqTPP/9cs2fP1ubNm5WUlFa729nZWU2aNNHAgQNVq1YtY9mOHTvsGS4AAADymCwnaAcOHPgg4gAAAADynZSUFB07dkwPPfSQFi5cqNTUVF25ckWSVLJkSTk4ONg5QgAAAOR1uTpivHz5smrUqKHw8PDc3C0AAADwQDg4OOhf//qXNm3aZDwuXbq0SpcuTXIWAAAAmZLro0aLxZLbuwQAAAAeCEdHR5UrV07Jycn2DgUAAAD5FF/rAwAAAPehR48e+uKLLxQdHW3vUAAAAJAPZbkGLQAAAID/SU1NldlsVuvWrdWmTRuVL19eRYsWtWpjMpnUp08f+wQIAACAPI0ELQAAAHAf3n//feP3NWvWZNiGBC0AAADuhAQtAAAAcB+2bt1q7xAAAACQj5GgBQAAAO5D+fLl7R0CAAAA8jFuEgYAAAAAAAAAdnJfM2jPnj0rT09Pm5sgpEtKStLVq1dVrlw5SVLRokXVqVMnPfzww/ezWwAAACBPOXTokJYvX64DBw4oLi5OqampVutNJpO2bNlip+gAAACQl93XDNpWrVpp8+bNd1z//fffq1WrVsZjV1dXTZkyRVWrVr2f3QIAAAB5xq5du9S5c2f9+OOPevjhh3Xq1ClVrFhRDz/8sM6ePSsXFxc9+eST9g4TAAAAedR9JWgtFstd16ekpMjBgSoKAAAAKLjmzJmjihUrKiwsTJMnT5YkBQUFaeXKlVq1apUuXLig5557zs5RAgAAIK/KcomD+Ph4xcbGGo+jo6N19uxZm3axsbEKDQ1V6dKl7y9CAAAAIA87cOCABg4cKFdXV8XExEiSUeKgbt266tKli2bPnq3mzZvbM0wAAADkUVlO0C5btkzz58+XlFZLa/LkycZMgdtZLBYNGTLkvgIEAAAA8jJHR0cVL15ckuTu7q4iRYroypUrxvqKFSvq2LFj9goPAAAAeVyWE7R+fn5ycXGRxWLRBx98oHbt2qlWrVpWbUwmk4oVK6ZatWqpdu3aORYsAAAAkNdUqlRJx48fl5Q2Dvb29taWLVv0/PPPS5J+/PFHlSpVyo4RAgAAIC/LcoLW19dXvr6+kqTExES1bt1aPj4+OR4YAAAAkB80b95cX375pYYPH64iRYro1Vdf1ejRo/Xss89Kkk6ePKlhw4bZOUoAAADkVVlO0N5qwIABORUHAAAAkC+99dZb6tWrlxwdHSVJnTp1koODgzZt2iRHR0e98cYbevHFF+0cJQAAAPKqLCVo582bJ5PJpDfffFMODg6aN2/ePbcxmUzq379/tgMEAAAA8jInJyc99NBDVss6duyojh072ikiAAAA5CfZStD269dPZrOZBC0AAABgZzt37tRXX32lv/76S6dOndIrr7yicePG2bRLTk7WzJkztW7dOl27dk2+vr5699135e3tbdXu2LFjmjRpkvbs2aPixYurY8eOGjJkiMxmc249JQAA7uhGzDV7h4ACzF7nV5YStIcOHbrrYwAAAKAwmDRpUpa3GTt27AOIRPrpp5906NAhPfnkk4qJiblju0mTJik0NFSjRo1SmTJltHDhQvXp00cbNmyQm5ubJCkmJka9e/dWlSpVNHfuXF24cEFTp05VUlJShklfAAByi5ubm5zMZkXv3GvvUFDAOZnNxtgot2QpQTtgwAD16dNHTzzxhCTpt99+U9WqVeXp6flAggMAAADyouXLl8tkMslisWSqvclkemAJ2nfeeUejRo2SJO3atSvDNufPn9eaNWs0fvx4vfTSS5Kk2rVr6+mnn9aqVavUr18/SdKqVat07do1zZs3TyVKlJAk3bx5UxMnTlRQUJDKlCnzQJ4DAAD3UqpUKc2YPl1xcXH2DiXfOHPmjBYsWKC33npL5cuXt3c4+Yabm5tKlSqVq/vMUoJ269atxt1oJalXr16aNm2aOnTokOOBAQAAAHmV2WyWyWRSixYt1KFDBzVv3lxOTk52icXBweGebXbs2KHU1FQ999xzxrISJUrIz89P27dvNxK027dvV5MmTYzkrCS1bdtW48eP186dO7nZGQDArkqVKpXribOCoHz58vLy8rJ3GLiLe4/mblGmTBkdPHjQeGyxWGQymXI8KAAAACAv+/nnnzVhwgTFx8dr8ODB8vPz09ixY/XLL7/YO7QMRUZGqmTJkvLw8LBaXrVqVUVGRlq1u70mrbu7u0qXLm3VDgAAADknSzNoAwICtHTpUn333XdGLYYZM2Zo0aJFd9zGZDJp3bp19xclAMBuHBwdJJNJslgkkyntMQAUcq6ururUqZM6deqky5cva8OGDVq/fr3WrFmj0qVLKyAgQO3bt1ft2rXtHaokKTY2NsNaau7u7lZ1a2NjY+Xu7m7TzsPD4671be/FYrEoISEh29sj+5KSkoyf/A1QGPEaQGHG+W9fWZnYmqUE7fDhw1W5cmXt2rVLV65ckclkUrFixawugQIAFCwOTkVUyvcxXd5zSKV8H5ODU5beOgCgwCtVqpR69+6t3r176+TJk1q3bp3Wr1+vTz/9VMOGDTPKB2RWXFycLl68eM92FStWlNlszm7YuSolJcXqSjzkngsXLkiSoqKi+HCOQonXAAozzn/7y+xYLUufsh0dHdWlSxd16dJFkvTYY4/pzTffpAYtABRwFVo2VIWWDe0dBgDkebGxsYqPj9e1a9dksVhUtGjRLPcRFhaWqRuKhYaGqmrVqpnq093dXfHx8RnGe2vZA3d39wxvvhITE2NTHiErnJycVK1atWxvj+xzcXGRJHl5ealy5cp2jgbIfbwGUJhx/tvX0aNHM932vqZBbd26VZ6envfTBQAAAJCvRUVFaf369Vq/fr1OnDghb29vdevWTR06dFDFihWz3F/nzp3VuXPnHI3R29tbly9ftkm03l5z1tvb26bWbFxcnC5dumRTmzYrTCaT8SERuSv9S4KiRYvyN0ChxGsAhRnnv31l5b5d95WgLV++vCTp1KlT2r59u86ePStJKleunPz9/bM1IAUAAADyugsXLmj9+vXasGGDDhw4oEceeUQBAQHq0KGDatSoYe/wbDRt2lQODg7atGmTkfyNiYnRjh079NZbbxnt/P39tXDhQqtatGFhYXJwcJCfn59dYgcAACjo7ruQ4NSpU/Xpp58qNTXVarmDg4N69+6tkSNH3u8uAAAAgDylRYsWcnZ2lr+/v95880098cQTxiyJ6OjoDLd5UPdtOHPmjPbt2ydJSkxM1MmTJxUWFiZJeu655yRJjzzyiF566SVNmzZNDg4OKlOmjBYtWiQ3Nzd17drV6Ktr16767LPP1L9/fwUFBenChQuaNm2aunbtqjJlyjyQ+AEAAAq7+0rQLl26VMuWLVObNm3Ut29fowbWsWPHtGzZMi1btkxlypRRnz59ciJWAAAAIE+wWCxKSkrS5s2btXnz5kxt86BukrVr1y6NHj3aePzTTz/pp59+kiQdPnzYWD527FgVL15cM2bM0LVr11S/fn19/PHHcnNzM9p4eHjok08+0X/+8x/1799fxYsX10svvaShQ4c+kNgBAABwnwnaL774Qi1bttTs2bOtltetW1czZ87U9evXtWrVKhK0AAAAKFAGDBhg7xAML774ol588cV7tjObzRo5cuQ9r3CrWrWqli1blkPRAQAA4F7uK0F75swZ9erV647rmzZtanx7DwAAABQUeSlBCwAAgPzN4X42LlmypA4dOnTH9YcOHZKnp+f97AIAAAAoUC5fvqwaNWooPDzc3qEAAAAgD7ivBO1zzz2nNWvWaPHixUpISDCWJyQkaPHixVqzZo0CAgLuO8i7+eqrr+Tz/9u787gq6/z//88DgoB6YFDDTFPAkdw1KxdIjXJ3zBwtrNxz0NDCNpcxHWe8pZI7i4phUPbRMZuPzUxGpjWZy8f5NjlNmUsKbqjgUgcUkO38/vDHNZ2OC/sF8rjfbt6O1/t6Xe/zuo4X8ubFdb3fQUFOf5YsWeIQ9/7776t///7q0KGDhg4dqs8//9ypr6ysLM2ePVsPPfSQunTpohdeeEEZGRlOcV9//bWeeuopdezYUY888oji4+Nlt9sdYux2u+Lj49WnTx917NhRTz31lP79739X6LkDAACgZvrl2BEAAAC1V7mmOHjxxRd16NAhLVu2TKtWrdJdd90lScrIyFBBQYG6deumF154oUISvZ233nrLYYGDn68y+9FHH+n111/X5MmT1b17d23btk1Tp07Ve++9p86dOxtxkZGROnbsmP7whz+obt26WrFihSZNmqQPPvhAdepc/6hOnjypiRMnKjg4WJGRkTpy5IiWLFkiV1dXTZw40ehr3bp1WrVqlV555RUFBQXpvffe04QJE/Thhx+qefPmlf+BAAAAAAAAAKj2ylWg9fT0VFJSknbs2KFdu3bp7Nmzkq7PPdu7d2+FhobKYrFUSKK3065du5tOp7Bq1SoNHjxYkZGRkqTu3bvr6NGjio2N1bp16yRJBw4c0O7du5WQkKCQkBBJkr+/vwYNGqTt27cbdwInJCToV7/6lZYtW4xwf14AADScSURBVCZ3d3f16NFDly9f1po1azR69Gi5u7vr2rVrWrt2rSZMmGAskNa1a1cNGDBACQkJ+sMf/lCpnwUAAAAAAACAmqHMBdqcnBy9+uqr6tevn4YOHarHHnusIvOqMKdPn9aJEyf06quvOrQPGjRIUVFRysvLk7u7u3bt2iWr1arg4GAjJiAgQG3atNGuXbuMAu2uXbvUt29fubu7O/S1du1aHThwQN26ddPXX3+tK1euaODAgUaMu7u7+vbtq08//bSSzxgAAAAAAABATVHmOWg9PT21d+9e5ebmVmQ+ZTZkyBC1adNGjz76qNauXavCwkJJUkpKiqTrd8P+XGBgoPLz83X69Gkjzt/f3+mO34CAAKOP7OxsnTt3TgEBAU4xFovFiCt+/WVcYGCgzp49W20+MwAAAAAAAADmKtcUB127dtWBAwf05JNPVlQ+pda4cWNNmzZNnTp1ksVi0WeffaYVK1YoPT1dc+fOlc1mkyRZrVaH44q3i/dnZmY6zGFbzNvbW999952k64uI3agvd3d3eXp6OvTl7u6uunXrOr2n3W6XzWaTh4dHmc7Xbrc7LMhWVhaLRZ6enuXuByiJnJycarUYCtc/qlJ1u/6Bmshut1fZtFkAAABAVStXgXbu3LmaOHGili9frlGjRqlJkyYVlVeJPfzww3r44YeN7ZCQENWtW1dJSUmaPHlyledT2fLz83Xo0KFy9+Pp6am2bdtWQEbA7aWmpionJ8fsNAxc/6hK1e36B2qqn08vBQAAANxJylWgHTp0qAoLCxUfH6/4+Hi5uro6DZ4tFov+9a9/lSvJ0ho4cKDWr1+vQ4cOydvbW9L1u18bN25sxGRmZkqSsd9qter8+fNOfdlsNiOm+A7b4jtpi+Xl5SknJ8ehr7y8PF27ds3hLtrMzExZLBYjrizc3NzUqlWrMh9fjLtQUJX8/f2r1R2EXP+oStXt+gdqomPHjpmdwi2dPXtWvr6+N31CKjc3V5cvX1bTpk0lSR4eHnriiSd01113VWWaAAAAqKbKVaAdMGBAReVRaYrngU1JSXGYEzYlJUVubm5q3ry5Ebdv3z6nR+hSU1PVunVrSZKXl5fuvvtuY47Zn8fY7Xaj/+LX1NRU3XfffQ7v2bRp0zJPbyBdLyx5eXmV+XjADEwngNqM6x8ov+r+i7VHH31UUVFR+s1vfnPD/Z999plefvll4ymo+vXra+HChVWZIgAAAKqxMhVor127pp07d8rf318+Pj7q06dPtboDYNu2bXJ1dVXbtm3VuHFjtWzZUsnJyXrsscccYnr06GHc8durVy/FxcVp37596tmzp6TrBdbvv/9ezz33nHFcr169tHPnTr366qtyc3Mz+rJarerSpYsk6f7771f9+vX18ccfGwXa/Px8bd++Xb169aqSzwAAAABV43Z3yefn58vFpcxr8wIAAOAOV+oC7aVLlxQWFqYzZ84Yd5t6eHgoNjbWKGxWpYkTJ6pbt24KCgqSJO3cuVObN2/WmDFjjCkNpk2bpldeeUX33nuvunXrpm3btuk///mPNmzYYPTTpUsXhYSEaPbs2ZoxY4bq1q2r5cuXKygoSP369XN4v7/97W96+eWXNWrUKB09elQJCQmaPn26UeytW7euwsPDFR0dLV9fX7Vu3VobN27UTz/9pIkTJ1bhpwMAAIDKcOXKFWPKLEn66aefdPbsWae4zMxMbdu2zWGqLQAAAODnSl2gjYuLU1pamsaNG6fu3bvr5MmTiouL09y5c7Vjx47KyPGW/P399cEHH+j8+fMqKipSy5YtNXv2bI0ePdqIGTJkiHJycrRu3TrFx8fL399fMTExxh2vxVasWKGFCxdq7ty5KigoUEhIiObMmaM6df77MbVo0UIJCQlatGiRfve738nX11cvvPCCJkyY4NDXpEmTZLfbtX79el2+fFlt2rRRQkKCMaUCAAAAaq7ExETFxsZKuj4FwxtvvKE33njjhrF2u12RkZFVmB0AAABqklIXaHfv3q3HH39cM2bMMNoaNWqkl19+2Wme16owZ86cEsWNHDlSI0eOvGVMgwYNbjm4Lnb//fdr8+bNt4yxWCwKDw9XeHh4ifIDAABAzREcHCwvLy/Z7Xa9+eabGjx4sNq1a+cQY7FY5OnpqXbt2qlDhw4mZQoAAIDqrtQF2nPnzqlr164ObV27dpXdbtelS5eqvEALAAAAVLUuXboYT2Pl5OSob9++xpRbAAAAQGmUukCbl5enunXrOrQVz71aUFBQMVkBAAAANcTUqVPNTgEAAAA1WKkLtJKUlpamgwcPGttZWVmSpJMnT8pqtTrF//JxLwAAAKCmiomJkcVi0ZQpU+Ti4qKYmJjbHmOxWBQREVEF2QEAAKCmKVOBduXKlVq5cqVT+/z58x227Xa7LBaLDh06VLbsAAAAgGqmuEA7adIkubu7U6AFAABAuZS6QLtw4cLKyAMAAACoEQ4fPnzLbQAAAKA0Sl2gfeKJJyojDwAAAKBGmDp1qsaNG6cHHnhAkvT//t//U2BgoHx9fU3ODAAAADWRi9kJAAAAADXJzp07dfbsWWN7zJgx2rNnj4kZAQAAoCajQAsAAACUgp+fn8MaC8XrLgAAAABlUaZFwgAAAIDaatCgQVq/fr0+/vhjNWjQQJK0dOlSrV279qbHWCwW/fWvf62qFAEAAFCDUKAFAAAASuHll19WixYttH//fl26dEkWi0Wenp7y8fExOzUAAADUQBRoAQAAgFJwdXXVU089paeeekqSdN9992nKlCn6zW9+Y3JmAAAAqIko0AIAAADlsHPnTvn6+pqdBgAAAGooCrQAAABAOdxzzz2SpNOnT2vXrl06e/asJKlp06bq1auXmjdvbmZ6AAAAqOYo0AIAAADltGjRIr3zzjsqKipyaHdxcdHYsWM1Y8YMkzIDAABAdUeBFgAAACiH9evXKzExUf3799eECRMUGBgoSTp+/LgSExOVmJgoPz8/jRs3ztxEAQAAUC1RoAUAAADKYfPmzQoNDdXKlSsd2jt16qTly5fr2rVr2rRpEwVaAAAA3JCL2QkAAAAANVlaWppCQkJuuj8kJERpaWlVmBEAAABqEgq0AAAAQDk0bNhQhw8fvun+w4cPy9fXtwozAgAAQE3CFAcAAABAOQwYMEDvvPOOmjVrpmeffVZeXl6SpOzsbG3YsEFbtmzR2LFjK+399+zZo7/85S/65ptvdPr0aT3zzDOaO3euU1xQUJBTW6NGjbRnzx6HtuPHj2vBggU6cOCA6tWrp8cff1yRkZFyd3evtHMAAACozSjQAgAAAOXw4osv6tChQ1q2bJlWrVqlu+66S5KUkZGhgoICdevWTS+88EKlvf+XX36pw4cP68EHH5TNZrtl7OjRozVkyBBj283NzWG/zWbT2LFj1bJlS0VHRys9PV2LFi1Sbm7uDYu+AAAAKD8KtAAAAEA5eHp6KikpSTt27NCuXbt09uxZSdfnnu3du7dCQ0NlsVgq7f1fe+01zZw5U5K0f//+W8befffd6ty58033b9q0SVevXlVMTIx8fHwkSYWFhZo/f77Cw8Pl5+dXUWkDAADg/0eBFgAAACijnJwcvfrqq+rXr5+GDh2qxx57rMpzcHGpuGUldu3apR49ehjFWUkaOHCg5s2bpz179mj48OEV9l4AAAC4jkXCAAAAgDLy9PTU3r17lZuba3YqJRIfH6927drpgQceUGRkpHG3b7GUlBQFBAQ4tFmtVjVu3FgpKSlVmSoAAECtwR20AAAAQDl07dpVBw4c0JNPPml2Krc0bNgw9enTR40aNdLRo0e1evVqPf300/rwww/l7e0tScrMzJTVanU61tvb+7bz296K3W5XdnZ2mY9H2RX/8iA3N5d/A9RKfA2gNuP6N5fdbi/xNFcUaAEAAIBymDt3riZOnKjly5dr1KhRatKkSbn6y8rKUkZGxm3jmjdvLnd39xL3u3jxYuPvDz74oLp27arhw4dr8+bNmjRpUplyLan8/HwdOnSoUt8DN5aeni5JSk1N5Ydz1Ep8DaA24/o3X0nHahRoAQAAgHIYOnSoCgsLFR8fr/j4eLm6ujoNxi0Wi/71r3+VqL/k5GTNmTPntnHbtm1TYGBgmXKWpPvuu0/+/v46ePCg0Wa1WpWVleUUa7PZjLtsy8LNzU2tWrUq8/EoOy8vL0mSv7+/WrRoYXI2QNXjawC1Gde/uY4dO1biWAq0AAAAQDkMGDCgQvsbOXKkRo4cWaF9llRAQIDTXLNZWVm6cOGC09y0pWGxWIwfElG1PDw8jFf+DVAb8TWA2ozr31wlnd5AokALAAAAlMm1a9e0c+dO+fv7y8fHR3369NFdd91ldloldujQIaWmpmr48OFGW69evbRmzRqHuWiTk5Pl4uKi4OBgs1IFAAC4o1GgBQAAAErp0qVLCgsL05kzZ4wFIDw8PBQbG6uePXtWaS5paWn69ttvJUk5OTk6deqUkpOTJf337t6EhASdOnVK3bp1k6+vr3744QetWbNGTZo0cbhbNywsTO+++64iIiIUHh6u9PR0RUVFKSwsTH5+flV6XgAAALUFBVoAAACglOLi4pSWlqZx48ape/fuOnnypOLi4jR37lzt2LGjSnPZv3+/Zs2aZWx/+eWX+vLLLyVJR44ckXR97rnt27fr448/1tWrV/WrX/1KvXv3VmRkpHGnrCR5e3srKSlJf/rTnxQREaF69eppxIgRmj59epWeEwAAQG1CgRYAAAAopd27d+vxxx/XjBkzjLZGjRrp5ZdfVkpKSrnmay2t4cOHO0xTcCOhoaEKDQ0tUX+BgYFKTEysgMwAAABQEi5mJwAAAADUNOfOnVPXrl0d2rp27Sq73a5Lly6ZlBUAAABqIgq0AAAAQCnl5eWpbt26Dm3u7u6SpIKCAjNSAgAAQA3FFAcAAABAGaSlpengwYPGdlZWliTp5MmTDvO6FmvXrl2V5QYAAICagwItAAAAUAYrV67UypUrndrnz5/vsG2322WxWHTo0KGqSg0AAAA1CAVaAAAAoJQWLlxodgoAAAC4Q1CgBQAAAErpiSeeMDsFVEPp6enKzs42Ow0HaWlpDq/VjZeXl/z8/MxOAwAAU1GgBQAAAIByyszM1EsvvSS73W52KjcUFxdndgo35OLiori4uBvO2wwAQG1BgRYAAAAAyslqtWrZsmXV7g7a6s7Ly4viLACg1qNACwAAAAAVgEf1AQBAWbiYnQAAAAAAAAAA1FYUaAEAAG4jNjZWffv2VWxsrNmpAAAAALjDUKAFAAC4hdzcXG3dulVFRUXaunWrcnNzzU4JAAAAwB2EAi0AAMAtFBQUqKioSJJUVFSkgoICkzMCAAAAcCehQAsAAAAAAAAAJqFACwAAAAAAAAAmoUBbiY4fP67x48erc+fOCg4OVlRUlPLy8sxOCwAAAAAAAEA1UcfsBO5UNptNY8eOVcuWLRUdHa309HQtWrRIubm5mjt3rtnpAQAAAAAAAKgGKNBWkk2bNunq1auKiYmRj4+PJKmwsFDz589XeHi4/Pz8zE0QAAAAAAAAgOmY4qCS7Nq1Sz169DCKs5I0cOBAFRUVac+ePeYlBgAAAAAAAKDaoEBbSVJSUhQQEODQZrVa1bhxY6WkpJiUFQAAAAAAAIDqhCkOKklmZqasVqtTu7e3t2w2W5n7tdvtys7OLk9qkiSLxSJPT0/51fcud1/AzRRfXzk5ObLb7SZn819c/6gK1fX6L2axWMxOocbIyclx2nZ1dTUpm5qloq59u93ONQsAAIA7FgXaGiY/P1+HDh0qdz9ubm5q266dnun0cAVkBdxcQWGhfvjhB+Xn55udioHrH1WlOl7/0n+/BupQZCyRwsJCh21PT095enqalE3NUVBYqO8PHqyw69/d3b1C+gEAAACqGwq0lcRqtSorK8up3Wazydu77Hftubm5qVWrVuVJzZCfl6fqVTLAnaqirtmKxPWPqlIdr3+LxaI6rq5675svlX6l7E911Bb5ObkO27H/lyw3Tw+TsqkZ/Op765lOD+vXv/51hdxFe+zYsQrICgAAAKieKNBWkoCAAKe5ZrOysnThwgWnuWlLw2KxyMvLq7zpAQCg9Cs2pWVeNjuNaq8gN89h+2zWT6qTz92cJVFRdxozvQEAAADuZCwSVkl69eqlvXv3KjMz02hLTk6Wi4uLgoODTcwMAAAAAAAAQHVBgbaShIWFqV69eoqIiNDu3bv1wQcfKCoqSmFhYfLz8zM7PQAAAAAAAADVAAXaSuLt7a2kpCS5uroqIiJCS5cu1YgRIzRz5kyzUwMAAAAAAABQTTAHbSUKDAxUYmKi2WkAAAAAAAAAqKa4gxYAAAAAAAAATEKBFgAAAAAAAABMQoEWAAAAAAAAAExCgRYAAAAAAAAATEKBFgAAAAAAAABMQoEWAAAAqKEKCwu1bt06PfPMM+rWrZseeughjR49Wl999ZVTbF5enhYvXqzg4GB17txZ48ePV0pKilPc8ePHNX78eHXu3FnBwcGKiopSXl5eVZwOAABArUSBFgAAAKihcnNzFR8fr3bt2mnx4sVasmSJvL29NWbMGO3bt88hdsGCBXr//fc1ffp0RUdHKy8vT+PGjVNWVpYRY7PZNHbsWOXn5ys6OlrTp0/X5s2btWjRoqo+NQAAgFqjjtkJAAAAACgbDw8P7dixQ97e3kZbcHCwhgwZoqSkJPXo0UOSdP78eW3ZskXz5s3TiBEjJEkdOnTQI488ok2bNmnSpEmSpE2bNunq1auKiYmRj4+PpOt36c6fP1/h4eHy8/Or2hMEUGOkp6crOzvb7DScpKWlObxWJ15eXvy/CkASBVoAAACgxnJ1dXUozha3BQUF6dSpU0bb7t27VVRUpAEDBhhtPj4+Cg4O1q5du4wC7a5du9SjRw+jOCtJAwcO1Lx587Rnzx4NHz68ck8IQI2UmZmpl156SXa73exUbiouLs7sFJy4uLgoLi5OVqvV7FQAmIwCLQAAAHAHKSgo0DfffKOuXbsabSkpKWrYsKFTMTcwMFBbtmxxiPvtb3/rEGO1WtW4ceMbzlcLANL1/yeWLVtWLe+grc68vLwozgKQRIEWAAAAuKO89dZbSk9P17hx44y2zMxMNWjQwCnWarXKZrM5xN2oWODt7e0QV1p2u53CDXCHa9CgwQ3/n8Gt8X8jKlNubq7xyrVW9ex2uywWS4liKdACAAAA1UhWVpYyMjJuG9e8eXO5u7s7tO3Zs0fR0dF6/vnn1b59+8pKsdTy8/N16NAhs9MAAKBWSU9PlySlpqZSoDXJL8dqN0OBFgAAAKhGkpOTNWfOnNvGbdu2TYGBgcb2wYMHNW3aNA0ZMkRTp051iLVarbpy5YpTH5mZmQ7THlitVmVlZTnF2Ww2p+kRSsPNzU2tWrUq8/EAAKD0vLy8JEn+/v5q0aKFydnUPseOHStxLAVaAAAAoBoZOXKkRo4cWapjTp48qUmTJqlLly5asGCB0/6AgABdvHjRqdCakpKigIAAh7hfzjWblZWlCxcuOMSVlsViMX5IBAAAVcPDw8N45ftw1Svp9AaS5FKJeQAAAACoZBkZGZowYYLuvvturVq1Sm5ubk4xISEhcnFx0fbt2402m82m3bt3q1evXkZbr169tHfvXmVmZhptycnJcnFxUXBwcOWeCAAAQC3FHbQAAABADZWbm6tJkybpxx9/1O9//3v98MMPxj53d3e1bdtWktSkSRONGDFCUVFRcnFxkZ+fn9auXasGDRooLCzMOCYsLEzvvvuuIiIiFB4ervT0dEVFRSksLEx+fn5Vfn4AAAC1AQVaAAAAoIa6ePGiDh8+LEmaMmWKw7577rlHn332mbE9Z84c1atXT0uXLtXVq1d1//336+2333ZYdd3b21tJSUn605/+pIiICNWrV08jRozQ9OnTq+aEAAAAaiEKtAAAAEAN1axZMx05cqREse7u7poxY4ZmzJhxy7jAwEAlJiZWQHYAAAAoCeagBQAAAAAAAACTUKAFAAAAAAAAAJNQoAUAAAAAAAAAk1CgBQAAAAAAAACTsEgYAAC1lF99b7NTqBHy3XL13c+2mzbwkZunh2n51ARcWwAAAEDJUaAFAKAWKrIX6ZlOD5udRo1w5coVbddqYzui+wDVr1/fxIxqhiJ7kVwsPKwFAAAA3A6jZgAAaiEKZ6hsXGMAAABAyTByBgAAAAAAAACTUKAFAAAAAAAAAJNQoAUAAAAAAAAAk1CgBQAAAAAAAACTUKAFAAAAAAAAAJNQoAUAAAAAAAAAk1CgBQAAAAAAAACTUKAFAAAAAAAAAJNQoAUAAAAAAAAAk1CgBQAAAAAAAACTUKAFAAAAAAAAAJNQoAUAAAAAAAAAk1CgBQAAAAAAAACTUKAFAAAAAAAAAJNQoAUAAAAAAAAAk1CgBQAAAAAAAACTUKAFAAAAAAAAAJNQoAUAAAAAAAAAk1CgBQAAAAAAAACTUKAFAAAAAAAAAJNQoAUAAAAAAAAAk1CgBQAAAAAAAACT1OgC7cyZMxUUFOT0Z9euXQ5xeXl5Wrx4sYKDg9W5c2eNHz9eKSkpTv0dP35c48ePV+fOnRUcHKyoqCjl5eU5xb3//vvq37+/OnTooKFDh+rzzz93isnKytLs2bP10EMPqUuXLnrhhReUkZFRcScPAAAAAAAAoMarY3YC5dW8eXMtWbLEoS0wMNBhe8GCBdq2bZtmzpwpPz8/rVmzRuPGjdNHH32kBg0aSJJsNpvGjh2rli1bKjo6Wunp6Vq0aJFyc3M1d+5co6+PPvpIr7/+uiZPnqzu3btr27Ztmjp1qt577z117tzZiIuMjNSxY8f0hz/8QXXr1tWKFSs0adIkffDBB6pTp8Z/7AAAAAAAAAAqQI2vFHp4eDgURn/p/Pnz2rJli+bNm6cRI0ZIkjp06KBHHnlEmzZt0qRJkyRJmzZt0tWrVxUTEyMfHx9JUmFhoebPn6/w8HD5+flJklatWqXBgwcrMjJSktS9e3cdPXpUsbGxWrdunSTpwIED2r17txISEhQSEiJJ8vf316BBg7R9+3YNGjSoEj4JAAAAAAAAADVNjZ7ioCR2796toqIiDRgwwGjz8fFRcHCww1QIu3btUo8ePYzirCQNHDhQRUVF2rNnjyTp9OnTOnHihAYOHOjwHoMGDdK+ffuM6RB27dolq9Wq4OBgIyYgIEBt2rRxmn4BAAAAAAAAQO1V4wu0J0+eVNeuXdW+fXsNHz5cO3bscNifkpKihg0bytvb26E9MDDQYR7alJQUBQQEOMRYrVY1btzYiCt+9ff3d+orPz9fp0+fNuL8/f1lsVgc4gICAm449y0AAAAAAACA2qlGT3HQpk0bdejQQa1atVJWVpY2btyoiIgIrVy50rhjNjMz05hn9uesVqtsNpuxnZmZKavV6hTn7e1txBW//jKueLt4/83e09vbW999911ZTtVgt9uVnZ1drj4AAEDJ/fL7bnZ2tlxcavzvuGsUu93u9ItvXFdYWKj169frH//4h44dOya73a6goCC9+OKLeuCBBxxig4KCnI5v1KiR8bRYsePHj2vBggU6cOCA6tWrp8cff1yRkZFyd3ev1HMBAACorapVgTYrK0sZGRm3jWvevLnc3d01duxYh/bQ0FCFhYVp1apVDlMa3Eny8/N16NAhs9MAAKDWyMnJcdg+evSoPD09Tcqm9qI4eGO5ubmKj4/XE088oUmTJsnFxUWbN2/WmDFjlJCQoB49ejjEjx49WkOGDDG23dzcHPaXdOFcAAAAVJxqVaBNTk7WnDlzbhu3bds2BQYGOrW7uLioX79+evPNN5WbmysPDw9ZrVZduXLFKTYzM9Nh2gOr1aqsrCynOJvNZsQVv2ZlZalx48YOff18v9Vq1fnz52/ZV1m5ubmpVatW5eoDAACU3C/HEa1bt1b9+vVNyqZ2OnbsmNkpVFseHh7asWOHwxgzODhYQ4YMUVJSklOB9u67777lArslXTgXAAAAFadaFWhHjhypkSNHVmifAQEBunjxolNx9Jdzzt5oftisrCxduHDBiCt+/eWxKSkpcnNzU/PmzY24ffv2OT2Ol5qaqtatW5frfCwWi7y8vMrVBwAAKLmioiKHbS8vL74XVzGmN7g5V1dXpxsAXF1dFRQUpFOnTpW6v5stnDtv3jzt2bNHw4cPL2/KAAAA+IU7agK1oqIiJScn69e//rU8PDwkSSEhIXJxcdH27duNOJvNpt27d6tXr15GW69evbR3717jbljp+h29Li4uCg4OlnR9aoWWLVsqOTnZ4X23bdumHj16GI/e9erVSzabTfv27TNiUlNT9f333zu8JwAAAFDRCgoK9M033zgtgCtJ8fHxateunR544AFFRkbq7NmzDvtLsnAuAAAAKla1uoO2NNLS0jRz5kwNHjxYLVq0kM1m08aNG/Xdd98pOjraiGvSpIlGjBihqKgoubi4yM/PT2vXrlWDBg0UFhZmxIWFhendd99VRESEwsPDlZ6erqioKIWFhTk8yjVt2jS98soruvfee9WtWzdt27ZN//nPf7RhwwYjpkuXLgoJCdHs2bM1Y8YM1a1bV8uXL1dQUJD69etXNR8QAAAAaqW33npL6enpGjdunEP7sGHD1KdPHzVq1EhHjx7V6tWr9fTTT+vDDz807sItycK5ZcFCtwAAVL3c3Fzjle/DVa80C93W2AJtvXr1VL9+fa1evVqXLl2Sm5ub2rdvr3Xr1unhhx92iJ0zZ47q1aunpUuX6urVq7r//vv19ttvq0GDBkaMt7e3kpKS9Kc//UkRERGqV6+eRowYoenTpzv0NWTIEOXk5GjdunWKj4+Xv7+/YmJi1KVLF4e4FStWaOHChZo7d64KCgoUEhKiOXPmqE6dGvuRAwAAoAqUduHcn9uzZ4+io6P1/PPPq3379g77Fi9ebPz9wQcfVNeuXTV8+HBt3rxZkyZNqpjkb4KFbgEAqHrp6emSrj/VTYHWHCVd6LbGVgt9fHy0evXqEsW6u7trxowZmjFjxi3jAgMDlZiYeNv+SjJXboMGDfTGG2/ojTfeKFGOAAAAgFT2hXMPHjyoadOmaciQIZo6deptj7/vvvvk7++vgwcPGm0lWTi3LFjoFgCAqle8boK/v79atGhhcja1T2kWuq2xBVoAAADgTlSWhXNPnjypSZMmqUuXLlqwYEGZ37skC+eWBQvdAgBQ9YrXZ/Lw8OD7sAlKs9DtHbVIGAAAAFDbZGRkaMKECbr77ru1atUqubm5lei4Q4cOKTU1VR06dDDaSrJwLgAAACoWd9ACAAAANVRubq4mTZqkH3/8Ub///e/1ww8/GPvc3d3Vtm1bSVJCQoJOnTqlbt26ydfXVz/88IPWrFmjJk2aONytW9KFcwEAwH+lp6dXyzle09LSHF6rEy8vL8YWP0OBFgAA4Bbq1KkjFxcXFRUVycXFhQU/Ua1cvHhRhw8fliRNmTLFYd8999yjzz77TNL1uee2b9+ujz/+WFevXtWvfvUr9e7dW5GRkbJarcYxJV04FwAAXJeZmamXXnpJdrvd7FRuKi4uzuwUnLi4uCguLs5hHFKb8RMGAADALXh4eGjYsGHaunWrhg0bZszlBVQHzZo105EjR24bFxoaqtDQ0BL1WdKFcwEAwPUFNpctW1Yt76Ctzry8vCjO/gwFWgAAgNuIiIhQRESE2WkAAACgGuJRfZQXi4QBAAAAAAAAgEko0AIAAAAAAACASSjQAgAAAAAAAIBJKNACAAAAAAAAgEko0AIAAAAAAACASSjQAgAAAAAAAIBJKNACAAAAAAAAgEko0AIAAAAAAACASSjQAgAAAAAAAIBJKNACAAAAAAAAgEko0AIAAAAAAACASSjQAgAAAAAAAIBJ6pidAEouPz9fdrtd3377rdmpAAAAVJm8vDxZLBaz00AZMYYFAAC1UWnGsBRoaxB+MAEAALWRxWJhHFSD8W8HAABqo9KMYS12u91eyfkAAAAAAAAAAG6AOWgBAAAAAAAAwCQUaAEAAAAAAADAJBRoAQAAAAAAAMAkFGgBAAAAAAAAwCQUaAEAAAAAAADAJBRoAQAAAAAAAMAkFGgBAAAAAAAAwCQUaAEAAAAAAADAJBRoAQAAAAAAAMAkFGgBAAAAAAAAwCQUaAEAAAAAAADAJBRocceKjo5Wly5dnNoXLVqk++67T++//75mzpypIUOGVGoe+/fvV1BQkL799luj7aefflJERIQefPBBBQUFaceOHZWaA1AsOjpaQUFBxp9u3bpp1KhR+uKLL0rdV1BQkBISEm4Zc6PrHzBD8bV4qz/R0dEl7i80NFR//OMfbxmTmZmpoKAg/eUvfylv+gBqEcawgDPGsKjNGMfWDnXMTgCoSm+++aYSExM1f/58jRw5Uv/6178q/T3btWunP//5zwoMDDTa3n77be3fv1+LFy9Ww4YN5e/vX+l5AMU8PDyUlJQkScrIyNCaNWs0efJkvffee7r//vsr9L1udP0DZii+Fm9k5cqV+uc//6mQkJAS9xcTEyOr1VpR6QHALTGGBRjDovZiHFs7UKBFrbF8+XK99dZbmjdvnp566qlKfz+73a78/HzVr19fnTt3dtiXmpqqoKAgPfroo5WeB/BLLi4uDtdkp06d1Lt3b23durXCB7c3uv4BM9zsWty5c6f27t2rF1988YZ3rN1M27ZtKzA7ALg5xrDAdYxhUVsxjq0dmOIAtUJ0dLTWrFmj119/XU8//bTT/v3792vYsGHq3LmzRowYoe+++85h//r16/Xb3/5WXbt2VY8ePRQeHq7U1FSHmOJHzb744gsNHTpUHTp00Geffeb0eExQUJA++eQTffXVV8bjCICZ/Pz85Ovrq7Nnz0q6fkfCrFmz9Oijj6pjx47q16+fli1bpry8PKdjCwsLFRUVpe7du6tLly6aOXOmrly5Yuzn8TBUZ+np6Zo9e7YeeughTZ48WZKUnZ2tP/7xj+rfv786deqk0NBQzZ07V1lZWQ7H3ujRsM2bNys0NFSdOnXS2LFjdfLkySo7FwB3JsawwM0xhkVtxjj2zsMdtLjjrV69WjExMZo1a5aeffZZp/0XLlzQggUL9Lvf/U4NGjTQ0qVLNXXqVH366adyc3OTJJ0/f17PPvusmjZtqitXrmjTpk0KCwvTJ598Ih8fH6OvjIwMLViwQFOmTNHdd9+tpk2b6vz58w7v9+c//1lLlizR1atXNW/evEo9d6Akrl69KpvNpmbNmkmSfvzxR/n4+GjWrFmyWq06ceKEoqOjdeHCBS1cuNDh2HfffVft2rXT4sWLdebMGS1ZskTXrl3T8uXLzTgVoMSKior06quvSpKWLFkiF5frv7POzc1VYWGhpk+fLl9fX507d05r1qzR888/r3ffffem/X3++ed6/fXXNXz4cA0aNEgHDx7Uiy++WCXnAuDOxBgWuDXGsKitGMfemSjQ4o6WnZ2tFStWaOTIkRo3btwNY2w2mzZs2KBf//rXkiRPT0+NGTNG33zzjR544AFJ0uzZs434wsJCBQcHq0ePHvrkk08cHjWz2Wxat26dOnXqZLT9cnDbuXNnWa1WWSwWHpuBaQoKCiRd/4HszTffVL169TRmzBhJ1++QmTFjhhF7//33y9PTUzNnztTcuXPl6elp7HN3d1dsbKxcXV0lSXXr1tWcOXM0depU5uxCtbZu3Trt379fq1evlp+fn9Hu6+ur+fPnG9sFBQVq1qyZnn76aaWmpt50vsXVq1frgQceMH4AfPjhh3Xt2jXFxcVV7okAuCMxhgVujDEswDj2TkWBFnc0Dw8PdejQQX//+9/1xBNPqGvXrk4xd911lzGwlaRWrVpJuv7IQLF///vfWrlypb7//nv99NNPRvuJEycc+vLx8XEY2ALVUXZ2ttq1a2dsu7q6Ki4uTgEBAZKuzz2XlJSkzZs368yZM7p27ZoRe/r0abVu3drYfuSRR4yBrSQNGDBAv//97/Xtt98yuEW19c0332jVqlUaPXq0QkNDnfZv3bpViYmJOnnypLKzs432EydO3HBgW1hYqIMHDxp3MhTr378/A1sAZcIYFnDGGBZgHHsnYw5a3NFcXFy0evVqtWzZUpMnT9aRI0ecYn65emHxI2HF39DPnj2rCRMmqLCwUPPnz9fGjRu1ZcsWNWzY0OGbviQ1atSoks4EqDgeHh7asmWL3n//fb355ptq3LixZsyYoYyMDElSUlKSFi9erEcffVRxcXF6//33NXfuXElyuuYbNmzosF2/fn3VrVvX6Auobq5cuaKXXnpJrVq10muvvea0/9NPP9WMGTPUsWNHrVixQps3b1ZsbKwk5+u/2OXLl1VQUCBfX1+Hdr4nACgrxrCAM8awqO0Yx97ZuIMWd7wGDRooISFBo0aN0sSJE7Vx40Y1b968xMd/+eWXys7OVkxMjDEQLigokM1mc4q1WCwVljdQWVxcXNShQwdJUseOHeXv768nn3xSsbGxmj9/vpKTkxUaGqqXX37ZOOb48eM37OvSpUsO21euXNG1a9d01113Vd4JAOUwb948Xbp0SfHx8XJ3d3fan5ycrDZt2jgsnPDPf/7zln36+vqqTp06unz5skP7xYsXKyZpALUSY1jAEWNY1HaMY+9s3EGLWqFhw4Zav369LBaLJkyYoAsXLpT42NzcXFksFtWp89/fZ3z88cfG/EdATdehQwcNHjxYf/nLX3ThwgXl5uYad+EU+9vf/nbDYz///HMVFhYa28nJybJYLMbgGahOtm7dqr///e+aM2fOTR9fLM31X8zV1VVt27bVp59+6tD+ySeflC9hALUeY1jg5hjDojZhHHvn4w5a1BrNmjVTQkKCnn32WT333HPasGFDiY7r3r27JGnWrFkKCwvTDz/8oLffftvpsTKgJnv++ee1bds2JSUlqWfPnnrnnXe0YcMGtWzZUn/961918uTJGx6Xl5eniIgIjRo1ylgBt3///szdhWrn1KlTmj9/vtq3b69WrVrp3//+t1NM/fr11bNnT/3xj39UbGysunTpoi+++EL79u27bf+TJ0/W888/r1mzZhmr33744YeVcCYAahvGsMDNMYZFbcA4tnagQItapXXr1lq7dq3Gjx+v8PDwEj3CEhQUpIULFyomJkbh4eFq06aNVq5cqcjIyMpPGKgiAQEBGjRokDZu3Kh//OMf+vHHH7Vq1SpJ1yeInzNnjiZPnux03OjRo3X58mW99tprysvLU9++fY25voDq5KuvvlJ2dra+++47h5XLf+6hhx5SYmKizpw5ow0bNighIUEhISFaunSpnnzyyVv2/+ijj2r+/Plas2aNPvroI3Xq1MlYgR0AyosxLHBjjGFRGzCOrR0sdrvdbnYSAAAAAAAAAFAbMQctAAAAAAAAAJiEAi0AAAAAAAAAmIQCLQAAAAAAAACYhAItAAAAAAAAAJiEAi0AAAAAAAAAmIQCLQAAAAAAAACYhAItAAAAAAAAAJiEAi0AAAAAAAAAmIQCLQAAAAAAAACYpI7ZCQAAyubIkSOKjY3Vt99+q4sXL8rHx0etWrVSaGioRo8ebXZ6AAAAwA0xjgUARxa73W43OwkAQOl8/fXXGjNmjJo2baphw4apcePGOnfunL755hudOnVKn376qdkpAgAAAE4YxwKAM+6gBYAaaM2aNWrQoIG2bNkiq9XqsO/SpUsmZQUAAADcGuNYAHDGHLQAUAOdOnVKrVq1chrUSlLDhg0dtj/88EMNHz5cHTt21EMPPaTp06fr3LlzDjFfffWVXnjhBfXp00ft27dX79699cYbbyg3N9ch7sKFC5o1a5Z69eql9u3bKyQkRFOmTNGZM2cc4t577z0NHjzYiJk/f74yMzMdYkaPHq0hQ4bo2LFjGj16tDp16qSHH35Y69atK89HAwAAgGqMcSwAOOMOWgCoge655x4dOHBAR48eVevWrW8at3r1aq1cuVIDBw7UiBEjdPnyZW3YsEHPPPOMtm7dagyMk5OTlZubq1GjRsnHx0f/+c9/tGHDBp0/f16rVq0y+ps2bZqOHTumZ599Vvfcc48uX76sPXv26Ny5c2rWrJkkKTo6WjExMerZs6dGjRql1NRUbdy4Ud9++602btwoNzc3oz+bzabnnntOffv21cCBA/XJJ59oyZIlat26tXr37l1Jnx4AAADMwjgWAG7ADgCocXbv3m1v06aNvU2bNvannnrKHhUVZf/yyy/teXl5RsyZM2fsbdq0sa9evdrh2CNHjtjbtm3r0J6Tk+P0HmvXrrUHBQXZ09LS7Ha73W6z2eytW7e2v/XWWzfN69KlS/Z27drZJ0yYYC8sLDTaN2zYYG/durV9y5YtRtuzzz5rb926tf1///d/jbZr167Zg4OD7dOmTSv5hwEAAIAag3EsADhjigMAqIGCg4O1adMmhYaG6vDhw3rrrbc0ceJE9erVSzt37pQkffrppyoqKtLAgQN1+fJl40+jRo3UokUL7d+/3+jPw8PD+Ht2drYuX76sLl26yG636/vvvzdi3Nzc9M9//lM2m+2Gee3du1f5+fkaM2aMXFz++y1m5MiRql+/vr744guHeC8vLz3++OPGtru7uzp06KDTp0+X/0MCAABAtcM4FgCcMcUBANRQHTt2VExMjPLy8nT48GHt2LFDiYmJevHFF7V161adOHFCdrtd/fr1u+Hxder891vA2bNntWrVKn322WdOg9YrV65Iuj7ofOWVV7R48WIFBwerU6dO6tOnj7H6bnE/khQQEODQh7u7u5o3b660tDSH9iZNmshisTi0eXt768iRI2X4RAAAAFATMI4FAEcUaAGghnN3d1fHjh3VsWNHtWzZUrNmzVJycrKKiopksVi0bt06ubq6Oh3n5eUlSSosLNT48eONebQCAgLk5eWl9PR0zZw5U0VFRcYx48aNU2hoqHbs2KHdu3dr5cqVio+PV1JSktq2bVvq3G+UFwAAAGoHxrEAcB0FWgC4g7Rv316SlJGRoXvvvVd2u13NmjWTv7//TY85evSoTpw4ocWLF2vYsGFG+549e24Yf++992rChAmaMGGCTpw4oWHDhmn9+vVasmSJmjZtKklKSUlR8+bNjWPy8vJ05swZ9ezZswLOEgAAAHcaxrEAajPmoAWAGuj//u//ZLfbndqL58YKCAhQv3795OrqqpiYGKdYu92uH3/8UZKMObZ+HmO32/XOO+84HJOTk6Nr1645tN17772qV6+e8vLyJEk9e/aUm5ub3n33XYf+tmzZoqysLFa0BQAAqOUYxwKAM+6gBYAaaMGCBcrJyVHfvn0VEBCg/Px8ff311/r44491zz33aPjw4bJarYqMjNTSpUuVlpamxx57TPXq1dOZM2e0Y8cOPfnkk5o4caICAgJ07733avHixUpPT1f9+vX1ySefKDMz0+E9T5w4oXHjxmnAgAFq1aqVXF1dtWPHDl28eFGDBw+WJPn6+io8PFwxMTF67rnnFBoaqtTUVP3P//yPOnTooKFDh5rxcQEAAKCaYBwLAM4o0AJADfTaa68pOTlZX3zxhf785z8rPz9fTZs21dNPP60pU6bIarVKkn73u9+pZcuWSkxMVGxsrKTrCxoEBwcrNDRUkuTm5qY1a9ZowYIFWrt2rerWrau+ffvqmWeecViZtkmTJho8eLD27dunv/71r3J1dVVAQIBWrFih/v37G3HTpk2Tr6+vNmzYoIULF8rb21tPPvmkXnrpJbm5uVXhpwQAAIDqhnEsADiz2G/0bAEAAAAAAAAAoNIxBy0AAAAAAAAAmIQCLQAAAAAAAACYhAItAAAAAAAAAJiEAi0AAAAAAAAAmIQCLQAAAAAAAACYhAItAAAAAAAAAJiEAi0AAAAAAAAAmIQCLQAAAAAAAACYhAItAAAAAAAAAJiEAi0AAAAAAAAAmIQCLQAAAAAAAACYhAItAAAAAAAAAJiEAi0AAAAAAAAAmOT/A0/sxdWy/s+AAAAAAElFTkSuQmC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078" name="AutoShape 6" descr="data:image/png;base64,iVBORw0KGgoAAAANSUhEUgAABWgAAAN0CAYAAAApt8GeAAAAOnRFWHRTb2Z0d2FyZQBNYXRwbG90bGliIHZlcnNpb24zLjEwLjAsIGh0dHBzOi8vbWF0cGxvdGxpYi5vcmcvlHJYcgAAAAlwSFlzAAAPYQAAD2EBqD+naQABAABJREFUeJzs3X98zfX///H7me3MsI3VWn7bVuZHllFGm+VHYiPVu7xR+ZFhejPvoT56C+mdkHciLLaZVPQDlbcyPwq1Ny29C8mvRpuQX0n7lc3O7Hz/2Hev944jsR3O2O16uXThvF6P83g99/I6enqc5+vxMlmtVqsAAAAAAAAAANeci7MHAAAAAAAAAABVFQVaAAAAAAAAAHASCrQAAAAAAAAA4CQUaAEAAAAAAADASSjQAgAAAAAAAICTUKAFAAAAAAAAACehQAsAAAAAAAAATkKBFgAAAAAAAACchAItAAAAAAAAADgJBVoAgENt27ZNQUFBCgoKUpcuXZw9HKeZPXu2goKC1Lx5cx06dMjZw7monJwctWnTRkFBQXrmmWecPRwAAABcI4899piCgoLUtWtXFRUVOXs4F5WWlmb8u2LFihXOHg5wVbk6ewAAbizffPONHn/8cZttn3zyiW6//XYnjej6N2/ePM2fP/+y4x9++GHNmDHjsuO3bdumr7/+WpLUvHlz3XfffVc8RkfJysrS8uXLlZqaqoMHDyovL0/e3t669dZbFR4ergcffFABAQFXfRz79u3TZ599JkmqX7++/vKXv1zR+0+cOKElS5ZIkiIjI9WkSRNjX9k/z/r162vTpk3Gvi5duujnn382Xr/77rtq06aN8frDDz/UP/7xD0nSzTffrK1bt/7heyWpWrVq8vT0VGBgoKKiotSvXz+5uv7vf/1eXl567LHHlJSUpI8//liDBg3SHXfccUU/KwAANzLmtldPUFCQ3TZXV1d5e3srKChIDz30kB588EEnjOzGt379en377beSpGHDhtnMDwcMGGD826DsvyuOHj2qrl27GnG1a9fWxo0bVatWLWPbs88+q48++kiSFBUVpdmzZ1/0vaXc3NxUp04dtWzZUv369VOnTp1s9nfo0EF33nmnvvvuO7322mvq2bOnatSo4YAzAFQ+rKAF4FCl/0Mu68MPP3TCSHC5vv76a82fP1/z5883ipLO8Pnnn6t79+6aNWuW/vvf/+q3336TxWLR6dOntXv3bi1cuFCvvPLKNRnLvn37jHNysWv6zyxatEgFBQWSZPePuitROqktr/PnzysrK0vffvutXnzxRaO4W9bjjz8uk8kkq9Wq119/vULHAwDgRsPc9toqKirSr7/+qi+//FL/93//pzlz5jh7SDek0sUCNWvW1EMPPVSuHFlZWXrjjTcqNA6LxaJTp05p8+bNiomJuegq2dK59C+//KLly5dX6HhAZUaBFoDD5Ofna926dXbbP/74Y50/f94JI7q4goICFRcXO3sYl+2RRx7RsmXLjP9ee+01m/0TJ0602T9ixAgnjbT8tm3bplGjRikrK0uS5Ovrq3HjxumNN95QUlKSnnnmGTVv3ty5g7xMZ8+eNf4xV79+fZsVsFfq66+/tlkle7n+8pe/aNmyZYqPj1dISIixffXq1Tp58qRNbN26dY0xfv7553b7AQCoqpjbXjsjRozQsmXLNHv2bAUGBhrb33zzTVksFieO7MbzzTffKD09XZJ03333qXr16uXOtWTJEv32229X/L7Sf7/MmDFDt9xyi7F90aJFdrFlx/j++++Xe6xAZUeLAwAO8+mnnyovL0+S1Lp1a+Xk5CgjI0O//PKLtmzZonvvvVeS9J///EdDhw6VJPn7+9tNfCdMmKAPPvhAkhQTE6OxY8dKKpkkL126VOvXr1dGRoYKCwtVr149de7cWTExMfLx8TFybNu2TQMHDpRUUiRLTk7WrFmztG3bNuXk5Oi///2vsrKytGDBAu3fv18nT55UTk6OXF1dVa9ePYWHhysmJkY33XSTzdh+/vlnvfzyy9q6dausVqvuvvtuPfPMM3rhhReMW4GmT59uc0t8VlaWlixZok2bNunIkSM6f/68GjZsqB49emjIkCGqWbPmJc9rvXr1VK9ePeP10aNHbfY3bdpUd911l822jRs36r333tPu3buVk5OjWrVqqWXLlvrrX/+qHj16GHkuvNXoo48+sikubtq0Sb/99ptmz56tffv26fjx48rOzpbJZJKfn59CQ0MVExOjhg0bXvJnuJTi4mJNmTLFmHzXr19fy5cv180332zEREREaOjQocZkstTp06eVnJysL774Qj///LOsVqvq1auniIgIRUdHy8/Pz4gtLCxUYmKiNmzYoMOHD6uoqEje3t5q0KCBWrVqpZiYGPn6+trdbvf111/bbPvhhx8u+fOkpqYan4OOHTvKZDKV78T8f7Nnz1ZYWNgVvadevXrGNeHn56dHH33U2Hf8+HGb8yJJnTp10rfffqvz589r7dq1Gjx4cIXGDADAjYC57dWZ215M48aNjbmLi4uL/v73v0sq+eI7KytLvr6+Ruz58+e1YsUKrV69WgcOHFB+fr58fX0VFhZmMy/NyMhQZGSkJMnT01Nbt26Vu7u7kSc+Pl5z586VJPXq1UuzZs26ovyS/Xx627Zteu211/Tpp58qKytLt99+u8aOHauOHTsaMWXbXV3Ymqxse4Grdd5TUlKM31/YUuBK5eXlKTExUePHj7+i95X+++Wuu+7SmTNnNHPmTEnSsWPH7GJr1qypu+66S1u2bFFGRob27dt33SzcAK4EBVoADlP2FrDevXsrOzvbWO354YcfGpPYsLAw1a1bV8ePH1dmZqZ2795t9L0sLCzUhg0bJEkmk8koLJ05c0aDBg2yK9D99NNPWrJkidauXatly5ZdtFCYk5Ojxx57TGfOnLHZfujQIbtb1CwWi3788Uf9+OOP+uyzz7Rq1Sp5eXlJKrmtpl+/fjp16pQR//nnn2vHjh3y9PS86Dn56aefNHDgQJ04ccJm+8GDBzV//nxt2LBBb7/9tmrXrn3R95fH1KlT9fbbb9tsy8rK0tatW7V161b17dtX//znPy8735kzZy76bfXhw4d1+PBhbdiwQR988EG5i7S7du1SRkaG8Xr06NE2xdmymjZtavz+xx9/1IABA/Trr7/axGRmZiozM1OrV6/WkiVL1KxZM0nSpEmTtGrVKpvY06dP6/Tp09q5c6d69eplM/kvr//+97/G7++8885y52ndurV27typ77//Xp9++qm6detW4bFJ0q233mq3LTg42Pj9tm3bKNACACDmthdzree2ZrNZderUMV4XFBRo+PDh2rZtm03csWPHtGLFCq1fv17JyckKDg5WQECA2rRpo+3btys3N9dop1Xqk08+MX5f+udyJfkvpm/fvjYPh927d6+eeuoprV+/XvXr1y/3eXDkeS87V/2jn+NylM5V33nnHQ0ePNhuAUB5XGyeKpXMqbds2SKpZK5KgRY3IlocAHCI48eP66uvvpJU0tw/MjJSDzzwgLF/06ZNys7OllTyrXjZb4M//vhj4/eff/65cnNzJUl33323GjVqJEn65z//aUxgmzdvrldffVVJSUnGJOvkyZN69tlnLzq23NxcFRUVacKECVq8eLGee+45mc1m1a9fX+PGjdPcuXO1ePFivf3224qPjze+4f75559t+hzNnj3bmMDWqlVLkydP1uuvv67bb7/dblVrqWeeecaYSIWGhio+Pl4LFy5Uu3btJEnp6emaNm3an5/gy7Rx40ab4uzgwYOVmJioYcOGGSs533//fa1du1a33HKLli1bZvNnERERYddKwdvbW6NHj9bs2bO1aNEivf3221q4cKF69+4tScrOztbixYvLPeY9e/bYvA4PD7+s9z3zzDNGcbZJkyZ69dVX9dprr+m2226TJP3222965plnjFv+Sv9x5OnpqenTp+vNN9/U7NmzFRsbq1atWsnFpeR/iRe2iWjevLlNC4k/U/YfWo0bN76sn+VievfubTwQ7bXXXruiWxePHTumb775Rhs3btT06dON7ffff/9FJ77+/v7G7/9shTAAAFUBc9trO7f96aef9M0332jt2rU2D8d9/PHHbR5gNW/ePKN42qBBA02fPl2LFy9Wv379JJUUr8eOHauioiJJsrmLqOyfy549e4wFAg0aNFD79u3Llf9C2dnZmjp1ql577TWjYGmxWPTee+9d8Tkpy1Hnvbi4WAcPHpRU8oCuBg0alHtMI0eOlJubmwoKCrRgwYIrem96erq++eYbrVq1Sm+++aaxvXSV+IXKPnCXuSpuVKygBeAQ//73v40CUnh4uHx8fOTj46OQkBDt2LFDhYWFWrNmjR577DFJJT0yX3/9dVmtVq1Zs0bjx4+Xi4uLzcSpdEKVk5NjFNckaejQocaE5/HHH9emTZtksVj0zTffKCMjwyhqlfXyyy+rS5cukmTcLh4YGKjvv/9e77zzjn744Qfl5OTY9RP77rvvJJVMZtavX29sj42NNRrWh4SEqFOnTjp37pzNe9PT0433u7m5afjw4Ub/pCeeeMK4fSklJUXPP/98uW4Hu1DZlR6dO3c2Hgp177336vDhw8bP8NFHHykyMlJ33XWX0tLSjPfcdNNNdu0Sbr75ZrVs2VLvvvuu9uzZo99++81uUlr6c5ZHTk6OzevL+eZ///79NoXdV199VS1btpRU8ufaq1cvSSV/Brt371ZwcLBq1aqls2fPysPDQ02aNFGzZs2Mp8COGjXKyHXXXXfp8OHDxmtPT0+7c3IpZVezVGT1iIuLi0aPHq24uDgdOHDA5rPxZz788EObFTRms1lPPvmkzc9Zlre3t/H7C1fjAABQFTG3vbZz24ULF2rhwoXGay8vL8XExGjIkCHGNqvVajO/GTBggFHwfuCBB7Rx40b98ssvOnLkiNLS0tSxY0dFRkbqpZde0u+//64vvvhCOTk58vLysvlzeeSRR4wHpl5p/gs9//zzRluFw4cPG20Tyq6qvVKOPO9ZWVnGdV12/lce9evXV58+ffTOO+9o5cqVio6Ovuz3Tp061eb1Lbfcori4OD3yyCMXjS871gvvngNuFBRoAThE2cJg2dUFDzzwgHbs2GHElE5iGzRooA4dOujLL7/UL7/8oq+++krBwcH64osvJJUUxUpXEBw6dMhmcjlu3Lg/HMeBAwfsJrFms1mdO3e2i33ttdf+9Kn1pSsjfv31V6MHmSSbBz/5+PgoICBA+/bts3lv6bfTUsk35380abFYLMrMzDRuhauIsq0C2rZta7Ovbdu2xkS8bNyfWblypZ577rlLxpSep/Iovc2uVFZW1h+2OChVdvzVq1c3irOSdPvtt8vLy8so/GZkZCg4OFj9+vXT3LlzderUKfXv319SSX/Wli1b6oEHHlBUVFS5f4arpUePHmrRooX27t2r+fPna/jw4eXKU1hYaPxj0mw22+23Wq0VHSoAADcU5rbOndvm5ORoz549Ki4uNu5yOnPmjM0XyWXvErrQgQMH1LFjR9WoUUNRUVFasWKFCgsLtX79ej3yyCNGH9ayq5/Lk/9CHTp0MH5ftjVD6YNwy+NqnXdHzP+eeuopffjhhyooKND8+fPL/eyF06dP27X7AKoaWhwAqLDt27fbfCs8btw4BQUFKSgoyKbX6a5du/Tjjz8ar8t+Q/rxxx9r/fr1xjf1vXr1KtcTRc+ePWu37eabb7abLFgsFi1ZssR4/cADDygpKUnLli0zHvIg/W/iUtEHPf2Zi427skhKSjJ+37FjRy1YsEDLli0zVudKFZvglS2uStKXX35Z7lyXMnLkSC1YsEAPP/ywWrRooRo1aujkyZPatGmTxowZY3N7VUWUfaBHRSbjUsl1FxcXJ6lkFUbpA0b+zKhRo7Rnzx4tWbLEKIB//fXXeuGFFy4aX7bAXnb8AABURcxtK+5K57bTp0/X999/r9mzZ8vNzU1SyYrQsu0Oynv8sn8uq1ev1tdff62TJ09KKlkd/Ud9Ty83f1ll756qVq3aRWPKnvsL70qr6J1Mf3bea9eubRS8L7yLrTxuueUWY+X16tWrbT4Pl/LWW29p586dxiKQ4uJiLVmyRCtWrLhofNk59YUPugNuFKygBVBhFz546VI++ugjPf3005Kkbt26ydvbW9nZ2dqwYYN++uknI65Pnz7G75s0aaJq1aoZKw3WrVtn0zOz1NmzZ41b1su62AQ0KyvLZgLzwgsvGLcDlV0xUcrHx0eenp5GD7HvvvvOaKp/5syZi65IDQwMNH5fvXp1bdmy5aIPXPijcZdHQECAMTHavn27zb6yr8uuxCh7fi7W57Ts01T/7//+z3hQV+ntVBUVHByswMBAY9yvvfaawsLCLjr5OnDggG6//Xab8RcUFGjv3r1q0aKFpJJVBmUnnKWxVqtVXbp0MW4HtFqtWrdunVEAXbNmjQYNGiRJxsRVuvg5uZSmTZsa5yYzM9NuJfOVuvfee9W2bVt9++23xoqdy+Hq6qoOHTromWee0aRJkySVTJwHDRpkt7IiMzPTZvwAAFRlzG2dM7c1m82KiorSDz/8YLQ7WLx4sfr37y8/Pz/5+PioTp06+u233yRJycnJF312wYXHDwkJMeaa33zzjRYtWmTsK/vnUt78V6rs3WOlhWKpZGV12TlZKUeedxcXF912221KT0+XxWLRkSNHyv2g31LDhw/X+++/r7y8PO3ateuy3+fh4aGBAwfqu+++Mx7YNmfOHD3wwAN2X2YwV0VVQIEWQIWcO3fOuEVIkoYMGWL0aiqVnp6ud955R1JJP68xY8aoWrVqcnd31wMPPKClS5cqLy9P3377raSSByWUXVXp5eWlbt26ad26dZJKJgHR0dFq3LixcnJydOzYMf33v/9VRkaGEfNnbr75ZtWoUcOYyM6ePVudO3fWV199Zff0W6lkMtO9e3etXLlSkjR37ly5ubnplltuUXJysl2PLkkKCgpSq1at9P3336ugoECDBg3SgAEDdOutt+q3337T0aNH9dVXXxnfGDvCww8/rE8//VSStHnzZr388svq0KGDvvnmG5teZw8//LDx+7K3X33zzTf6/PPPVatWLfn6+qpx48Zq2LChUTxdsGCBHn30Ue3Zs8emT1hFuLi46Pnnn1d0dLQsFouOHj2qhx56SIMGDVKLFi2MhxmsXr1at956q15//XU1a9ZMLVu2NPrQjh07VqNHj5aLi4vi4+ON3E2bNjWKkf3791dAQIBCQkJ0yy23yNXVVf/5z3+M2LJ/hmVXP/zwww/asGGDfHx85OXl9aeTwnbt2mnp0qWSSlbWlH04RXmNGTNGTzzxRLne+5e//EUJCQnGwz7i4+PtHuRQdjJd+rAJAACqIua2zp/bDhkyRG+//bZ+//13nTt3TklJSZo4caJMJpP+8pe/KDk5WZI0fvx4DRs2TE2bNtXZs2d17Ngxfffdd9q8ebPdQoVHH31UL7/8soqLi435n4+Pj02riIrkvxJlH3j13//+V9OnT1fdunX19ttv2/UMlhx/3tu1a2e0E9i1a1eFC7S1a9fWk08+qXnz5pXr/aNGjVJKSoqKi4t1+vRpvffeexo8eLBNzPfff2/8/u67767IcIFKiwItgAr59NNPjW/ea9WqpTFjxtj1uMzJydGKFStksVh06tQpbd26VREREZJKJkulxaxSFytoPf/888rIyFB6eroOHz6s559/3i6mfv36lz1uk8mkJ554QomJiZKkt99+W2+//bakkknLxVaHxsXFKTU1VadOnVJOTo4xBk9PT9WvX18///yz3XteeeUVDRo0SCdOnNCePXsu+jReRxbEunbtqieeeEJLly6V1WrV4sWLtXjxYpuYv/71r8bDCySpffv2cnFxUXFxsX7++WfFxMRIKvlzeOmllzRw4EDjZ01JSTH+0fJH56k8QkNDNX/+fI0fP15ZWVk6deqU/vWvf9nFlb0FbebMmRo4cKB+/fVXZWZmasyYMTaxtWvX1r/+9S9jNWxWVpY++OCDP2wTULZoHRISIg8PD+Xn5ys3N1exsbGSSvqK/dnENyIiwliR8p///EdWq7XCtxHefffdCg8P15YtW674va6urho2bJjxZ7h582bt379fzZo1M2I+//xzSSW34pW9NgAAqGqY2zp/buvt7a3HH3/c+FlWrFihmJgY+fr6avTo0fr+++/19ddf6/Tp05fsE1vWgw8+qFdffVUWi8XY9tBDDxntFEqVN/+VCAsLU0BAgDIyMmS1Wo25paenp+rWravjx4/bvceR5z0qKsq4Rj///HP17Nmz/D/M/zd48GAtXbrUWH18Jfz9/RUZGak1a9ZIkhYtWqT+/fvL3d1dkpSXl6dvvvlGUklx2xHP7QAqI3rQAqiQsrdMderU6aIPIPLy8lJoaOhF33PhioLSlQcX8vHx0YoVKzR+/Hi1bt1anp6exrf8rVu31ogRIzR37twrGvvf//53/f3vf1fDhg3l7u6uoKAgvfLKKzaFurJ8fX317rvvqnv37qpZs6Zq1Kih8PBwvfPOOza3Knl4eBi/b9KkiVavXq2RI0cafU/NZrPq1aunu+++W2PGjNGUKVOuaNx/ZtKkSYqPj1fHjh1Vp04dubq6qnbt2rrnnns0Z84cvfjiizbxgYGBevnll3X77bfbTVIlqV+/fpoyZYoCAgLk7u6uJk2aaMKECRo5cqRDx92pUyetX79e48aN01133aU6derIzc1NN910k1q2bKkRI0bYPETjtttu0+rVqzVkyBBjbKXjGzhwoFavXm1ThBw+fLh69Oihxo0bq1atWqpWrZpq166tdu3aaebMmTbf1Ht7e2vevHm64447LnpNX4qHh4ceeughSSXtIUpXz1RUaSuG8vjLX/5iFLetVqvNKuNjx44ZrRPuvfde1a1bt0LjBADgesbctnLMbZ988knjuAUFBcaq1urVq2vJkiV68cUX1a5dO9WuXVuurq66+eab1bJlSw0ePNgoTJd100032T1Y7WKF8/LmvxLVqlXT66+/ro4dO8rDw0M1a9ZU165d9f777//halZHnve2bdsad4R99tlnKigoqNDPI5V8mVHeh9lK0ogRI4wFDb/88ouWL19u7Cs7xtIH/QI3IpOVRzcDwGW72GrIX3/9VV26dDEmDv/+979tCoOoek6cOKHu3buroKBAkZGRmjNnjrOH9Idmzpyp5ORkmUwmrVy5klUJAABUIcxtq6YNGzYYd4g9//zzeuyxx5w8oj/Wp08f7dq1S76+vtqwYYPDnt0BVDasoAWAKzBo0CC9//772rt3r44fP64vv/xSf/vb34wJbLNmzRQUFOTkUcLZbr31Vj355JOSpPXr19s8CboyycnJ0XvvvSep5GnPFGcBAKhamNtWTffff7/xINvk5GQVFRU5eUQXl5aWZjwr4e9//zvFWdzQWEELAFcgLCxMp0+fvui+m266SUuWLOHJogAAALguMLcFgMqBh4QBwBXo37+/UlNTdfjwYeXm5ho9TyMiIjRw4ED5+Pg4e4gAAADAZWFuCwCVAytoAQAAAAAAAMBJ6EELAAAAAAAAAE5CgRYAAAAAAAAAnIQetNeRHTt2yGq1ys3NzdlDAQAAuGYsFotMJpNCQkKcPRSUA3NYAABQFV3JHJYC7XXEarWKlsEAAKCqYf5zfWMOCwAAqqIrmf9QoL2OlK46aNWqlZNHAgAAcO18//33zh4CKoA5LAAAqIquZA5LD1oAAAAAAAAAcBIKtAAAAAAAAADgJBRoAQAAAAAAAMBJKNACAAAAAAAAgJNQoAUAAAAAAAAAJ6FACwAAAAAAAABOQoEWAAAAAAAAAJyEAi0AAAAAAAAAOAkFWgAAAAAAAABwEgq0AAAAAAAAAOAkFGgBAAAAAAAAwEko0AIAAAAAAACAk1CgBQAAAAAAAAAnoUALAAAAAAAAAE5CgRYAAOBPxMfHq1u3boqPj3f2UADgivD3FwAAlR8FWgAAgEsoKCjQqlWrVFxcrFWrVqmgoMDZQwKAy8LfXwAAXB8o0AIAAFxCUVGRiouLJUnFxcUqKipy8ogA4PLw9xcAANcHCrQAAAAAAAAA4CQUaAEAAAAAAADASSjQAgAAAAAAAICTUKAFAAAAAAAAACehQAsAAAAAAAAATkKBFgAAAAAAAACchAItAAAAAAAAADgJBVoAAAAAAAAAcBIKtAAAAAAAAADgJBRoAQAAAAAAAMBJKNAClyk+Pl7dunVTfHy8s4cCAAAAAACAGwQFWuAyFBQUaNWqVSouLtaqVatUUFDg7CEBAIBKasCAAQoKCrrof2vWrDHiVqxYoe7du6tVq1bq3bu3Nm/ebJcrNzdXEyZMULt27RQSEqLRo0fr1KlTdnHbt29X3759FRwcrM6dOysxMVFWq9Umxmq1KjExUZ06dVJwcLD69u2rnTt32uU6efKkYmNjFRISonbt2um5555TXl5exU8MAAAALooCLXAZioqKVFxcLEkqLi5WUVGRk0cEABVTbC129hBwg6vK19jzzz+v999/3+a/qKgoubq6qkOHDpKkNWvWaNKkSYqMjFRSUpJat26tUaNG2RVM4+LitHXrVk2ZMkWvvPKKMjMzNWzYMJu5yE8//aTo6Gj5+voqISFBgwYN0ty5c7V48WKbXElJSZo7d64GDx6shIQE+fr6asiQITpy5IgRY7FYNHToUB06dEizZs3SlClTtGXLFo0bN+7qnbArVJWvLVw7XGcAgGvJ1dkDAAAA156LyUXLvvuPTuZlO3solZ4l3/auifiv1snNo7qTRnN98Kvlrcfv7OjsYTjNbbfdZrdt3LhxCgsLk4+PjyRp7ty56tmzp+Li4iRJ7du3V3p6uuLj45WUlCRJ2rFjh7Zs2aLk5GSFh4dLkvz9/RUVFaUNGzYoKipKkpScnKw6dero1VdfldlsVocOHXTmzBktXLhQAwYMkNls1rlz55SQkKAhQ4Zo8ODBkqS2bduqR48eSk5O1pQpUyRJ69ev14EDB5SSkqKAgABJkpeXl6Kjo7Vr1y4FBwdfrdN22fj76/Lx91f5VPW/wwAA1x4FWgAAqqiTedn6OeeMs4dR6RUVFNq8PpabJVeL2UmjwfVo+/btOnr0qFGMPXLkiA4dOqRnnnnGJi4qKkozZ85UYWGhzGazUlNT5eXlpbCwMCMmICBAzZs3V2pqqlGgTU1NVbdu3WQ2m21yJSQkaMeOHQoNDdX27duVl5enyMhII8ZsNqtbt2769NNPjW2pqakKCgoyirOSFBYWptq1a+uLL76oFAVaib+/Lhd/fwEAcH2gxQEAAABwFX3yySeqUaOGunbtKknKyMiQVLIatqzAwEBZLBaj5UBGRob8/f1lMpls4gICAowcZ8+e1fHjx20KqqUxJpPJiCv99cK4wMBAHTt2zOivn5GRYRdjMpnk7+9v5AAAAIBjsYIWAAAAuEqKioq0du1adenSRTVq1JAkZWeX3Jrv5eVlE1v6unR/Tk6OPD097XJ6e3tr9+7dkkoeInaxXGazWR4eHja5zGaz3N3d7Y5ptVqVnZ2t6tWrX/KYpbnKw2q16uzZs+V+fymTySQPD48K5wEuR35+vt3D9gAAuFxWq9Xui/Y/QoEWAAAAuEq2bt2qM2fOqFevXs4eilNZLBbt27evwnk8PDzUokULB4wI+HOZmZnKz8939jAAANexsi2oLoUCLQAAAHCVfPLJJ6pdu7bxkC+pZDWqVLL61dfX19iek5Njs9/Ly0snTpywy5mdnW3ElK52LV1JW6qwsFD5+fk2uQoLC3Xu3DmbVbQ5OTkymUw2cXl5eRc9Zt26da/wp/8fNze3iz487Upd7ioUwBH8/f1ZQQsAKLeDBw9ediwF2iqs2FosFxNtiHF1cZ0BAKqqgoICffbZZ+rdu7fc3NyM7aU9Xi/s95qRkSE3Nzc1bNjQiEtLS7O7PS4zM1NNmzaVJNWoUUN169a16w+bmZkpq9Vq5C/9NTMzU82aNbM5Zr169VS9enUjLj093SaX1WpVZmamzcPKrpTJZDJaPADXC9ppAAAq4kq+WKZAW4W5mFy07Lv/6GRe+fuJVRWW/AKb1/FfrZObR3Unjeb64VfLW4/f2dHZw4ADxMfHa9WqVXrooYc0cuRIZw8HAK4LmzZt0tmzZ/XAAw/YbG/YsKGaNGmidevW6b777jO2p6SkqEOHDsatcBEREXr99deVlpame+65R1JJgXXv3r0aOnSo8b6IiAht3LhRzzzzjFEITklJkZeXl0JCQiRJbdq0Ua1atbR27VqjQGuxWLRhwwZFRETY5Fq9erUOHTqkJk2aSJLS0tKUlZWle++918FnCAAAABIF2irvZF62fs454+xhVHpFBYU2r4/lZsnVcnl9RIDrXUFBgVatWqXi4mKtWrVK0dHRxkorAMAf+/jjj1WvXj21bdvWbl9sbKyefvppNWrUSKGhoUpJSdGuXbu0dOlSIyYkJETh4eGaMGGCxo8fL3d3d82ePVtBQUG6//77jbjo6Gh9/PHHGjdunPr376/09HQlJydrzJgxRrHX3d1dMTExmjdvnnx8fNS0aVO9++67ysrKUnR0tJGre/fuSkhIUGxsrMaOHav8/HzNnDlTnTp1UnBw8FU8WwAAAFUXBVoAwCUVFRWpuLhYklRcXKyioiInjwgAKr/s7Gz95z//0aBBgy56e1uvXr2Un5+vpKQkJSYmyt/fX/PnzzdWvJaaM2eOpk+frsmTJ6uoqEjh4eGaOHGiXF3/N41v3LixkpOTNWPGDA0fPlw+Pj4aPXq0hgwZYpNr2LBhslqtWrx4sc6cOaPmzZsrOTnZaKkglfSKXbRokaZOnaqxY8fK1dVV3bp104QJExx8hgAAAFCKAi0AAADgYN7e3tq9e/clY/r06aM+ffpcMsbT01PTpk3TtGnTLhnXpk0bLV++/JIxJpNJMTExiomJuWScn5+f5s2bd8kYAAAAOA5P7gEAAAAAAAAAJ6FACwAAAAAAAABOQoEWAADgElyquUilPURNppLXAAAAAOAg/AsDAADgElzcXHVzSDPJZNLNIc3k4kYLfwDXB75gAgDg+sC/MIDLYExurVYmtwBQBTXo0k4NurRz9jAA4IqUfsF0esd+vmACAKAS4//QwGVgcnvjKbYWy8VEoR1XF9cZAMDZ+IIJAIDKjyoTcJmY3N5YXEwuWvbdf3QyL9vZQ6n0LPkFNq/jv1onN4/qThrN9cOvlrcev7Ojs4cBAAAAAKjkKNACqLJO5mXr55wzzh5GpVdUUGjz+lhullwtZieNBgAAAACAG0ulve/yww8/VFBQkN1/r7zyik3cihUr1L17d7Vq1Uq9e/fW5s2b7XLl5uZqwoQJateunUJCQjR69GidOnXKLm779u3q27evgoOD1blzZyUmJspqtdrEWK1WJSYmqlOnTgoODlbfvn21c+dOu1wnT55UbGysQkJC1K5dOz333HPKy8ur2EkBAAAAAAAAcEOp9CtoFy1aJE9PT+O1n5+f8fs1a9Zo0qRJGjFihNq3b6+UlBSNGjVKy5YtU+vWrY24uLg4HTx4UFOmTJG7u7vmzJmjYcOG6YMPPpCra8kp+OmnnxQdHa2wsDDFxcXphx9+0CuvvKJq1aopOjrayJWUlKS5c+fq6aefVlBQkJYtW6YhQ4bo3//+txo2bChJslgsGjp0qCRp1qxZKigo0Msvv6xx48YpISHhap4uAAAAAAAAANeRSl+gbdmypXx8fC66b+7cuerZs6fi4uIkSe3bt1d6erri4+OVlJQkSdqxY4e2bNmi5ORkhYeHS5L8/f0VFRWlDRs2KCoqSpKUnJysOnXq6NVXX5XZbFaHDh105swZLVy4UAMGDJDZbNa5c+eUkJCgIUOGaPDgwZKktm3bqkePHkpOTtaUKVMkSevXr9eBAweUkpKigIAASZKXl5eio6O1a9cuBQcHX6WzBQAAAAAAAOB6UmlbHPyZI0eO6NChQ4qMjLTZHhUVpbS0NBUWlvRMTE1NlZeXl8LCwoyYgIAANW/eXKmpqca21NRUde3aVWaz2SZXTk6OduzYIamkBUJeXp7NMc1ms7p162aXKygoyCjOSlJYWJhq166tL774wkFnAAAAAAAAAMD1rtIXaHv16qXmzZura9euSkhI0Pnz5yVJGRkZkkpWw5YVGBgoi8WiI0eOGHH+/v4ymUw2cQEBAUaOs2fP6vjx4zYF1dIYk8lkxJX+emFcYGCgjh07poKCAiPuwhiTySR/f38jBwAAAAAAAABU2hYHvr6+io2N1Z133imTyaRNmzZpzpw5OnnypCZPnqzs7GxJJa0Dyip9Xbo/JyfHpodtKW9vb+3evVtSyUPELpbLbDbLw8PDJpfZbJa7u7vdMa1Wq7Kzs1W9evVLHrM0V3lZrVadPXu2QjmkkoKxh4dHhfMAlyM/P9/ugXvOxPV/ZVyquUgmk2S1SiZTyWtctsp2/Ut8BnDtOOr6t1qtdl+2AwAAADeKSlug7dixozp27Gi8Dg8Pl7u7u958802NGDHCiSNzLovFon379lU4j4eHh1q0aOGAEQF/LjMzU/n5+c4ehoHr/8q4uLnq5pBmOr1jv24OaSYXt0r7v45KqbJd/xKfAVw7jrz+y7ahAgAAAG4k19W/siMjI7V48WLt27dP3t7ekkpWv/r6+hoxOTk5kmTs9/Ly0okTJ+xyZWdnGzGlq11LV9KWKiwsVH5+vk2uwsJCnTt3zmYVbU5Ojkwmk01cXl7eRY9Zt27d8v3w/5+bm5tuu+22CuWQxCoUXFP+/v6VagUh1/+Va9ClnRp0aefsYVyXKtv1L/EZwLXjqOv/4MGDDhgNAAAAUDldVwXaskp7vF7Y7zUjI0Nubm5q2LChEZeWlmZ3a1xmZqaaNm0qSapRo4bq1q1r1x82MzNTVqvVyF/6a2Zmppo1a2ZzzHr16ql69epGXHp6uk0uq9WqzMxMm4eVlYfJZFKNGjUqlAO41riVGlUZ1z+qMkdd/3ypAAAAgBvZddVIMCUlRdWqVVOLFi3UsGFDNWnSROvWrbOL6dChg3EbXEREhLKzs5WWlmbEZGZmau/evYqIiDC2RUREaOPGjbJYLDa5vLy8FBISIklq06aNatWqpbVr1xoxFotFGzZssMu1f/9+HTp0yNiWlpamrKws3XvvvY45GQAAAAAAAACue5V2BW10dLRCQ0MVFBQkSdq4caOWL1+ugQMHGi0NYmNj9fTTT6tRo0YKDQ1VSkqKdu3apaVLlxp5QkJCFB4ergkTJmj8+PFyd3fX7NmzFRQUpPvvv9/meB9//LHGjRun/v37Kz09XcnJyRozZoxR7HV3d1dMTIzmzZsnHx8fNW3aVO+++66ysrIUHR1t5OrevbsSEhIUGxursWPHKj8/XzNnzlSnTp0UHBx8LU4fAAAAAAAAgOtApS3Q+vv764MPPtCJEydUXFysJk2aaMKECRowYIAR06tXL+Xn5yspKUmJiYny9/fX/PnzjRWvpebMmaPp06dr8uTJKioqUnh4uCZOnChX1//9+I0bN1ZycrJmzJih4cOHy8fHR6NHj9aQIUNscg0bNkxWq1WLFy/WmTNn1Lx5cyUnJxstFaSSPrGLFi3S1KlTNXbsWLm6uqpbt26aMGHCVTpbAAAAAAAAAK5HlbZAO3HixMuK69Onj/r06XPJGE9PT02bNk3Tpk27ZFybNm20fPnyS8aYTCbFxMQoJibmknF+fn6aN2/eJWMAAAAAAAAAVG3XVQ9aAAAAAAAAALiRUKAFAAAAAAAAACehQAsAAAAAAG5I8fHx6tatm+Lj4509FAD4QxRoAQAAAADADaegoECrVq1ScXGxVq1apYKCAmcPCQAuigItAAAAAAC44RQVFam4uFiSVFxcrKKiIiePCAAujgItAAAAAAAAADgJBVoAAAAAAAAAcBIKtAAAAAAAAADgJBRoAQAAAAAAAMBJKNACAAAAAAAAgJNQoAUAAAAAAAAAJ6FACwAAADjYRx99pIceekitWrVSaGiohg4dqoKCAmP/pk2b1Lt3b7Vq1Urdu3fXBx98YJejsLBQL7/8ssLCwtS6dWs9+eSTysjIsIv78ccf9eSTT6p169YKCwvTzJkzVVhYaBe3YsUKde/eXa1atVLv3r21efNmu5jc3FxNmDBB7dq1U0hIiEaPHq1Tp05V8GwAAADgUijQAgAAAA60YMECvfjii4qKilJycrL++c9/qkGDBjp//rwk6ZtvvtGoUaPUunVrJSUlKTIyUs8995zWrVtnk2fq1KlasWKFxowZo3nz5qmwsFCDBw9Wbm6uEZOdna1BgwbJYrFo3rx5GjNmjJYvX64ZM2bY5FqzZo0mTZqkyMhIJSUlqXXr1ho1apR27txpExcXF6etW7dqypQpeuWVV5SZmalhw4apqKjo6pwsAAAAyNXZAwAAAABuFBkZGZo/f75ef/113Xvvvcb27t27G79fsGCBgoOD9c9//lOS1L59ex05ckRz585Vjx49JEknTpzQypUr9fzzz+vRRx+VJLVq1UqdO3fWe++9p2HDhkmS3nvvPf3++++aP3++ateuLUk6f/68XnjhBcXExMjPz0+SNHfuXPXs2VNxcXHGMdPT0xUfH6+kpCRJ0o4dO7RlyxYlJycrPDxckuTv76+oqCht2LBBUVFRV+msAQAAVG2soAUAAAAc5MMPP1SDBg1sirNlFRYWatu2bUYhtlRUVJR+/PFHHT16VJK0ZcsWFRcX28TVrl1bYWFhSk1NNbalpqaqQ4cORnFWkiIjI1VcXKytW7dKko4cOaJDhw4pMjLS7phpaWlGO4TU1FR5eXkpLCzMiAkICFDz5s1tjgkAAADHokALAAAAOMh3332npk2b6vXXX1eHDh10xx13qF+/fvruu+8kSYcPH5bFYlFAQIDN+wIDAyXJ6DGbkZGhm266Sd7e3nZxZfvQZmRk2OXy8vKSr6+vTS6pZDXshbksFouOHDlixPn7+8tkMtnEBQQEXLT3LQAAAByDFgcAAACAg/zyyy/avXu30tPT9fzzz8vDw0MLFy7UkCFDtGHDBmVnZ0sqKaKWVfq6dH9OTo48PT3t8nt5eRkxpXEX5pIkb29vI66ix/T29tbu3bsv46f/Y1arVWfPnq1QDkkymUzy8PCocB7gcuTn58tqtTp7GDZMJpPc3d3l4sJaK1xdxcXFOnfuXKX7DADXE6vVavfF9x+hQAsAAAA4SGkh8rXXXlOzZs0kSXfeeae6dOmipUuXGr1dqxqLxaJ9+/ZVOI+Hh4datGjhgBEBfy4zM1P5+fnOHoaN0s/Asu/+o5N52X/+hirOkl9g8zr+q3Vy86jupNFcP/xqeevxOztWys8AcL0xm82XFUeBFgAAAHAQLy8v1a5d2yjOSiW9Y1u0aKGDBw+qZ8+ekqTc3Fyb9+Xk5EiS0dLAy8tLeXl5dvlzcnJs2h54eXnZ5ZJKVsWWxpX+mpubK19f30se88SJE5fMVV5ubm667bbbKpRD0mWvQgEcwd/fv9KtHiz9DJzMy9bPOWecPJrKr6ig0Ob1sdwsuVour1iCyvkZAK4nBw8evOxYCrQAAACAg9x22206fPjwRfedO3dOjRo1kpubmzIyMtSxY0djX2mP19J+sgEBATp9+rRdcfTCnrMX6w+bm5urX375xSbXxd6bkZEhNzc3NWzY0IhLS0uzux0vMzNTTZs2vfKTUYbJZFKNGjUqlAO41mingaqOzwBQMVfyxTKNawAAAAAH6dy5s7Kysmxu5//tt9+0Z88etWzZUmazWaGhoVq/fr3N+1JSUhQYGKgGDRpIksLDw+Xi4qINGzYYMdnZ2dqyZYsiIiKMbREREfryyy+N1bCStG7dOrm4uCgsLEyS1LBhQzVp0kTr1q2zO2aHDh2MW+8iIiKUnZ2ttLQ0IyYzM1N79+61OSYAAAAcixW0AAAAgIPcd999atWqlUaPHq0xY8bI3d1diYmJMpvNeuyxxyRJTz31lAYOHKgpU6YoMjJS27Zt0yeffKLZs2cbeW699VY9+uijmjlzplxcXOTn56eEhAR5enqqX79+Rly/fv309ttva+TIkYqJidHJkyc1c+ZM9evXT35+fkZcbGysnn76aTVq1EihoaFKSUnRrl27tHTpUiMmJCRE4eHhmjBhgsaPHy93d3fNnj1bQUFBuv/++6/B2QMAAKiaKNACAAAADuLi4qLExERNnz5dkydPlsVi0V133aVly5YZ/V/vuusuzZs3T3PmzNHKlStVr149TZ06VZGRkTa5Jk6cqJo1a2rWrFn6/fff1aZNG73xxhvy9PQ0Yry9vfXmm2/qxRdf1MiRI1WzZk09+uijGjNmjE2uXr16KT8/X0lJSUpMTJS/v7/mz5+vkJAQm7g5c+YYYy8qKlJ4eLgmTpwoV1f+2QAAAHC1MNMCAAAAHMjHx0f/+te/LhnTtWtXde3a9ZIxZrNZ48eP1/jx4y8ZFxgYqCVLlvzpuPr06aM+ffpcMsbT01PTpk3TtGnT/jQfAAAAHIMetAAAAAAAAADgJBRoAQAAAAAAAMBJKNACAAAAAAAAgJNQoAUAAAAAAAAAJ6FACwAAAAAAAABOQoEWAAAAAADccFyquUgmU8kLk6nkNQBUQvztBAAAAAAAbjgubq66OaSZZDLp5pBmcnFzdfaQAOCi+NsJAAAAAADckBp0aacGXdo5exgAcEmsoAUAAAAAAAAAJ6FACwAAAAAAANxg4uPj1a1bN8XHxzt7KPgTFGgBAAAAAACAG0hBQYFWrVql4uJirVq1SgUFBc4eEi6BAi0AAAAAAABwAykqKlJxcbEkqbi4WEVFRU4eES6FAi0AAAAAAAAAOAkFWgAAAAAAAABwEgq0AAAAAAAAAOAkFGgBAAAAAAAAwEko0AIAAAAAAACAk1CgBQAAAAAAAAAnoUALAAAAAAAAAE5CgRYAAAAAAAAAnIQCLQAAAAAAAAA4yXVToP39998VERGhoKAgff/99zb7VqxYoe7du6tVq1bq3bu3Nm/ebPf+3NxcTZgwQe3atVNISIhGjx6tU6dO2cVt375dffv2VXBwsDp37qzExERZrVabGKvVqsTERHXq1EnBwcHq27evdu7caZfr5MmTio2NVUhIiNq1a6fnnntOeXl5FTsRAAAAAAAAAG4Y102B9vXXX9f58+fttq9Zs0aTJk1SZGSkkpKS1Lp1a40aNcquYBoXF6etW7dqypQpeuWVV5SZmalhw4apqKjIiPnpp58UHR0tX19fJSQkaNCgQZo7d64WL15skyspKUlz587V4MGDlZCQIF9fXw0ZMkRHjhwxYiwWi4YOHapDhw5p1qxZmjJlirZs2aJx48Y59sQAAAAAAAAAuG65OnsAl+PHH3/UO++8o/Hjx+v555+32Td37lz17NlTcXFxkqT27dsrPT1d8fHxSkpKkiTt2LFDW7ZsUXJyssLDwyVJ/v7+ioqK0oYNGxQVFSVJSk5OVp06dfTqq6/KbDarQ4cOOnPmjBYuXKgBAwbIbDbr3LlzSkhI0JAhQzR48GBJUtu2bdWjRw8lJydrypQpkqT169frwIEDSklJUUBAgCTJy8tL0dHR2rVrl4KDg6/yWQMAAAAAAABQ2V0XK2inTp2qfv36yd/f32b7kSNHdOjQIUVGRtpsj4qKUlpamgoLCyVJqamp8vLyUlhYmBETEBCg5s2bKzU11diWmpqqrl27ymw22+TKycnRjh07JJW0QMjLy7M5ptlsVrdu3exyBQUFGcVZSQoLC1Pt2rX1xRdfVOR0AAAAAAAAALhBVPoC7bp165Senq6RI0fa7cvIyJAku8JtYGCgLBaL0XIgIyND/v7+MplMNnEBAQFGjrNnz+r48eM2BdXSGJPJZMSV/nphXGBgoI4dO6aCggIj7sIYk8kkf39/IwcAAAAAAACAqq1StzjIz8/XjBkzNGbMGNWqVctuf3Z2tqSS1gFllb4u3Z+TkyNPT0+793t7e2v37t2SSh4idrFcZrNZHh4eNrnMZrPc3d3tjmm1WpWdna3q1atf8pilucrDarXq7Nmz5X5/KZPJJA8PjwrnAS5Hfn6+3cP2nInrH9dSZbv+JT4DuHYcdf1brVa7L9oBAACAG8VVL9BmZGQoKSlJ06dPv+L3LliwQDfddJMeeeSRqzCy65PFYtG+ffsqnMfDw0MtWrRwwIiAP5eZman8/HxnD8PA9Y9rqbJd/xKfAVw7jrz+y7agAgAAAG4kFSrQnjlzRkeOHJGXl5ddm4Fdu3YpMTFRmzZtkouLyxUXaH/++WctXrxY8fHxxurW0pWjZ8+e1e+//y5vb29JJatffX19jffm5ORIkrHfy8tLJ06csDtGdna2EVO62rX0WKUKCwuVn59vk6uwsFDnzp2zWUWbk5Mjk8lkE5eXl3fRY9atW/eKzkVZbm5uuu2228r9/lKsQsG15O/vX6lWEHL941qqbNe/xGcA146jrv+DBw86YDQAAABA5VSuAm1hYaGee+45rVmzxph0N23aVPHx8apevbomT56szZs3q3r16urfv78GDx58xcc4evSoLBaLhg8fbrdv4MCBuvPOOzVr1ixJ9v1eMzIy5ObmpoYNG0oq6ReblpZmd3tcZmammjZtKkmqUaOG6tata9cfNjMzU1ar1chf+mtmZqaaNWtmc8x69eqpevXqRlx6erpNLqvVqszMTJuHlV0pk8mkGjVqlPv9gDNwKzWqMq5/VGWOuv75UgEAAEhSsbVYLqZK/zglXOeccZ2Vq0C7cOFCffzxx2rdurXatGmjo0eP6tNPP9Wzzz6rX3/9Vb/88otGjhypJ554QrVr1y7XwJo3b6633nrLZtu+ffs0ffp0vfDCC2rVqpUaNmyoJk2aaN26dbrvvvuMuJSUFHXo0MG4FS4iIkKvv/660tLSdM8990gqKbDu3btXQ4cONd4XERGhjRs36plnnpGbm5uRy8vLSyEhIZKkNm3aqFatWlq7dq1RoLVYLNqwYYMiIiJscq1evVqHDh1SkyZNJElpaWnKysrSvffeW65zAgAAAAAAUFW5mFy07Lv/6GRe+Z/tU1VY8gtsXsd/tU5uHtWdNJrrh18tbz1+Z8drftxyFWjXrFmjsLAwJScnG9sWL16smTNn6rbbbtPatWttWg6Uh5eXl0JDQy+6r2XLlmrZsqUkKTY2Vk8//bQaNWqk0NBQpaSkaNeuXVq6dKkRHxISovDwcE2YMEHjx4+Xu7u7Zs+eraCgIN1///1GXHR0tD7++GONGzdO/fv3V3p6upKTkzVmzBij2Ovu7q6YmBjNmzdPPj4+atq0qd59911lZWUpOjrayNW9e3clJCQoNjZWY8eOVX5+vmbOnKlOnTopODi4QucGAAAAAACgKjqZl62fc844exiVXlFBoc3rY7lZcrXQ07+yKtd63WPHjqlr164227p16yZJGjp0aIWLs1eiV69eevHFF/XJJ58oOjpa27dv1/z5840Vr6XmzJmje+65R5MnT9a4cePUpEkTJSYmytX1fzXqxo0bKzk5WSdOnNDw4cO1ePFijR49WkOGDLHJNWzYMI0aNUqLFy/W8OHDdeLECSUnJxstFaSSXrGLFi1SkyZNNHbsWD3//PO65557jLYMAAAAuPF8+OGHCgoKsvvvlVdesYlbsWKFunfvrlatWql3797avHmzXa7c3FxNmDBB7dq1U0hIiEaPHq1Tp07ZxW3fvl19+/ZVcHCwOnfurMTERLvev1arVYmJicZigb59+2rnzp12uU6ePKnY2FiFhISoXbt2eu655y76XAUAAAA4TrlW0FosFuOhWqVq1aolSfLz86v4qP5AaGiofvjhB7vtffr0UZ8+fS75Xk9PT02bNk3Tpk27ZFybNm20fPnyS8aYTCbFxMQoJibmknF+fn6aN2/eJWMAAABw41m0aJHNfLnsHHnNmjWaNGmSRowYofbt2yslJUWjRo3SsmXL1Lp1ayMuLi5OBw8e1JQpU+Tu7q45c+Zo2LBh+uCDD4xFBj/99JOio6MVFhamuLg4/fDDD3rllVdUrVo1m7u7kpKSNHfuXD399NMKCgrSsmXLNGTIEP373/82FhlYLBaj/desWbNUUFCgl19+WePGjVNCQsLVPF0AAABVWrkKtNIfP6yBhzgAAACgqmvZsqV8fHwuum/u3Lnq2bOn4uLiJEnt27dXenq64uPjlZSUJEnasWOHtmzZouTkZIWHh0uS/P39FRUVpQ0bNigqKkqSlJycrDp16ujVV1+V2WxWhw4ddObMGS1cuFADBgyQ2WzWuXPnlJCQoCFDhhgP723btq169Oih5ORkTZkyRZK0fv16HThwQCkpKcaDcb28vBQdHa1du3bRpgsAAOAqKfcjyZ577jm1adPG+K+05cGIESNstrdp00Zt27Z12IABAACAa+nIkSMOzXXo0CFFRkbabI+KilJaWpoKC0v6xaWmpsrLy0thYWFGTEBAgJo3b67U1FRjW2pqqrp27Wo8L6E0V05Ojnbs2CGppAVCXl6ezTHNZrO6detmlysoKMgozkpSWFiYateurS+++MJBZwAAAAAXKtcK2ocfftjR4wAAAAAqlf379yspKUnr16/X7t27r+i9vXr10m+//aZ69erpr3/9q4YOHapq1aopIyNDUslq2LICAwNlsVh05MgRBQYGKiMjQ/7+/nZ3pwUEBBg5zp49q+PHj9sUVEtjTCaTMjIyFBoaasRfGBcYGKg333xTBQUFql69ujIyMuxiTCaT/P39jRwAAABwvHIVaKdPn+7ocQAAAADXzIEDB/Tuu+/q8OHD8vb2Vo8ePYyH3u7Zs0dz5szRli1b5OrqqgceeOCy8/r6+io2NlZ33nmnTCaTNm3apDlz5ujkyZOaPHmysrOzJZW0Diir9HXp/pycHLtnPkiSt7e3USzOzc29aC6z2SwPDw+bXGazWe7u7nbHtFqtys7OVvXq1S95zNJc5WW1WnX27NkK5ZBKCsYeHh4VzgNcjvz8fLsH7jkbnwFcS5XtM8D1j2vJEde/1Wq97Faw5e5BCwAAAFyPdu7cqUGDBuncuXPGtpSUFD377LM6f/68XnnlFdWsWVPR0dEaOHCgbrnllsvO3bFjR3Xs2NF4HR4eLnd3d7355psaMWKEQ3+O64nFYtG+ffsqnMfDw0MtWrRwwIiAP5eZman8/HxnD8MGnwFcS5XtM8D1j2vJUdd/2TZUl1KuAm1WVtYVv6d27drlORQAAADgUPHx8XJ3d9f8+fN111136ejRo/rHP/6huXPn6ty5cxo8eLCeeuqpi64mLY/IyEgtXrxY+/btk7e3t6SS1a++vr5GTE5OjiQZ+728vHTixAm7XNnZ2UZM6fhKV9KWKiwsVH5+vk2uwsJCnTt3zmYVbU5Ojkwmk01cXl7eRY9Zt27d8v3w/5+bm5tuu+22CuWQeCAxri1/f/9KtXpQ4jOAa6uyfQa4/nEtOeL6P3jw4GXHlqtA2759+yv6YJhMJu3du7c8hwIAAAAcateuXXrssceMla633367nn32WT3xxBN68skn9X//939X7dilPV4v7PeakZEhNzc3NWzY0IhLS0uzuzUuMzNTTZs2lSTVqFFDdevWtesPm5mZKavVauQv/TUzM1PNmjWzOWa9evVUvXp1Iy49Pd0ml9VqVWZmps3DysrDZDKpRo0aFcoBXGvcSo2qjs8AqjJHXP9XUjstV4F25MiRf3oQq9WqTZs2OeRWJgAAAMBRcnJy1KRJE5ttpQ/tat++vcOPl5KSomrVqqlFixby9fVVkyZNtG7dOt133302MR06dDBug4uIiNDrr7+utLQ03XPPPZJKCqx79+7V0KFDjfdFRERo48aNeuaZZ+Tm5mbk8vLyUkhIiCSpTZs2qlWrltauXWsUaC0WizZs2KCIiAibXKtXr9ahQ4eM85OWlqasrCzde++9Dj8vAAAAKFGuAm1sbOwl92/cuFHx8fHat2+fGjVqpKeeeqpcgwMAAAAczWq1qlq1ajbbXFxcJF1+n7A/Eh0drdDQUAUFBUkqmRcvX75cAwcONFoaxMbG6umnn1ajRo0UGhqqlJQU7dq1S0uXLjXyhISEKDw8XBMmTND48ePl7u6u2bNnKygoSPfff7/N8T7++GONGzdO/fv3V3p6upKTkzVmzBjjZ3F3d1dMTIzmzZsnHx8fNW3aVO+++66ysrIUHR1t5OrevbsSEhIUGxursWPHKj8/XzNnzlSnTp0UHBxcofMCAACAP+bQh4R99tlnev31143C7IwZM/TAAw/YTYABAAAAZ/riiy90+vRp43V+fr5MJpPWrVun/fv328SaTCYNHjz4svL6+/vrgw8+0IkTJ1RcXKwmTZpowoQJGjBggBHTq1cv5efnKykpSYmJifL399f8+fONFa+l5syZo+nTp2vy5MkqKipSeHi4Jk6cKFfX/03hGzdurOTkZM2YMUPDhw+Xj4+PRo8erSFDhtjkGjZsmKxWqxYvXqwzZ86oefPmSk5ONloqSCV9YhctWqSpU6dq7NixcnV1Vbdu3TRhwoTL+tkBAABQPg4p0H722WfGitnGjRtr+vTp6t27t7ESAQAAAKhMPvnkE33yySd2299//327bVdSoJ04ceJlxfXp00d9+vS5ZIynp6emTZumadOmXTKuTZs2Wr58+SVjTCaTYmJiFBMTc8k4Pz8/zZs375IxAAAAcKwKFWgvLMzOmDGDwiwAAAAqtY0bNzp7CAAAAIChXAXaTz/9VPHx8frhhx/UuHFjvfzyy3rggQcozAIAAKDSq1+/vrOHAAAAABjK/ZAwk8mk5s2bKyoqSmfOnNGbb775h/FXclsYAAAAAAAAgPJzqeYimUyS1SqZTCWvUWmVu8WB1WrV3r17tXfv3j+NpUALAACAymLq1KlX/J7L7S0LAABQGbi4uermkGY6vWO/bg5pJhc3hzyGCldJuf506NsFAACA69XSpUsvK85kMhm/p0ALAACuNw26tFODLu2cPQxchnIVaOnbBQAAgOvV/v37/zTmwofhAgAAAFcL65sBAACA/++zzz7T66+/rn379qlRo0aaPn26evfu7exhAQAA4AZWrgItfbsAAABwIyktzO7du1eNGzc2CrMuLjxQAwAAAFdXuQq0l9u3q5TJZKJACwAAgEqntJXB/v371ahRI82YMYPCLAAAAK6pchVoL6dvFwAAAFBZffrpp0ZhlhWzAAAAcKZr3oP27NmzWrx4sR566CE1aNDgWh8eAAAAVdyDDz6o9PR0NWnSRDNnztQDDzwgk8nk7GEBAACginJKgTY+Pl5t27alQAsAAIBr7ocffpAkHT9+XFOmTNGUKVMuGW8ymfTtt99eg5EBAACgKrrmBVpJslqtzjgsAAAAoIceeogVswAAAKg0nFKgBQAAAJxlxowZzh4CAAAAYOApCAAAAAAAAADgJKygBQAAQJWSlZV1xe+pXbu2w8cBAAAASBRoAQAAUMW0b9/+invQ7tu37yqNBgAAAFUdBVoAAABUKSNHjuQhYQAAAKg0KNACAACgSomNjXX2EAAAAABDhR8S9o9//EPffffdH+7ftWuX/vGPfxivfXx8tHHjRrVt27aihwYAAACuqdOnT6t58+ZKS0tz9lAAAABwg6hwgfajjz7S4cOH/3D/0aNHtWrVqv8d0MVF9evXl9lsruihAQAAgGvOarU6ewgAAAC4gVS4QPtnTp06perVq1/twwAAAAAAAADAdadcPWg/++wzbdy40Xi9fPlyffnll3Zxubm5+vLLL3XHHXeUf4QAAAAAAAAAcIMqV4H2xx9/1Lp16yRJJpNJ3333nXbv3m0TYzKZVKNGDd1999169tlnKz5SAAAAAAAAALjBlKtAGxMTo5iYGElSs2bN9NJLL+mBBx5w6MAAAAAAAAAA4EZXrgJtWfv373fEOAAAAAAAAACgyqlwgTYvL0+5ubmqW7euse3kyZN67733VFhYqO7duys4OLiihwEAAAAAAACAG06FC7STJ0/W0aNHtXz5ckklBdu+ffvqxIkTcnFx0VtvvaVFixYpNDS0woMFAAAAnKl69ep6+OGHdcsttzh7KAAAALhBuFQ0wbfffqtOnToZr//973/r1KlTeu+99/T1118rKChICxYsqOhhAAAAgKtm586dSkhI0LRp03To0CFJUn5+vvbs2aPff//diKtVq5amT5+uwMBAJ40UAAAAN5oKF2h/++03+fn5Ga83bdqktm3bqnXr1qpVq5Yeeugh+tQCAACgUiosLNSoUaPUv39/zZ49W2+//baOHz8uSXJxcdGQIUP01ltvOXmUAAAAuJFVuEDr5eWl06dPS5IKCgr07bffKiwszNhfrVo1FRQUVPQwAAAAgMO99tpr+vzzzzVlyhStW7dOVqvV2Ofu7q4ePXpo48aNThwhAAAAbnQVLtCGhITonXfe0aeffqpp06bp3Llz6tq1q7H/0KFDNitsAQAAgMpizZo16tevn/r27Stvb2+7/YGBgTpy5Ei58//++++KiIhQUFCQvv/+e5t9K1asUPfu3dWqVSv17t1bmzdvtnt/bm6uJkyYoHbt2ikkJESjR4/WqVOn7OK2b9+uvn37Kjg4WJ07d1ZiYqJNsVmSrFarEhMT1alTJwUHB6tv377auXOnXa6TJ08qNjZWISEhateunZ577jnl5eWV+xwAAADg0ipcoH366afl6uqq2NhYLV++XIMHD9btt98uSTp//rzWrVunu+++u8IDBQAAABzt119/VVBQ0B/ur+jdYK+//rrOnz9vt33NmjWaNGmSIiMjlZSUpNatW2vUqFF2BdO4uDht3bpVU6ZM0SuvvKLMzEwNGzZMRUVFRsxPP/2k6Oho+fr6KiEhQYMGDdLcuXO1ePFim1xJSUmaO3euBg8erISEBPn6+mrIkCE2BWiLxaKhQ4fq0KFDmjVrlqZMmaItW7Zo3Lhx5T4HAAAAuDTXiiZo3Lix1q1bpx9//FG1atVSgwYNjH35+fmaNGmSmjVrVtHDAAAAAA5Xt25dZWRk/OH+7du3q1GjRuXK/eOPP+qdd97R+PHj9fzzz9vsmzt3rnr27Km4uDhJUvv27ZWenq74+HglJSVJknbs2KEtW7YoOTlZ4eHhkiR/f39FRUVpw4YNioqKkiQlJyerTp06evXVV2U2m9WhQwedOXNGCxcu1IABA2Q2m3Xu3DklJCRoyJAhGjx4sCSpbdu26tGjh5KTkzVlyhRJ0vr163XgwAGlpKQoICBAUklLs+joaO3atUvBwcHlOhcAAAD4YxVeQStJbm5uatasmU1xVip5yu19991ntx0AAACoDHr16qX33ntPO3bsMLaZTCZJ0vLly7V27Vo99NBD5co9depU9evXT/7+/jbbjxw5okOHDikyMtJme1RUlNLS0lRYWChJSk1NlZeXl83zHQICAtS8eXOlpqYa21JTU9W1a1eZzWabXDk5OcbPtX37duXl5dkc02w2q1u3bna5goKCjOKsJIWFhal27dr64osvynUeAAAAcGkOKdCeP39eH330kf7+97+rT58+6tOnj/7+979r1apVF72l63J88cUXeuKJJ9S+fXvdcccd6tq1q6ZPn67c3FybuE2bNql3795q1aqVunfvrg8++MAuV2FhoV5++WWFhYWpdevWevLJJy+6UuLHH3/Uk08+qdatWyssLEwzZ840JshlObJfGAAAAJxnxIgRatOmjZ544gkNHDhQJpNJ06dPV6dOnTR58mR17NjRWHF6JdatW6f09HSNHDnSbl/pPPTCwm1gYKAsFovRciAjI0P+/v5GwbhUQECAkePs2bM6fvy4TUG1NMZkMhlxpb9eGBcYGKhjx44ZbRwyMjLsYkwmk/z9/S+50hgAAADlV+EWB7m5uYqOjtb333+vmjVrqmHDhpKkL7/8Uhs2bNC7776r5ORk1apV64ryZmVlKTg4WAMGDFDt2rV14MABzZs3TwcOHDD6aX3zzTcaNWqUHn30UU2YMEFfffWVnnvuOdWsWVM9evQwck2dOlUpKSl69tln5efnp4ULF2rw4MFas2aNPD09JUnZ2dkaNGiQmjRponnz5unkyZOaMWOGCgoKNHnyZCNXab+wESNGqH379kpJSdGoUaO0bNkytW7d2oiLi4vTwYMHNWXKFLm7u2vOnDkaNmyYPvjgA7m6Vvi0AwAAwAHMZrMWLVqk1atXa/369SouLlZhYaGCgoIUFxenBx980K5A+mfy8/M1Y8YMjRkz5qJz4OzsbEklrQPKKn1duj8nJ8eYq5bl7e2t3bt3S5KxeOHCXGazWR4eHja5zGaz3N3d7Y5ptVqVnZ2t6tWrX/KYpbnKw2q16uzZs+V+fymTySQPD48K5wEuR35+vt3D9pyNzwCupcr2GeD6x7XkiOvfarVe9jyywpXC2bNna8+ePZo4caL++te/ys3NTVLJAwZWrFihl156SbNnz9akSZOuKO+DDz5o8zo0NFRms1mTJk3SyZMn5efnpwULFig4OFj//Oc/JZX07jpy5Ijmzp1rFGhPnDihlStX6vnnn9ejjz4qSWrVqpU6d+6s9957T8OGDZMkvffee/r99981f/581a5dW1LJyuAXXnhBMTEx8vPzk+TYfmEAAABwPpPJpAcffNBu/lleCxYs0E033aRHHnnEIfluBBaLRfv27atwHg8PD7Vo0cIBIwL+XGZmpvLz8509DBt8BnAtVbbPANc/riVHXf9lW1BdSoULtJ9++qn69++vxx9/3Ga7m5ubHnvsMWVkZGjdunVXXKC9mNLCqcViUWFhobZt26ann37aJiYqKkqffPKJjh49qgYNGmjLli0qLi62WVFbu3ZthYWFKTU11SjQpqamqkOHDsYxJCkyMlLPP/+8tm7dqr/85S9Gv7BnnnnG7pil7RDMZvOf9gujQAsAAHBj+vnnn7V48WLFx8cbq1tLV46ePXtWv//+u7y9vSWVrH719fU13puTkyNJxn4vLy+dOHHC7hjZ2dlGTOlq1wvbgBUWFio/P98mV2Fhoc6dO2ezijYnJ0cmk8kmLi8v76LHrFu37pWeDoObm5tuu+22cr+/1JWuZgYqwt/fv1KtHpT4DODaqmyfAa5/XEuOuP4PHjx42bEVLtBmZWXZ9c8qy9/fv0K3Q50/f15FRUU6ePCg4uPj1aVLFzVo0EAHDx6UxWK5aB8tqaR/VoMGDZSRkaGbbrrJmHSWjVu5cqXxOiMjw26Vg5eXl3x9fe16d12qX1hgYOBl9QsDAACA8w0cOPBPY0wmk958883Lynf06FFZLBYNHz78ose68847NWvWLEn2/V4zMjLk5uZmtAwLCAhQWlqa3e1xmZmZatq0qSSpRo0aqlu3rt0cMzMzU1ar1chf+mtmZqaaNWtmc8x69eqpevXqRlx6erpNLqvVqszMTJvFB1fKZDKpRo0a5X4/4AzcSo2qjs8AqjJHXP9X8qVChQu0jRs31qZNm+xW0JbatGmTGjVqVO78nTt31smTJyVJHTt2NCa0Fe3d5eXlZVM4zsnJscsl2fbbcmS/sPKifxeuR/QuQlVW2a5/ic8Arh1HXf9X0r+rPLkvVFxcrGPHjun48eNq3LixbrnllsvO17x5c7311ls22/bt26fp06frhRdeUKtWrdSwYUM1adJE69at03333WfEpaSkqEOHDsatcBEREXr99deVlpame+65R1JJgXXv3r0aOnSo8b6IiAht3LhRzzzzjNFuLCUlRV5eXgoJCZEktWnTRrVq1dLatWuNAq3FYtGGDRsUERFhk2v16tU6dOiQmjRpIklKS0tTVlaW7r333ss+DwAAALh8FS7Q9u/fXy+++KKGDRtmPGRLKpk8vv322/ryyy8r1N4gMTFR+fn5OnjwoBYsWKARI0bojTfeqOiwr1v078L1iN5FqMoq2/Uv8RnAtePI6/9y+3ddqbfffvsP923evFmTJk3SP/7xj8vO5+XlpdDQ0Ivua9mypVq2bClJio2N1dNPP61GjRopNDRUKSkp2rVrl5YuXWrEh4SEKDw8XBMmTND48ePl7u6u2bNnKygoSPfff78RFx0drY8//ljjxo1T//79lZ6eruTkZI0ZM8Y4b+7u7oqJidG8efPk4+Ojpk2b6t1331VWVpaio6ONXN27d1dCQoJiY2M1duxY5efna+bMmerUqZOCg4Mv+zwAAADg8lW4QPv444/rzJkzSkxM1JYtW2yTu7pq5MiReuyxx8qdv/Qb/pCQELVq1UoPPvigPv30U6OH1YX9ti7Wu+tifbRycnJs2h54eXnZ5ZJse3w5sl9YedG/C9cjehehKqts17/EZwDXjqOu/yvp3+VInTt3Vu/evTVt2jSbwqkj9OrVS/n5+UpKSlJiYqL8/f01f/58Y8VrqTlz5mj69OmaPHmyioqKFB4erokTJ8rV9X/T+MaNGys5OVkzZszQ8OHD5ePjo9GjR2vIkCE2uYYNGyar1arFixfrzJkzat68uZKTk42WClLJXHPRokWaOnWqxo4dK1dXV3Xr1k0TJkxw6M8PAACA/6lwgVYqWQHw+OOPKy0tTT///LMkqX79+urQoYN8fHwccQhJUlBQkNzc3HT48GF16dJFbm5uysjIUMeOHY2Y0v5bZfttnT592q44emHPr4v1h83NzdUvv/xi17vLEf3Cyov+XbgecSs1qjKuf1Rljrr+nfmlQqNGjbRs2bIK5QgNDdUPP/xgt71Pnz7q06fPJd/r6empadOmadq0aZeMa9OmjZYvX37JGJPJpJiYGMXExFwyzs/PT/PmzbtkDAAAABzHxVGJfHx81LNnTw0fPlzDhw9Xz549HVqclaTvvvtOFotFDRo0kNlsVmhoqNavX28Tk5KSosDAQDVo0ECSFB4eLhcXF23YsMGIyc7O1pYtW+z6bX355ZfGalhJWrdunVxcXIwHIpTtF3bhMS/sF5adna20tDQjprRfWNljAgAAoPIqKirS2rVrVadOHWcPBQAAADewcq2gzc3NVVxcnO6++26NGDHiD+MWLFigb7/9Vq+99ppq1qx5RccYNWqU7rjjDgUFBal69erav3+/kpOTFRQUZDxM4amnntLAgQM1ZcoURUZGatu2bfrkk080e/ZsI8+tt96qRx99VDNnzpSLi4v8/PyUkJAgT09P9evXz4jr16+f3n77bY0cOVIxMTE6efKkZs6cqX79+snPz8+Ic2S/MAAAADjXH/WXzc3N1c6dO3X69Gk9++yz13hUAAAAqErKVaBdunSpduzYoX/961+XjPvrX/+qRYsWadmyZRo+fPgVHSM4OFgpKSlKTEyU1WpV/fr11adPH0VHRxsrVe+66y7NmzdPc+bM0cqVK1WvXj1NnTpVkZGRNrkmTpyomjVratasWfr999/Vpk0bvfHGG/L09DRivL299eabb+rFF1/UyJEjVbNmTT366KMaM2aMTS5H9gsDAACAc23bts1um8lkkre3t9q2bas+ffooPDzcCSMDAABAVVGuauGnn356WS0MbrrpJvXs2VMbNmy44gJtaauEP9O1a1d17dr1kjFms1njx4/X+PHjLxkXGBioJUuW/OkxHdkvDAAAAM6zadMmZw8BAAAAVVy5etBmZmbqjjvuuKzYli1b6scffyzPYQAAAAAAAADghlauFbRWq/WqxgMAAADX0sGDB3XkyBFlZ2dfdP9DDz10bQcEAACAKqNcBdq6detqz549lxW7Z88e1a1btzyHAQAAAK6qw4cP65lnntGuXbv+cFGByWSiQAsAAICrplwF2k6dOundd9/VkCFD1KRJkz+MO3TokFavXq3+/fuXd3wAAADAVTN58mSlp6drwoQJuuuuu+Tl5eXsIQEAAKCKKVcP2qFDh6p69ep64oknlJKSoqKiIpv9RUVFSklJ0cCBA1W9enVFR0c7ZLAAAACAI23fvl1Dhw7VgAED1Lx5c9WvX/+i/wEAAABXS7lW0N50001KTEzUqFGjNG7cOFWvXl1NmjRRzZo19fvvv+vQoUMqKCjQzTffrMTERN18882OHjcAAABQYXXq1JGnp6ezhwEAAIAqrFwFWkkKDg7WmjVr9O6772rz5s3KyMhQXl6eatWqpaCgIHXp0kX9+vXjNjEAAABUWv369dPq1av1+OOPq1q1as4eDgAAAKqgchdoJcnT01PDhw/X8OHDL/s9FotFO3fuVLNmzVitAAAAAKdq0qSJiouL9eCDD+qRRx7RrbfeetFC7f333++E0QEAAKAqqFCBtjyys7M1cOBALV68WB06dLjWhwcAAAAMY8aMMX7/8ssvXzTGZDJp375912pIAAAAqGKueYFWkqxWqzMOCwAAANh46623nD0EAAAAVHFOKdACAAAAlUG7du2cPQQAAABUcRRoAQAAUOUVFhZqz549+vXXX9WmTRv5+Pg4e0gAAACoIlycPQAAAADAmd566y2Fh4frscceU2xsrH744QdJ0pkzZxQaGqqVK1c6eYQAAAC4kVGgBQAAQJX1wQcfaNq0aerYsaNeeuklm2cl+Pj4qH379kpJSXHiCAEAAHCjo0ALAACAKuuNN95Q165dNWvWLHXu3Nluf8uWLXXgwAEnjAwAAABVBQVaAAAAVFk//fSTIiIi/nB/7dq1lZWVde0GBAAAgCrnmhdoPT09NX36dN1+++3X+tAAAACADS8vL/32229/uP/gwYPy9fW9hiMCAABAVeN6pW/473//W64D3X333ZIkd3d3Pfzww+XKAQAAADhSRESEli9frscee8xu34EDB7RixQo98sgjThgZAAAAqoorLtAOGDBAJpPpsuOtVqtMJpP27dt3pYcCAAAArqq4uDj99a9/Va9evdS5c2eZTCatWrVKH3zwgTZs2CBfX1/97W9/c/YwAQAAcAO74gLtW2+9dTXGAQAAAFxzfn5++vDDD/Xqq69q7dq1slqt+ve//62aNWuqZ8+eevrpp+Xj4+PsYQIAAOAGdsUF2nbt2l2NcQAAAABOcdNNN+mll17SSy+9pDNnzqi4uFg+Pj5yceF5ugAAALj6mHUCAACgyvriiy90/vx547WPj49uvvlmirMAAAC4Zq54Be3FnDt3TuvXr9fevXuVm5ur4uJim/0mk0nTpk1zxKEAAAAAh4mJiZG3t7fuv/9+RUVFKTQ0lOIsAAAArqkKF2h//vlnDRw4UD///LO8vLyUm5srb29v5ebm6vz586pTp45q1KjhiLECAAAADpWUlKSUlBStX79eK1euVJ06ddS9e3f17NlTd911l7OHBwAAgCqgwgXamTNnKi8vT8uXL1eDBg10zz33aPbs2Wrbtq3eeustLVu2TMnJyY4YKwAAAOBQHTt2VMeOHWWxWLRlyxalpKTo448/1nvvvSdfX191795dUVFRCgkJcfZQAQAAcIOq8P1bX331lfr376/g4GCb28HMZrOGDh2q9u3b094AAAAAlZqbm5s6d+6sf/3rX/ryyy81b9483X333Vq5cqUef/xxZw8PAAAAN7AKF2gLCgpUv359SVKtWrVkMpmUm5tr7A8JCdG3335b0cMAAAAA18TZs2d15swZnT59WufOnZPVanX2kAAAAHADq3CLg7p16+rkyZMlyVxd5efnp507d+r++++XJB08eFDu7u4VPQwAAABw1eTm5mrDhg1KSUnRtm3bVFRUpKZNm2r06NGKiopy9vAAAABwA6twgbZ9+/bauHGjRo0aJUl6+OGHlZiYqJycHBUXF2v16tV68MEHKzxQAAAAwNFWrVqldevWaevWrbJYLAoICNCIESMUGRmpwMDAK873xRdfKCkpSQcPHlReXp78/Px03333adSoUfL09DTiNm3apDlz5igzM1P16tXT8OHD9cgjj9jkKiws1OzZs7V69Wr9/vvvCgkJ0aRJkxQQEGAT9+OPP2rq1KnasWOHatasqQcffFBxcXEym802cStWrNCiRYt07Ngx+fv7a8yYMercubNNTG5urqZPn67PPvtMFotFHTt21MSJE3XLLbdc8bkAAADA5alwgXb48OH6/vvvVVhYKLPZrBEjRujUqVNav369XFxc1KtXLz377LOOGCsAAADgUM8++6waNmyoIUOGKDIyUs2aNatQvqysLAUHB2vAgAGqXbu2Dhw4oHnz5unAgQNavHixJOmbb77RqFGj9Oijj2rChAn66quv9Nxzz6lmzZrq0aOHkWvq1KlKSUnRs88+Kz8/Py1cuFCDBw/WmjVrjGJvdna2Bg0apCZNmmjevHk6efKkZsyYoYKCAk2ePNnItWbNGk2aNEkjRoxQ+/btlZKSolGjRmnZsmVq3bq1ERcXF6eDBw9qypQpcnd315w5czRs2DB98MEHcnWt8D8dAAAAcBEVnmXVq1dP9erVM167u7vrpZde0ksvvVTR1AAAAMBVtXLlSt1xxx0Oy3fhnWOhoaEym82aNGmSTp48KT8/Py1YsEDBwcH65z//KankjrQjR45o7ty5RoH2xIkTWrlypZ5//nk9+uijkqRWrVqpc+fOeu+99zRs2DBJ0nvvvafff/9d8+fPV+3atSVJ58+f1wsvvKCYmBj5+flJkubOnauePXsqLi7OOGZ6erri4+OVlJQkSdqxY4e2bNmi5ORkhYeHS5L8/f0VFRWlDRs20OoBAADgKqnwQ8L+8Y9/6LvvvvvD/bt27dI//vGPih4GAAAAcLiyxdlTp05p//79Onv2rEOPUVo4tVgsKiws1LZt22xWykpSVFSUfvzxRx09elSStGXLFhUXF9vE1a5dW2FhYUpNTTW2paamqkOHDsYxJCkyMlLFxcXaunWrJOnIkSM6dOiQIiMj7Y6ZlpamwsJCI5eXl5fCwsKMmICAADVv3tzmmAAAAHCsChdoP/roIx0+fPgP9x89elSrVq2q6GEAAACAq+Kzzz5Tjx49dO+99+rhhx82Fh+cOXNGDz30kD777LMrznn+/HmdO3dOe/bsUXx8vLp06aIGDRro8OHDRq/bskr73WZkZBi/3nTTTfL29raLK40pjbswl5eXl3x9fW1ySSWrYS/MZbFYdOTIESPO399fJpPJJi4gIMDmmAAAAHCsq95I6tSpU6pevfrVPgwAAABwxTZt2qTY2Fi1bt1avXr10vz58419Pj4+8vPz0wcffKD77rvvivJ27txZJ0+elCR17NhRs2bNklTSM1YqKaKWVfq6dH9OTo7NQ8XKxpXGlMZdmEuSvL29jbiKHtPb21u7d+++5M/7Z6xWq0NWJptMJnl4eFQ4D3A58vPzZbVanT0MG3wGcC1Vts8A1z+uJUdc/1ar1e6L7z9SrgLtZ599po0bNxqvly9fri+//NIuLjc3V19++aVD+3oBAAAAjhIfH6+77rpLb7/9tn777TebAq0ktW7dWu+///4V501MTFR+fr4OHjyoBQsWaMSIEXrjjTccNezrjsVi0b59+yqcx8PDQy1atHDAiIA/l5mZqfz8fGcPwwafAVxLle0zwPWPa8lR17/ZbL6suHIVaH/88UetW7dOUsk3GN99953dt+omk0k1atTQ3XffrWeffbY8hwEAAACuqgMHDlxyrnrzzTfr119/veK8zZo1kySFhISoVatWevDBB/Xpp5/qtttuk1SykKGsnJwcSTJaGnh5eSkvL88ub05Ojk3bAy8vL7tcUsmq2NK40l9zc3Pl6+t7yWOeOHHikrnKy83NzfjZK+JyV6EAjuDv71+pVg9KfAZwbVW2zwDXP64lR1z/Bw8evOzYchVoY2JiFBMTI6lk8vnSSy/pgQceKE8qAAAAwGk8PDwuuTriyJEjNg/gKo+goCC5ubnp8OHD6tKli9zc3JSRkaGOHTsaMaU9Xkv7yQYEBOj06dN2xdELe85erD9sbm6ufvnlF5tcF3tvRkaG3Nzc1LBhQyMuLS3N7na8zMxMNW3atELnoHTxBnA94VZqVHV8BlCVOeL6v5IvFSr8kLD9+/dTnAUAAMB1KTQ0VKtWrVJRUZHdvl9++UXLly9XeHh4hY7x3XffyWKxqEGDBjKbzQoNDdX69ettYlJSUhQYGKgGDRpIksLDw+Xi4qINGzYYMdnZ2dqyZYsiIiKMbREREfryyy+N1bCStG7dOrm4uCgsLEyS1LBhQzVp0sS4A67sMTt06GDcehcREaHs7GylpaUZMZmZmdq7d6/NMQEAAOBYDntI2JEjR5Samqpjx45JkurVq6eIiAjjG3kAAACgsomLi1Pfvn316KOPqkePHjKZTNqyZYu++uorvf/++7JarRo5cuRl5xs1apTuuOMOBQUFqXr16tq/f7+Sk5MVFBRkPGjsqaee0sCBAzVlyhRFRkZq27Zt+uSTTzR79mwjz6233qpHH31UM2fOlIuLi/z8/JSQkCBPT0/169fPiOvXr5/efvttjRw5UjExMTp58qRmzpypfv36yc/Pz4iLjY3V008/rUaNGik0NFQpKSnatWuXli5dasSEhIQoPDxcEyZM0Pjx4+Xu7q7Zs2crKChI999/f0VOMwAAAC7BIQXaGTNm6K233lJxcbHNdhcXFw0aNEjjx493xGEAAAAAhwoICNA777yjl156Sa+99pqsVquSk5MlSe3atdPzzz+v+vXrX3a+4OBgpaSkKDExUVarVfXr11efPn0UHR1trFS96667NG/ePM2ZM0crV65UvXr1NHXqVEVGRtrkmjhxomrWrKlZs2bp999/V5s2bfTGG2/I09PTiPH29tabb76pF198USNHjlTNmjX16KOPasyYMTa5evXqpfz8fCUlJSkxMVH+/v6aP3++QkJCbOLmzJmj6dOna/LkySoqKlJ4eLgmTpwoV1eHresAAADABSo801q8eLGWLFmi7t27a8iQIQoMDJRU8iCxJUuWaMmSJfLz89PgwYMreigAAADA4W6//XYtWbJE2dnZ+umnn2S1WtWwYUPVqlVLH330kf72t7/ZtST4I8OHD9fw4cP/NK5r167q2rXrJWPMZrPGjx//p4sdAgMDtWTJkj89Zp8+fdSnT59Lxnh6emratGmaNm3an+YDAACAY1S4QLt8+XJ16dJFr732ms32O++8U7Nnz9a5c+f03nvvUaAFAABApVFYWKhNmzbp8OHD8vb2VqdOneTn56fg4GDl5+dr6dKlevPNN3X69Gk1atTI2cMFAADADazCBdqff/5ZAwcO/MP94eHh+s9//lPRwwAAAAAOcfLkSQ0cOFCHDx+W1WqVJLm7u2vhwoVyc3PTuHHjdPLkSQUHB2vSpEn0XwUAAMBVVeEC7U033aT9+/f/4f79+/fLx8enoocBAAAAHGLOnDk6evSohg4dqrvuuktHjx5VfHy8Jk2apN9++0233367/vWvf6ldu3bOHioAAACqgHIVaP/73/8qMDBQPj4+6tGjh9566y01aNBATzzxhGrUqCFJOnv2rJYuXaqVK1dq0KBBDh00AAAAUF5bt27VX/7yF40bN87YdvPNN+vvf/+7OnXqpNdff10uLi5OHCEAAACqknLNPAcOHKitW7dKkv7+97/r7rvv1quvvqp27dqpS5cu6tKli9q1a6dXX31Vd999t0aPHn3Fx1i7dq2eeuopRUREqHXr1nrwwQe1cuVK4za0UitWrFD37t3VqlUr9e7dW5s3b7bLlZubqwkTJqhdu3YKCQnR6NGjderUKbu47du3q2/fvgoODlbnzp2Np++WZbValZiYqE6dOik4OFh9+/bVzp077XKdPHlSsbGxCgkJUbt27fTcc88pLy/vis8DAAAAHOvXX3/VnXfeabOtdevWkqRHHnmE4iwAAACuqXKtoC1btPTw8NCbb76pzz77TKmpqTp27Jikkt6z9957r7p06SKTyXTFx1iyZInq16+vZ599VnXq1NGXX36pSZMm6cSJExo1apQkac2aNZo0aZJGjBih9u3bKyUlRaNGjdKyZcuMSbYkxcXF6eDBg5oyZYrc3d01Z84cDRs2TB988IFcXUtOwU8//aTo6GiFhYUpLi5OP/zwg1555RVVq1ZN0dHRRq6kpCTNnTtXTz/9tIKCgrRs2TINGTJE//73v9WwYUNJksVi0dChQyVJs2bNUkFBgV5++WWNGzdOCQkJV3wuAAAA4Djnz5+Xu7u7zTaz2SxJqlWrljOGBAAAgCqswj1oS91333267777HJVOCxYssOld26FDB2VlZemNN97Q3/72N7m4uGju3Lnq2bOn4uLiJEnt27dXenq64uPjlZSUJEnasWOHtmzZouTkZIWHh0uS/P39FRUVpQ0bNigqKkqSlJycrDp16ujVV1+V2WxWhw4ddObMGS1cuFADBgyQ2WzWuXPnlJCQoCFDhmjw4MGSpLZt26pHjx5KTk7WlClTJEnr16/XgQMHlJKSooCAAEmSl5eXoqOjtWvXLgUHBzvsPAEAAODK/fzzz9qzZ4/xOjc3V1LJl/ZeXl528S1btrxmYwMAAEDVUu4CbXlWxV6Jiz1YrHnz5lq+fLnOnj2r3377TYcOHdIzzzxjExMVFaWZM2eqsLBQZrNZqamp8vLyUlhYmBETEBCg5s2bKzU11SjQpqamqlu3bsbqidJcCQkJ2rFjh0JDQ7V9+3bl5eUpMjLSiDGbzerWrZs+/fRTY1tqaqqCgoKM4qwkhYWFqXbt2vriiy8o0AIAADjZa6+9ptdee81u+wsvvGDz2mq1ymQyad++fddqaAAAAKhiyl2gfeaZZ+yKo3/EZDJp79695T2U4dtvv5Wfn59q1aqlb7/9VlLJatiyAgMDZbFYdOTIEQUGBiojI0P+/v52BeWAgABlZGRIKnmg2fHjx20KqqUxJpNJGRkZCg0NNeIvjAsMDNSbb76pgoICVa9eXRkZGXYxJpNJ/v7+Rg4AAAA4x/Tp0509BAAAAMBQ7gLtPffcoyZNmjhwKJf2zTffKCUlRePHj5ckZWdnS5LdLWilr0v35+TkyNPT0y6ft7e3du/eLel/t7RdmMtsNsvDw8Mml9lstutZ5uXlJavVquzsbFWvXv2SxyzNVV5Wq1Vnz56tUA6ppGDs4eFR4TzA5cjPz7d74J4zcf3jWqps17/EZwDXjqOu/9JVrI7y8MMPOywXAAAAUFHlLtA+9NBDeuCBBxw5lj904sQJjRkzRqGhoRo4cOA1OWZlZbFYHHKLnYeHh1q0aOGAEQF/LjMzU/n5+c4ehoHrH9dSZbv+JT4DuHYcef2XbUMFAAAA3Egc9pCwqyUnJ0fDhg1T7dq1NW/ePLm4uEgqWY0qlax+9fX1tYkvu9/Ly0snTpywy5udnW3ElK52LV1JW6qwsFD5+fk2uQoLC3Xu3DmbVbQ5OTkymUw2cXl5eRc9Zt26dctxFv7Hzc1Nt912W4VySFe/hzBQlr+/f6VaQcj1j2upsl3/Ep8BXDuOuv4PHjzogNEAAAAAlVOlLtAWFBQoJiZGubm5ev/9923aBpT2eL2w32tGRobc3NzUsGFDIy4tLc3u1rjMzEw1bdpUklSjRg3VrVvXrj9sZmamrFarkb/018zMTDVr1szmmPXq1VP16tWNuPT0dJtcVqtVmZmZNg8rKw+TyaQaNWpUKAdwrXErNaoyrn9UZY66/vlSAQAAADcyF2cP4I8UFRUpLi5OGRkZWrRokfz8/Gz2N2zYUE2aNNG6detstqekpKhDhw7GbXARERHKzs5WWlqaEZOZmam9e/cqIiLC2BYREaGNGzfKYrHY5PLy8lJISIgkqU2bNqpVq5bWrl1rxFgsFm3YsMEu1/79+3Xo0CFjW1pamrKysnTvvfdW4KwAAAAAAAAAuJGUawXt/v37HT0OOy+88II2b96sZ599Vnl5edq5c6exr0WLFjKbzYqNjdXTTz+tRo0aKTQ0VCkpKdq1a5eWLl1qxIaEhCg8PFwTJkzQ+PHj5e7urtmzZysoKEj333+/ERcdHa2PP/5Y48aNU//+/ZWenq7k5GSNGTPGKPa6u7srJiZG8+bNk4+Pj5o2bap3331XWVlZio6ONnJ1795dCQkJio2N1dixY5Wfn6+ZM2eqU6dOCg4OvurnDgAAAAAAAMD1odK2ONi6daskacaMGXb7Nm7cqAYNGqhXr17Kz89XUlKSEhMT5e/vr/nz5xsrXkvNmTNH06dP1+TJk1VUVKTw8HBNnDhRrq7/+/EbN26s5ORkzZgxQ8OHD5ePj49Gjx6tIUOG2OQaNmyYrFarFi9erDNnzqh58+ZKTk42WipIJX1iFy1apKlTp2rs2LFydXVVt27dNGHCBEeeIgAAAAAAAADXuUpboN20adNlxfXp00d9+vS5ZIynp6emTZumadOmXTKuTZs2Wr58+SVjTCaTYmJiFBMTc8k4Pz8/zZs375IxAAAAAAAAAKq2StuDFgAAAAAAAABudBRoAQAAAAAAAMBJKNACAAAAAAAAgJNQoAUAAAAAAAAAJ6FACwAAAAAAAABOQoEWAAAAAAAAAJyEAi0AAAAAAAAAOAkFWgAAAAAAAABwEgq0AAAAAAAAAOAkFGgBAAAAAAAAwEko0AIAAAAAAACAk1CgBQAAAAAAAAAnoUALAAAAAAAAAE5CgRYAAAAAAAAAnIQCLQAAAAAAAAA4CQVaAAAAwEHWrl2rp556ShEREWrdurUefPBBrVy5Ular1SZuxYoV6t69u1q1aqXevXtr8+bNdrlyc3M1YcIEtWvXTiEhIRo9erROnTplF7d9+3b17dtXwcHB6ty5sxITE+2OZ7ValZiYqE6dOik4OFh9+/bVzp077XKdPHlSsbGxCgkJUbt27fTcc88pLy+vYicFAAAAl0SBFgAAAHCQJUuWyMPDQ88++6wWLFigiIgITZo0SfHx8UbMmjVrNGnSJEVGRiopKUmtW7fWqFGj7AqmcXFx2rp1q6ZMmaJXXnlFmZmZGjZsmIqKioyYn376SdHR0fL19VVCQoIGDRqkuXPnavHixTa5kpKSNHfuXA0ePFgJCQny9fXVkCFDdOTIESPGYrFo6NChOnTokGbNmqUpU6Zoy5YtGjdu3NU5WQAAAJAkuTp7AAAAAMCNYsGCBfLx8TFed+jQQVlZWXrjjTf0t7/9TS4uLpo7d6569uypuLg4SVL79u2Vnp6u+Ph4JSUlSZJ27NihLVu2KDk5WeHh4ZIkf39/RUVFacOGDYqKipIkJScnq06dOnr11VdlNpvVoUMHnTlzRgsXLtSAAQNkNpt17tw5JSQkaMiQIRo8eLAkqW3bturRo4eSk5M1ZcoUSdL69et14MABpaSkKCAgQJLk5eWl6Oho7dq1S8HBwdfgDAIAAFQ9rKAFAAAAHKRscbZU8+bNlZeXp7Nnz+rIkSM6dOiQIiMjbWKioqKUlpamwsJCSVJqaqq8vLwUFhZmxAQEBKh58+ZKTU01tqWmpqpr164ym802uXJycrRjxw5JJS0Q8vLybI5pNpvVrVs3u1xBQUFGcVaSwsLCVLt2bX3xxRflPSUAAAD4ExRoAQAAgKvo22+/lZ+fn2rVqqWMjAxJJathywoMDJTFYjFaDmRkZMjf318mk8kmLiAgwMhx9uxZHT9+3KagWhpjMpmMuNJfL4wLDAzUsWPHVFBQYMRdGGMymeTv72/kAAAAgOPR4gAAAAC4Sr755hulpKRo/PjxkqTs7GxJJa0Dyip9Xbo/JydHnp6edvm8vb21e/duSSUPEbtYLrPZLA8PD5tcZrNZ7u7udse0Wq3Kzs5W9erVL3nM0lzlZbVadfbs2QrlkEoKxh4eHhXOA1yO/Px8uwfuORufAVxLle0zwPWPa8kR17/VarX7sv2PUKAFAAAAroITJ05ozJgxCg0N1cCBA509HKeyWCzat29fhfN4eHioRYsWDhgR8OcyMzOVn5/v7GHY4DOAa6myfQa4/nEtOer6L9uG6lIo0AIAAAAOlpOTo2HDhql27dqaN2+eXFxKOot5e3tLKln96uvraxNfdr+Xl5dOnDhhlzc7O9uIKV3tWrqStlRhYaHy8/NtchUWFurcuXM2q2hzcnJkMpls4vLy8i56zLp165bjLPyPm5ubbrvttgrlkHTZq1AAR/D3969UqwclPgO4tirbZ4DrH9eSI67/gwcPXnYsBVoAAADAgQoKChQTE6Pc3Fy9//77Nm0DSnu8XtjvNSMjQ25ubmrYsKERl5aWZndrXGZmppo2bSpJqlGjhurWrWvXHzYzM1NWq9XIX/prZmammjVrZnPMevXqqXr16kZcenq6TS6r1arMzEybh5WVh8lkUo0aNSqUA7jWuJUaVR2fAVRljrj+r+RLBR4SBgAAADhIUVGR4uLilJGRoUWLFsnPz89mf8OGDdWkSROtW7fOZntKSoo6dOhg3AYXERGh7OxspaWlGTGZmZnau3evIiIijG0RERHauHGjLBaLTS4vLy+FhIRIktq0aaNatWpp7dq1RozFYtGGDRvscu3fv1+HDh0ytqWlpSkrK0v33ntvBc4KAAAALoUVtAAAAICDvPDCC9q8ebOeffZZ5eXlaefOnca+Fi1ayGw2KzY2Vk8//bQaNWqk0NBQpaSkaNeuXVq6dKkRGxISovDwcE2YMEHjx4+Xu7u7Zs+eraCgIN1///1GXHR0tD7++GONGzdO/fv3V3p6upKTkzVmzBij2Ovu7q6YmBjNmzdPPj4+atq0qd59911lZWUpOjrayNW9e3clJCQoNjZWY8eOVX5+vmbOnKlOnTopODj46p88AACAKooCLQAAAOAgW7dulSTNmDHDbt/GjRvVoEED9erVS/n5+UpKSlJiYqL8/f01f/58Y8VrqTlz5mj69OmaPHmyioqKFB4erokTJ8rV9X9T+MaNGys5OVkzZszQ8OHD5ePjo9GjR2vIkCE2uYYNGyar1arFixfrzJkzat68uZKTk42WClJJn9hFixZp6tSpGjt2rFxdXdWtWzdNmDDBkacIAAAAF6BACwAAADjIpk2bLiuuT58+6tOnzyVjPD09NW3aNE2bNu2ScW3atNHy5csvGWMymRQTE6OYmJhLxvn5+WnevHmXjAEAAIBj0YMWAAAAAAAAAJyEAi0AAAAAAAAAOAkFWgAAAAAAAABwEgq0AAAAAAAAAOAkFGgBAAAAAAAAwEko0AIAAAAAAACAk1CgBQAAAAAAAAAnoUALAAAAAAAAAE5CgRYAAAAAAAAAnIQCLQAAAAAAAAA4CQVaAAAAAAAAAHASCrQAAAAAAAAA4CQUaAEAAAAAAADASSjQAgAAAAAAAICTUKAFAAAAAAAAACehQAsAAAAAAAAATkKBFgAAAAAAAACchAItAAAAAAAAADhJpS7Q/vTTT5o8ebIefPBBtWjRQr169bpo3IoVK9S9e3e1atVKvXv31ubNm+1i/h97dx4f09n/f/w9iUyILBpU7RIqRS2htTSEUlVBVe+qpbZKNW3tS2u51dLbD1VqV0RUW25a2qqSxtaW0lQXWtQSJPadZpNEQub3R745tzFBEpHJ8no+Hh7JnHOd63zm5Iy55jPX+Zy4uDiNGTNGDRs2lK+vrwYNGqSLFy/atNu9e7e6dOmiOnXq6Omnn9bixYtlsVis2lgsFi1evFgtWrRQnTp11KVLF/355582fV24cEEDBw6Ur6+vGjZsqH//+9+Kj4/P3sEAAAAAAAAAUODk6QTtkSNHtG3bNlWuXFlVq1bNsM2GDRv07rvvqm3btgoODla9evU0YMAAm4TpkCFDtHPnTk2YMEHTp09XVFSU+vXrpxs3bhhtTpw4ocDAQJUuXVqLFi1S7969NWfOHC1dutSqr+DgYM2ZM0d9+vTRokWLVLp0afXt21enTp0y2qSkpOi1117T8ePHNWPGDE2YMEE7duzQ8OHDc+4AAQAAAAAAAMjXitg7gLtp2bKlnnnmGUnSqFGjtH//fps2c+bMUbt27TRkyBBJUuPGjRUREaH58+crODhYkrRnzx7t2LFDISEhatq0qSTJy8tLAQEB2rRpkwICAiRJISEheuihh/Thhx/KbDarSZMmunr1qhYuXKiePXvKbDbr+vXrWrRokfr27as+ffpIkho0aKDnnntOISEhmjBhgiRp48aNOnLkiEJDQ+Xt7S1Jcnd3V2BgoPbu3as6deo8qMMGAAAAAAAAIJ/I0zNoHRzuHt6pU6d0/PhxtW3b1mp5QECAwsPDlZycLEnavn273N3d5efnZ7Tx9vZWjRo1tH37dmPZ9u3b1apVK5nNZqu+YmNjtWfPHklpJRDi4+Ot9mk2m9W6dWubvnx8fIzkrCT5+fmpRIkS2rZtW1YOAwAAAAAAAIACKk8naO8lMjJSUtps2FtVrVpVKSkpRsmByMhIeXl5yWQyWbXz9vY2+khISNC5c+esEqrpbUwmk9Eu/eft7apWraqzZ88qKSnJaHd7G5PJJC8vL6MPAAAAAAAAAIVbni5xcC8xMTGS0koH3Cr9cfr62NhYubm52Wzv4eFhlE2Ii4vLsC+z2axixYpZ9WU2m+Xs7GyzT4vFopiYGBUtWvSu+0zvKzssFosSEhKyvX06k8mkYsWK3Xc/QGYkJiba3GzPnjj/kZvy2vkv8RpA7smp899isdh80Q4AAAAUFPk6QVsYpaSk6ODBg/fdT7FixVSzZs0ciAi4t6ioKCUmJto7DAPnP3JTXjv/JV4DyD05ef7fWoIKAAAAKEjydYLWw8NDUtrs19KlSxvLY2Njrda7u7vr/PnzNtvHxMQYbdJnu6bPpE2XnJysxMREq76Sk5N1/fp1q1m0sbGxMplMVu3i4+Mz3GfZsmWz94QlOTk5qVq1atnePh2zUJCbvLy88tQMQs5/5Ka8dv5LvAaQe3Lq/D969GgORAMAAADkTfk6QZte4/X2eq+RkZFycnJSxYoVjXbh4eE2l8dFRUWpevXqkiQXFxeVLVvWpj5sVFSULBaL0X/6z6ioKD322GNW+yxXrpyKFi1qtIuIiLDqy2KxKCoqyupmZVllMpnk4uKS7e0Be+BSahRmnP8ozHLq/OdLBQAAABRk+fomYRUrVlSVKlUUFhZmtTw0NFRNmjQxLoXz9/dXTEyMwsPDjTZRUVE6cOCA/P39jWX+/v7aunWrUlJSrPpyd3eXr6+vJKl+/fpydXXVd999Z7RJSUnRpk2bbPo6dOiQjh8/biwLDw9XdHS0mjdvnjMHAAAAAAAAAEC+lqdn0CYmJmrbtm2SpDNnzig+Pt5IxjZs2FCenp4aOHCgRowYoUqVKqlRo0YKDQ3V3r17tXz5cqMfX19fNW3aVGPGjNHIkSPl7OysmTNnysfHR88++6zRLjAwUN9++62GDx+ubt26KSIiQiEhIRo6dKiR7HV2dlZQUJDmzp0rT09PVa9eXStXrlR0dLQCAwONvtq0aaNFixZp4MCBGjZsmBITEzVt2jS1aNFCderUyY3DBwAAAAAAACCPy9MJ2itXrmjw4MFWy9Iff/rpp2rUqJHat2+vxMREBQcHa/HixfLy8tK8efOMGa/pZs2apSlTpmjcuHG6ceOGmjZtqrFjx6pIkf8dgsqVKyskJERTp07V66+/Lk9PTw0aNEh9+/a16qtfv36yWCxaunSprl69qho1aigkJMQoqSCl1YpdsmSJJk2apGHDhqlIkSJq3bq1xowZk9OHCQAAAAAAAEA+lacTtBUqVNDhw4fv2a5z587q3LnzXdu4ublp8uTJmjx58l3b1a9fX1988cVd25hMJgUFBSkoKOiu7cqUKaO5c+fetQ0AAAAAAACAwitf16AFAAAAAAAAgPyMBC0AAACQg06cOKFx48apY8eOqlmzptq3b59hu9WrV6tNmzaqXbu2nn/+ef3www82beLi4jRmzBg1bNhQvr6+GjRokC5evGjTbvfu3erSpYvq1Kmjp59+WosXL5bFYrFqY7FYtHjxYuOeCF26dNGff/5p09eFCxc0cOBA+fr6qmHDhvr3v/+t+Pj47B0MAAAA3BMJWgAAACAHHTlyRNu2bVPlypVVtWrVDNts2LBB7777rtq2bavg4GDVq1dPAwYMsEmYDhkyRDt37tSECRM0ffp0RUVFqV+/frpx44bR5sSJEwoMDFTp0qW1aNEi9e7dW3PmzNHSpUut+goODtacOXPUp08fLVq0SKVLl1bfvn116tQpo01KSopee+01HT9+XDNmzNCECRO0Y8cODR8+POcOEAAAAKzk6Rq0AAAAQH7TsmVLPfPMM5KkUaNGaf/+/TZt5syZo3bt2mnIkCGSpMaNGysiIkLz589XcHCwJGnPnj3asWOHQkJC1LRpU0mSl5eXAgICtGnTJgUEBEiSQkJC9NBDD+nDDz+U2WxWkyZNdPXqVS1cuFA9e/aU2WzW9evXtWjRIvXt21d9+vSRJDVo0EDPPfecQkJCNGHCBEnSxo0bdeTIEYWGhsrb21uS5O7ursDAQO3du1d16tR5UIcNAACg0GIGLQAAAJCDHBzuPsQ+deqUjh8/rrZt21otDwgIUHh4uJKTkyVJ27dvl7u7u/z8/Iw23t7eqlGjhrZv324s2759u1q1aiWz2WzVV2xsrPbs2SMprQRCfHy81T7NZrNat25t05ePj4+RnJUkPz8/lShRQtu2bcvKYQAAAEAmkaAFAAAAclFkZKSktNmwt6patapSUlKMkgORkZHy8vKSyWSyauft7W30kZCQoHPnzlklVNPbmEwmo136z9vbVa1aVWfPnlVSUpLR7vY2JpNJXl5eRh8AAADIWZQ4AAAAAHJRTEyMpLTSAbdKf5y+PjY2Vm5ubjbbe3h4GGUT4uLiMuzLbDarWLFiVn2ZzWY5Ozvb7NNisSgmJkZFixa96z7T+8oOi8WihISEbG+fzmQyqVixYvfdD5AZiYmJNjfbszdeA8hNee01wPmP3JQT57/FYrH5ov1OSNACAAAAeKBSUlJ08ODB++6nWLFiqlmzZg5EBNxbVFSUEhMT7R2GFV4DyE157TXA+Y/clFPn/60lqO6GBC0AAACQizw8PCSlzX4tXbq0sTw2NtZqvbu7u86fP2+zfUxMjNEmfbZr+kzadMnJyUpMTLTqKzk5WdevX7eaRRsbGyuTyWTVLj4+PsN9li1bNntPWJKTk5OqVauW7e3TZXYWCpATvLy88tTsQYnXAHJXXnsNcP4jN+XE+X/06NFMtyVBCwAAAOSi9Bqvt9d7jYyMlJOTkypWrGi0Cw8Pt7k8LioqStWrV5ckubi4qGzZsjb1YaOiomSxWIz+039GRUXpscces9pnuXLlVLRoUaNdRESEVV8Wi0VRUVFWNyvLKpPJJBcXl2xvD9gDl1KjsOM1gMIsJ87/rHypwE3CAAAAgFxUsWJFValSRWFhYVbLQ0ND1aRJE+NSOH9/f8XExCg8PNxoExUVpQMHDsjf399Y5u/vr61btyolJcWqL3d3d/n6+kqS6tevL1dXV3333XdGm5SUFG3atMmmr0OHDun48ePGsvDwcEVHR6t58+Y5cwAAAABghRm0AAAAQA5KTEzUtm3bJElnzpxRfHy8kYxt2LChPD09NXDgQI0YMUKVKlVSo0aNFBoaqr1792r58uVGP76+vmratKnGjBmjkSNHytnZWTNnzpSPj4+effZZo11gYKC+/fZbDR8+XN26dVNERIRCQkI0dOhQI9nr7OysoKAgzZ07V56enqpevbpWrlyp6OhoBQYGGn21adNGixYt0sCBAzVs2DAlJiZq2rRpatGiherUqZMbhw8AAKDQIUELAAAA5KArV65o8ODBVsvSH3/66adq1KiR2rdvr8TERAUHB2vx4sXy8vLSvHnzjBmv6WbNmqUpU6Zo3LhxunHjhpo2baqxY8eqSJH/DeMrV66skJAQTZ06Va+//ro8PT01aNAg9e3b16qvfv36yWKxaOnSpbp69apq1KihkJAQo6SClFYrdsmSJZo0aZKGDRumIkWKqHXr1hozZkxOHyYAAAD8HxK0AAAAQA6qUKGCDh8+fM92nTt3VufOne/axs3NTZMnT9bkyZPv2q5+/fr64osv7trGZDIpKChIQUFBd21XpkwZzZ07965tAAAAkHOoQQsAAAAAAAAAdkKCFgAAAAAAAADshAQtAAAAAAAAANgJCVoAAAAAAAAAsBMStAAAAAAAAABgJyRoAQAAAAAAAMBOSNACAAAAAAAAgJ2QoAUAAAAAAAAAOyFBCwAAAAAAAAB2QoIWAAAAAAAAAOyEBC0AAAAAAAAA2AkJWgAAAAAAAACwExK0AAAAAAAAAGAnJGgBAAAAAAAAwE5I0AIAAAAAAACAnZCgBQAAAAAAAAA7IUELAAAAAAAAAHZCghYAAAAAAAAA7IQELQAAAAAAAADYCQlaAAAAAAAAALATErQAAAAAAAAAYCckaAEAAAAAAADATkjQAgAAAAAAAICdkKAFAAAAAAAAADshQQsAAAAAAAAAdkKCFgAAAAAAAADshAQtAAAAAAAAANgJCVoAAAAAAAAAsBMStAAAAAAAAABgJyRoAQAAAAAAAMBOSNACAAAAAAAAgJ2QoH2Ajh07pldffVX16tWTn5+fpk2bpuTkZHuHBQAAANwRY1gAAIDcVcTeARRUMTEx6t27t6pUqaK5c+fqwoULmjp1qpKSkjRu3Dh7hwcAAADYYAwLAACQ+0jQPiCrVq3StWvXNG/ePJUoUUKSdPPmTU2cOFFBQUEqU6aMfQMEAAAAbsMYFgAAIPdR4uAB2b59u5o0aWIMbCWpbdu2Sk1N1c6dO+0XGAAAAHAHjGEBAAByHwnaByQyMlLe3t5Wy9zd3VW6dGlFRkbaKSoAAADgzhjDAgAA5D5KHDwgsbGxcnd3t1nu4eGhmJiYbPWZkpIii8WivXv33m94kiSTyaQmRcvoprl0jvQH3M7RwUH79u2TxWKxdyg2OP/xoOXl81/iNYAHK6fP/5SUFJlMphzpC3fHGBbgPRzIy68Bzn88aDl5/mdlDEuCNh9J/6Pm5AcUV3PRHOsLuJO8+qGa8x+5Ia+e/xKvATx4OXX+m0ymPP1awt0xhkV+lZf/3+E1gNyQV18DnP/IDTlx/mdlDEuC9gFxd3dXXFyczfKYmBh5eHhkq09fX9/7DQsAAAC4I8awAAAAuY8atA+It7e3TZ2uuLg4Xbp0yaauFwAAAJAXMIYFAADIfSRoHxB/f3/9/PPPio2NNZaFhYXJwcFBfn5+dowMAAAAyBhjWAAAgNxnsuTFqs8FQExMjNq1aycvLy8FBQXpwoULmjp1qjp06KBx48bZOzwAAADABmNYAACA3EeC9gE6duyY/vOf/2jPnj0qXry4OnbsqKFDh8psNts7NAAAACBDjGEBAAByFwlaAAAAAAAAALATatACAAAAAAAAgJ2QoAUAAAAAAAAAOyFBCwAAAAAAAAB2QoIWAAAAAAAAAOyEBC0AAAAAAAAA2AkJWgAAAAAAAACwExK0KLDmzp0rX19fm+VTp07VY489ptWrV2vUqFFq3779A41j165d8vHx0b59+4xl0dHR6t+/v5588kn5+Phoy5YtDzQGIN3cuXPl4+Nj/GvUqJG6deumbdu2ZbkvHx8fhYSE3LVNRuc/YA/p5+Ld/s2dOzfT/bVs2VLvvffeXdvExsbKx8dHX3311f2GD6AQYQwL2GIMi8KMcWzhUMTeAQC56YMPPtCyZcs0ceJEde7cWX/88ccD32etWrX0+eefq2rVqsayjz/+WLt27dL777+vkiVLysvL64HHAaQrWrSoPvnkE0nSxYsXtXDhQr3xxhtasWKF6tevn6P7yuj8B+wh/VzMyOzZs/Xrr7+qadOmme5v3rx5cnd3z6nwAOCuGMMCjGFReDGOLRxI0KLQmDlzppYsWaLx48erS5cuD3x/FotFKSkpcnV1Vb169azWRUVFycfHR61atXrgcQC3c3BwsDon69atq+bNm2vt2rU5PrjN6PwH7OFO5+LWrVv1888/a/DgwRnOWLuTmjVr5mB0AHBnjGGBNIxhUVgxji0cKHGAQmHu3LlauHCh3n33XXXv3t1m/a5du/TCCy+oXr16eumll7R//36r9UuXLtW//vUvNWjQQE2aNFFQUJCioqKs2qRfarZt2zY9//zzql27tr7//nuby2N8fHy0ceNG/f7778blCIA9lSlTRp6enjp79qyktBkJo0ePVqtWrVSnTh09++yz+vDDD5WcnGyz7c2bNzVt2jQ1btxYvr6+GjVqlOLj4431XB6GvOzChQsaM2aMGjZsqDfeeEOSlJCQoPfee09t2rRR3bp11bJlS40bN05xcXFW22Z0adgXX3yhli1bqm7duurdu7dOnDiRa88FQMHEGBa4M8awKMwYxxY8zKBFgffRRx9p3rx5Gj16tHr06GGz/tKlS5o0aZJef/11ubm5acaMGRowYIA2b94sJycnSdL58+fVo0cPlStXTvHx8Vq1apW6du2qjRs3qkSJEkZfFy9e1KRJk/Tmm2+qbNmyKleunM6fP2+1v88//1zTp0/XtWvXNH78+Af63IHMuHbtmmJiYlShQgVJ0j///KMSJUpo9OjRcnd31/HjxzV37lxdunRJU6ZMsdr2s88+U61atfT+++/r9OnTmj59uq5fv66ZM2fa46kAmZaamqq3335bkjR9+nQ5OKR9Z52UlKSbN29q6NCh8vT01Llz57Rw4UK99dZb+uyzz+7Y3w8//KB3331XL774ogICAvT3339r8ODBufJcABRMjGGBu2MMi8KKcWzBRIIWBVpCQoJmzZqlzp07q0+fPhm2iYmJ0fLly/Xoo49KkooVK6ZevXrpr7/+0hNPPCFJGjNmjNH+5s2b8vPzU5MmTbRx40arS81iYmIUHBysunXrGstuH9zWq1dP7u7uMplMXDYDu7lx44aktA9kH3zwgYoXL65evXpJSpshM3LkSKNt/fr1VaxYMY0aNUrjxo1TsWLFjHVms1nz58+Xo6OjJMnZ2Vljx47VgAEDqNmFPC04OFi7du3SRx99pDJlyhjLPT09NXHiROPxjRs3VKFCBXXv3l1RUVF3rLf40Ucf6YknnjA+ADZr1kzXr1/XggULHuwTAVAgMYYFMsYYFmAcW1CRoEWBVrRoUdWuXVvr169Xp06d1KBBA5s2Dz/8sDGwlaRq1apJSrtkIN2ff/6p2bNn68CBA4qOjjaWHz9+3KqvEiVKWA1sgbwoISFBtWrVMh47OjpqwYIF8vb2lpRWe+6TTz7RF198odOnT+v69etG21OnTql69erG46efftoY2ErSc889p3//+9/at28fg1vkWX/99ZfmzJmjnj17qmXLljbr165dq2XLlunEiRNKSEgwlh8/fjzDge3Nmzf1999/GzMZ0rVp04aBLYBsYQwL2GIMCzCOLcioQYsCzcHBQR999JGqVKmiN954Q4cPH7Zpc/vdC9MvCUt/Qz979qz69u2rmzdvauLEiVq5cqXWrFmjkiVLWr3pS1KpUqUe0DMBck7RokW1Zs0arV69Wh988IFKly6tkSNH6uLFi5KkTz75RO+//75atWqlBQsWaPXq1Ro3bpwk2ZzzJUuWtHrs6uoqZ2dnoy8gr4mPj9ewYcNUrVo1vfPOOzbrN2/erJEjR6pOnTqaNWuWvvjiC82fP1+S7fmf7urVq7px44Y8PT2tlvOeACC7GMMCthjDorBjHFuwMYMWBZ6bm5tCQkLUrVs3BQYGauXKlapYsWKmt//pp5+UkJCgefPmGQPhGzduKCYmxqatyWTKsbiBB8XBwUG1a9eWJNWpU0deXl56+eWXNX/+fE2cOFFhYWFq2bKlhg8fbmxz7NixDPu6cuWK1eP4+Hhdv35dDz/88IN7AsB9GD9+vK5cuaLFixfLbDbbrA8LC1ONGjWsbpzw66+/3rVPT09PFSlSRFevXrVafvny5ZwJGkChxBgWsMYYFoUd49iCjRm0KBRKliyppUuXymQyqW/fvrp06VKmt01KSpLJZFKRIv/7PuO7774z6h8B+V3t2rXVrl07ffXVV7p06ZKSkpKMWTjpvv322wy3/eGHH3Tz5k3jcVhYmEwmkzF4BvKStWvXav369Ro7duwdL1/MyvmfztHRUTVr1tTmzZutlm/cuPH+AgZQ6DGGBe6MMSwKE8axBR8zaFFoVKhQQSEhIerRo4dee+01LV++PFPbNW7cWJI0evRode3aVUeOHNHHH39sc1kZkJ+99dZbCg0N1SeffKKnnnpKn376qZYvX64qVapo3bp1OnHiRIbbJScnq3///urWrZtxB9w2bdpQuwt5zsmTJzVx4kQ9/vjjqlatmv7880+bNq6urnrqqaf03nvvaf78+fL19dW2bdsUHh5+z/7feOMNvfXWWxo9erRx99tvvvnmATwTAIUNY1jgzhjDojBgHFs4kKBFoVK9enUtWrRIr776qoKCgjJ1CYuPj4+mTJmiefPmKSgoSDVq1NDs2bM1ZMiQBx8wkEu8vb0VEBCglStX6scff9Q///yjOXPmSEorED927Fi98cYbNtv17NlTV69e1TvvvKPk5GS1bt3aqPUF5CW///67EhIStH//fqs7l9+qYcOGWrZsmU6fPq3ly5crJCRETZs21YwZM/Tyyy/ftf9WrVpp4sSJWrhwoTZs2KC6desad2AHgPvFGBbIGGNYFAaMYwsHk8Visdg7CAAAAAAAAAAojKhBCwAAAAAAAAB2QoIWAAAAAAAAAOyEBC0AAAAAAAAA2AkJWgAAAAAAAACwExK0AAAAAAAAAGAnJGgBAAAAAAAAwE5I0AIAAAAAAACAnZCgBQAAAAAAAAA7IUELAAAAAAAAAHZSxN4BAACy5/Dhw5o/f7727duny5cvq0SJEqpWrZpatmypnj172js8AAAAIEOMYwHAmslisVjsHQQAIGt2796tXr16qVy5cnrhhRdUunRpnTt3Tn/99ZdOnjypzZs32ztEAAAAwAbjWACwxQxaAMiHFi5cKDc3N61Zs0bu7u5W665cuWKnqAAAAIC7YxwLALaoQQsA+dDJkydVrVo1m0GtJJUsWdLq8TfffKMXX3xRderUUcOGDTV06FCdO3fOqs3vv/+uQYMGqUWLFnr88cfVvHlzTZ48WUlJSVbtLl26pNGjR8vf31+PP/64mjZtqjfffFOnT5+2ardixQq1a9fOaDNx4kTFxsZatenZs6fat2+vo0ePqmfPnqpbt66aNWum4ODg+zk0AAAAyMMYxwKALWbQAkA+VL58ee3Zs0cRERGqXr36Hdt99NFHmj17ttq2bauXXnpJV69e1fLly/XKK69o7dq1xsA4LCxMSUlJ6tatm0qUKKG9e/dq+fLlOn/+vObMmWP0N3DgQB09elQ9evRQ+fLldfXqVe3cuVPnzp1ThQoVJElz587VvHnz9NRTT6lbt26KiorSypUrtW/fPq1cuVJOTk5GfzExMXrttdfUunVrtW3bVhs3btT06dNVvXp1NW/e/AEdPQAAANgL41gAyIAFAJDv7Nixw1KjRg1LjRo1LF26dLFMmzbN8tNPP1mSk5ONNqdPn7bUqFHD8tFHH1lte/jwYUvNmjWtlicmJtrsY9GiRRYfHx/LmTNnLBaLxRITE2OpXr26ZcmSJXeM68qVK5ZatWpZ+vbta7l586axfPny5Zbq1atb1qxZYyzr0aOHpXr16pavv/7aWHb9+nWLn5+fZeDAgZk/GAAAAMg3GMcCgC1KHABAPuTn56dVq1apZcuWOnTokJYsWaLAwED5+/tr69atkqTNmzcrNTVVbdu21dWrV41/pUqVUuXKlbVr1y6jv6JFixq/JyQk6OrVq/L19ZXFYtGBAweMNk5OTvr1118VExOTYVw///yzUlJS1KtXLzk4/O8tpnPnznJ1ddW2bdus2ru4uKhjx47GY7PZrNq1a+vUqVP3f5AAAACQ5zCOBQBblDgAgHyqTp06mjdvnpKTk3Xo0CFt2bJFy5Yt0+DBg7V27VodP35cFotFzz77bIbbFynyv7eAs2fPas6cOfr+++9tBq3x8fGS0gadI0aM0Pvvvy8/Pz/VrVtXLVq0MO6+m96PJHl7e1v1YTabVbFiRZ05c8Zq+SOPPCKTyWS1zMPDQ4cPH87GEQEAAEB+wDgWAKyRoAWAfM5sNqtOnTqqU6eOqlSpotGjRyssLEypqakymUwKDg6Wo6OjzXYuLi6SpJs3b+rVV1816mh5e3vLxcVFFy5c0KhRo5Sammps06dPH7Vs2VJbtmzRjh07NHv2bC1evFiffPKJatasmeXYM4oLAAAAhQPjWABIQ4IWAAqQxx9/XJJ08eJFVapUSRaLRRUqVJCXl9cdt4mIiNDx48f1/vvv64UXXjCW79y5M8P2lSpVUt++fdW3b18dP35cL7zwgpYuXarp06erXLlykqTIyEhVrFjR2CY5OVmnT5/WU089lQPPEgAAAAUN41gAhRk1aAEgH/rll19ksVhslqfXxvL29tazzz4rR0dHzZs3z6atxWLRP//8I0lGja1b21gsFn366adW2yQmJur69etWyypVqqTixYsrOTlZkvTUU0/JyclJn332mVV/a9asUVxcHHe0BQAAKOQYxwKALWbQAkA+NGnSJCUmJqp169by9vZWSkqKdu/ere+++07ly5fXiy++KHd3dw0ZMkQzZszQmTNn9Mwzz6h48eI6ffq0tmzZopdfflmBgYHy9vZWpUqV9P777+vChQtydXXVxo0bFRsba7XP48ePq0+fPnruuedUrVo1OTo6asuWLbp8+bLatWsnSfL09FRQUJDmzZun1157TS1btlRUVJT++9//qnbt2nr++eftcbgAAACQRzCOBQBbJGgBIB965513FBYWpm3btunzzz9XSkqKypUrp+7du+vNN9+Uu7u7JOn1119XlSpVtGzZMs2fP19S2g0N/Pz81LJlS0mSk5OTFi5cqEmTJmnRokVydnZW69at9corr1jdmfaRRx5Ru3btFB4ernXr1snR0VHe3t6aNWuW2rRpY7QbOHCgPD09tXz5ck2ZMkUeHh56+eWXNWzYMDk5OeXiUQIAAEBewzgWAGyZLBldWwAAAAAAAAAAeOCoQQsAAAAAAAAAdkKCFgAAAAAAAADshAQtAAAAAAAAANgJCVoAAAAAAAAAsBMStAAAAAAAAABgJyRoAQAAAAAAAMBOSNACAAAAAAAAgJ2QoAUAAAAAAAAAOyFBCwAAAAAAAAB2QoIWAAAAAAAAAOyEBC0AAAAAAAAA2AkJWgAAAAAAAACwExK0AAAAAAAAAGAnJGgBAAAAAAAAwE5I0AIAAAAAAACAnZCgBQAAAAAAAAA7IUELAAAAAAAAAHZCghYAAAAAAAAA7IQELQAAAAAAAADYCQlaAAAAAAAAALATErQAAAAAAAAAYCckaAEAecKhQ4f0xhtvyM/PTz4+PvLx8dGoUaMkyXjs4+Oj06dP5+h+R4wYIR8fHzVo0ECxsbE52ndOOX78uGrUqCEfHx/NmjXL3uEAAJBvrF69Ws8//7x8fX2NscSuXbv01VdfGY979uxp7zDzpJYtW1ods/zs6tWrevLJJ+Xj46N33nnH3uHYmDt3rs34V1K+O0937dplxNuyZctMbXOn5343PXv2NLb56quvMrXNg/w8cS9vv/22fHx89OSTT+qff/7J1X0j/yhi7wAA4F5+//13vfLKK1bL1q9fr0cffdROERUcPj4+NstMJpNcXV3l7e2tgIAAde/eXWaz+YHGce3aNfXr108XL17M0na7du3Sr7/+KkmqUaOGnnnmmSxtv2/fPq1fv16S1L17d7m7uxvrRo0apa+//lqS1LBhQ3322WfGuluPm5OTk8LCwlShQgVj2dy5czVv3jxJUt26dfXFF19kuG26IkWKyMPDQz4+PnrhhRfUsWNHq/VVqlTRc889p9DQUC1btkzdunVTmTJlsvRcAQDIDV999ZVGjx5ts9zJyUkPPfSQ6tatq549e6pRo0YPPJZNmzZp7NixWd5u2bJliouLkyR16tTJ6j3+bnbt2qVevXpZLZs7d66effZZq2VHjhxR+/btrZZNmTJFL774YpZjze/Cw8M1Z84cRUREyNnZWQ0aNNDbb7+tSpUqWbXbvHmzBgwYoJ49e2brbzp//nzFxsbKZDIpKCgop8LPtK+++kpnzpyRJD3zzDOqUaNGrscA+wkKCtK3336r2NhYzZ8/P1vnMAo+ErQA8rz0JNmtvvrqK40cOdIO0RR8FotFcXFx+uuvv/TXX38pLCxMn3766QNN0u7du9dIzpYoUUJTpkyRu7u7SpUqJUlasWKF0fbhhx82fv/111+NRGinTp2ynKCdP3++LBaLTCaTunfvnq3YU1JSNG/ePE2dOjVb20vSjRs3dOXKFf3888/6+eefFRUVpSFDhli1eeWVVxQaGqrExEQtWbJE//73v7O9PwAAcltKSoouXryozZs3a/PmzRo7duwDnxG4efNm4/eWLVuqT58+cnR0lI+Pj6pVq2aML9zc3Ky2+/TTT41kWsOGDTOdoM3I8uXLbRK0t37pm5fNnj1b169fl5TxF8z369ChQ+rXr58cHR01e/ZsRUREaMaMGTp48KDWrVsnFxcXSVJ8fLzee+89lS1b1mZ8lBmXLl3S559/Lklq0qSJqlatmpNPI1O+/vprY1JB+fLlM52gbd68+R3P04LiX//6l5o0aSJJxti/oKlWrZoaN26s8PBwrVq1Sm+++aZKlixp77CQx1DiAECelpiYqLCwMJvl3377rW7evGmHiDKWlJSk1NRUe4dxX9544w2tWLFCS5YssZrBuWfPHq1cufKe26empiopKSlb+75w4YLx+6OPPqqWLVvqiSeeUJUqVSRJTzzxhPEvpxLFZ86c0bZt2yRJDRo0UNmyZbPd17p163Ts2LEsb5d+zGfOnGn1YeGTTz5RSkqKVdsGDRqoXLlykqRvvvkm28caAIDctGLFCq1YsUIzZsww3tcladq0abpy5co9t7927Vq2933r+OKZZ55Ro0aN9MQTT8jNzU0lS5Y0xhYPIvmYbteuXYqIiDAex8TEaN26dQ9sf7e7n+NXu3Zt4xg9iOTgd999p5SUFD311FNq0aKF+vXrJzc3N506dUp//vmn0W769Om6ePGixo8fL1dX1yzvZ/Xq1ca4ql27djkVfq7IjfP0fsbwOaFcuXLGc7z1/4iCJv3cS0lJ0ZdffmnnaJAXkaAFkKdt3rxZ8fHxkqR69erJ29tbUto34Tt27DDa/fTTT0ZNoeeee86mnzFjxhjrP/zwQ2N5YmKigoOD9dJLL6l+/fp6/PHH9eyzz2rKlCm6evWqVR+311SKiorSgAED9OSTT6pu3bqKj4/XyZMnNXr0aHXq1ElPPfWUHn/8cdWrV08BAQGaPHlyhh9Ezpw5o0GDBqlBgwaqX7++goKCdPTo0bvWVoqOjtasWbOMmmp16tRRu3btNHfu3GwPxCtXrqwnnnhCzZo109SpU1W+fHmr557u1vpNhw4d0qRJk9SsWTPVqlXL6m+ydetW9evXT02aNFGtWrXUqFEj9e3b1ybh7uPjYzUb+rfffrN53rfXjDp9+rR8fHyM2bNS2syErNS8CgsLM5LqzZs3z+LRsnbz5k3Nnj07y9ulH/OAgAANGjTIWJ6QkKDo6GirtiaTSc2aNZOU9uHu1mMNAEBelZ54ad++vSZOnGgsT05O1p49eyTZ1tncu3evXn31VdWvX18tWrQwtomPj9f8+fPVqVMn+fr66vHHH1erVq00duxYHT9+3GiX3t+t45dbx4IZ7VP6Xy3M9NmzktSrVy+j3dy5c7P03NOTicuXLzeWrV69WomJiXJwcDBmiN5u3759GjFihDp06KDGjRurVq1a8vX1VceOHTVnzhybsd7tNTx/+uknde3aVfXq1bO6Qui3335T165dVadOHT311FMaP368YmJi7lib8041aG8fo65Zs0bPP/+8ateuraZNm2rGjBmZmkiRnJwsKa38hZQ21ilSpIjVut27d2vVqlVq27atnn766Xv2mZHQ0FDj91vPp1tldtwq3bmWaUb1V9PPs/TZs5I0evToTNdcvVcN2tDQUPXt21eNGjXS448/rqZNm2rYsGE6dOjQXeO+0xj+m2++Uffu3fXkk0+qZs2aatSokTp06KBRo0ZZJc0z6+LFixo9erQaNWqkOnXqqHv37tq3b59Vm7vVoD116pTV56Q33njjnpMifvnlF6vzfMKECfe8z8SxY8f073//W61atVLt2rVVv359de3aVV999ZUsFotV21GjRln9n7B161a9/PLLqlOnjho3bqxx48YpISHBZh+3nnsbNmy4azwonChxACBPu7W8wfPPP6+YmBgjEfbVV18ZiTU/Pz+VLVtW586dU1RUlPbv36/HH39cUtoAb9OmTZLSBn4vvfSSpLSbBfTu3dtqVoMknThxQsuWLdN3332nFStWqGLFijZxxcbGqnv37jZJ3OPHj9skU1NSUnTs2DEdO3ZMW7Zs0dq1a41ap5cuXVLXrl2taq/++OOP2rNnzx1nKpw4cUK9evXS+fPnrZYfPXpU8+bN06ZNm/TZZ5+pRIkSGW6fGQ4ODlYzFG6fzZlu8ODBVh+I0k2aNMnm8r3o6Gjt3LlTO3fuVJcuXfTee+9lO76c8Ntvvxm/161bN9v91KtXT3/++ac2bdqkv//+W7Vq1brv2Mxmsx566CGb5XXr1jUu0fvll1+yXNIBAAB7urXWu/S/JNytTpw4oZ49exoz+tLHQ5cuXVKPHj1sxh2nT5/W6tWrtX79ei1YsEBPPfXUgwk+Gzp16qTPPvtM3377rd5++225uLjov//9ryTp6aef1qFDhzJM5Ozfv1/ffvut1bIbN27o0KFDOnTokH788Ud98cUXRjLzVr///ru++eYbmyu7wsPD1a9fP2NMd/36da1atcomWZZVixYtsvqbXLp0SYsXL5abm5tef/31u27r7++vpUuX6tdff9XZs2d15MgR/fPPP/Lw8FDdunWVnJysd999V25ubtku7XT16lUdPXpUUlppgYwuoc8P49bbpaam6u233zbupZDu0qVL2rBhgzZv3qzZs2ffcdJCRmP4L7/8UmPGjLFaFh0drejoaEVERMjb21v16tXLdIxxcXHq3Lmz1WeWP/74Q/369dOWLVvuORv6woUL6tatmy5dumQs++GHH7R79+47brtjxw4FBQXpxo0bktLO85UrV+qvv/664362bNmiYcOGGeU8pP99gbRnzx79/PPP+uCDD2QymWy2/fbbb60mjFy/ft0Yq99+zpQuXVrlypXT2bNndfjwYUVHR9/X5zUUPCRoAeRZ586d0y+//CIp7SZKbdu21bVr14wE7ffff6+YmBh5eHjIwcFBL774oubPny8p7c0yPUH7448/Gjd6ePLJJ42bDrz33ntGcrZGjRrGZVVr1qzRxo0bdeHCBY0aNcqq/mm6uLg4ubu7a8yYMapWrZqOHTsms9ms8uXLa/jw4apcubJcXV3l5OSk2NhYrVq1Sj/99JPOnDmjL774Qq+99pokaebMmUZy1tXVVcOGDdMjjzyipUuX6vfff8/wuLz99tvGQKdRo0bq1auXHB0djQFuRESEJk+erGnTpmXruCcmJmrdunU6fPiwsaxmzZoZtj158qT69u2rJk2a6J9//lHFihW1detWq0Funz599NRTT+m3337TkiVLZLFY9Pnnn6tJkyZq27atVqxYoZ9++kkLFy6UlPa3SC+c7+XlleF+H374Ya1YsUJffvmlkRD39/c3bvrg7Ox8z+d5a2L+fi6n6t27t44fP27Mag4ODs70tidOnNDvv/+uS5cuGeeulFZvNqMPXbfGeevfBwCAvO78+fOaM2eO1bKM6nBeuHBBZcqU0dixY1WuXDljttzEiRONhFKpUqU0bNgweXh4aOnSpfrjjz+UmJioESNGaMuWLUbdzkmTJungwYOS0soKpV+JcifptTCHDBliJIXGjh1rxJleaiizunfvrhUrVighIUFffvmlypcvb8zO7dGjxx1vFJQ+k7BixYoqXry4HBwc9M8//2jJkiXat2+f/v77b23evFlt27a12fbUqVOqVq2aXn/9dZUsWVLnzp1Tamqqxo8fbyRnvb29NXjwYF2/fl0zZszI0nO63fHjx9WzZ081a9ZMX375pTZu3CgprY7vvRK0TZo00fjx4zVr1ixjdmyVKlX0n//8Rw899JDmzZuno0ePatKkSSpdurQk6cqVK3Jzc8t0yasjR44YMyArV65ssz6r49asute5mN2aq6tWrTKSsw899JAGDhwoLy8v/frrr1q4cKGSk5P1zjvvaOvWrfLw8LDZPqMx/OrVq431AwcOVIMGDXTt2jWdPn1aO3bsyNT4+laxsbFyd3fXjBkzlJycrMmTJysuLk7//POP1q9fr65du951+1mzZhmvQzc3N+Nz0scff2w1IzldamqqJk6caCRnq1WrpoEDByo5OdnqCspbXb16VW+//baRnO3ataueeeYZXb16VbNnz9aZM2f07bffqnHjxsYkn1udOHFC7du3V4cOHfTjjz8aZeG+/PJLjRw5UsWLF7dqX6VKFZ09e1YWi0URERFq2LDhPY4iChMStADyrFu//W/atKk8PT3l6ekpX19f7dmzR8nJydqwYYNx6daLL76oBQsWyGKxaMOGDRo5cqQcHBysZiCkv7HGxsYas2ol6bXXXlOZMmUkpSXHvv/+e6WkpOj3339XZGSkUVrhVu+//77xrbSfn58kqWrVqtq3b5/++9//6vDhw4qNjbW5xCv9G9zU1FRjECulDYReeeUVSZKvr69atGhh9U2ulJZUTN/eyclJr7/+uooWLSopbaCfPlgJDQ3V+PHjbQYFdzN69OgM77pcqlQp9ejRI8NtevfubXOztlsv/3v66aeNPps3b66TJ08az/nrr79W27Zt9cQTT+jkyZPGNm5ubnriiSfuGqvZbNYTTzyh8PBwY1l6ja7MunX28/18e+3q6qp+/frpgw8+0Pbt2++YWM/IwoULjcS0lDazKCgoSH379s2w/a1x3j57GwCAvOhOdTM7deqU4RexJpNJixcv1mOPPSYpbYwVExOjrVu3Gm3Gjx9v3Hirfv36evrpp5WUlKQrV65o27Ztatu2rUqWLGl1NVJ6WaG7KVeunMqVK2eV/KtevXqWxhe3Kl++vJ5++mlt3bpVK1as0COPPCIpbbx4t5m+derU0YEDBxQSEqJjx44pLi7OZkbsX3/9lWHCsFixYvrkk0+sEn/79+/XiRMnjMczZswwvnz38PAwvuDOjubNmxuJ5lq1ahnjvEuXLik+Pv6esyS7d++url276vz583J2djZunBQZGalFixapYcOGeumll7R27Vp98MEHunz5shwdHeXv76/33nvP6uaxGbnXeO/Wq/UyM27NqpIlS2brXLyXNWvWGL+/+OKLxuusadOm2rZtmw4cOKC4uDh99913GSZCMxrD3/q38vLyko+Pjzw9PSWlJa6zY+bMmapTp46ktHN21apVkpThFXi3Sk1NtbrJ36BBg4zPfPXr11fz5s1t6uYeOHDA6jPFjBkzjP9HPDw8MvzCIDQ01JjFXr16dXXo0EFS2mu3Q4cOxjh99erVGSZoH330UU2fPl0mk0n+/v5au3atEhMTdePGDaMk261uTZZnpgY3ChcStADyrFsHTOlvlum/p9cs+/rrr4036woVKqhJkyb6+eefdenSJf3yyy+qU6eOcSMoNzc3tWnTRlLaoODWxOnw4cPvGMeRI0dsErRmsznDOlizZ8/WggUL7vq8YmJiJKW9KafX15XSBhvpPD095e3tbXzTni79Ei0prexAYGBghvtISUlRVFSUMYs4O4oUKaIWLVpo1KhRxqyF291+V2IpbUCdrkGDBlbrGjRoYAx0b21nb7fXlsqqHj16aNmyZbp06ZJmzZqlRo0aZauf2NhY/f3330pNTZWDg22Z+PuNEwAAe/P09NQrr7xyx6Rg5cqVjaRKuhMnTlglKG8dX3h6esrLy8sYM+Wl8YWUVq9169atOnnypJE8Sv9C/k7GjBmjb7755q5t0seTt6tfv77NrMxbk7PFihWzujLq9rFaVjVp0sT4/fYEaExMTKZu6uXg4GA1O9lisWjcuHGS0q54++OPPzRq1Cg5OTlpzJgx2r59u3744Qe9/fbb+uSTTzIda0bjqPw4bpVkVYc1JCREISEhGbY7cuRIhsszGsO//PLL+u6773Tz5k0NGzZMUlpC0cfHRy1atFD37t1VrFixTMdYvHhxIzkrWZ8fdzp/0129etW4AlKSVWmFEiVKyNvbWwcOHLDa5tbkbLFixaz+H7nTeX7rZ6uIiIg7vjZvL4mXrnHjxkbpAwcHB7m7uysxMVFSxs+RsTzuhgQtgDxp9+7dVt+sDh8+PMMk6t69e3Xs2DFVrVpVUtqlaT///LOktDIH586dM2ahtm/f3phtmhUZ1QYrVaqUTR2ilJQULVu2zHjcoUMHPf/883JxcdEPP/ygJUuWSPrfG3NGdYxyUkZx30365VbpN62oXLnyPQdhd0rc5geenp7GZYYxMTHZOjfSFS1aVG+++abee+89/fbbb8alVfcyZcoUtW/fXlu2bNE777yjlJQUhYaGqnLlyhoyZIhN+1tvHJY+owEAgLwsvVSUk5OTPD09VaFChbuOgfLz2CIjTZo0UbVq1YxEkKurq1544YU7tr9w4YJVcrZ3795q3ry5nJ2dtXr1aq1du1bSnRM9GR2/BznmvHVG4O3lmbKbjFq9erV+++03DR48WF5eXgoJCZHFYlGbNm2M49GmTRv98ssvRkmMO7l1vHSvpGB23DrhIy9e3XSnzwMZnSeNGjUyyoft379fUVFR+ueff/Trr7/q119/1e7du61Kct3L7Qn7W8+P/JaovNNxvL18xL2e463nYPpscSAdCVoAeVL64DMzvv76a40YMUKS1Lp1a3l4eCgmJkabNm2ymjHQuXNn4/cqVarI0dHRGFSFhYVleJldQkJChnfYzWigGx0dbfXmPXHiRKPEwK2zgdN5enrKzc3N+Hb4r7/+Mr5lvnr1aobf1KcnoqW0pOCOHTsyvJnYneK+m+xcbpXRcfD29ja+1d+9e7fVulsfZ1Q2Iqtu3f/tl/7dS/Xq1Y0EbWRk5F0H95nx8ssva+nSpTp9+rQxwzszzGazAgICdPjwYeMyqqVLl6pbt242MUVFRRm/3+mSUQAA8pKcGFtUrlxZDg4Oxnv97t271bp1a0nSP//8Y/X+aO/xRUZeeeUVTZw4UVLa5eh3K0F17tw54/cSJUpY3bTp1psR3cmdjl+6xMREHT582BhHZKU0U264dOmSPvjgA1WvXl39+vWTJON+DeXLl7f6KemeCdpHH31UJpNJFovF6jxJl51xa/pnDSmttnL68f3hhx/uGEdOn1NVq1bV33//LSltlnGXLl1s2iQnJ98xOZ/RcovFoho1aljdkO3kyZPq2LGjEhIStHXrViUmJmZpFm12eXp6ytXV1bja8NbPSdHR0Rl+Trr1xs63n+e3/23T3frZytfX1yjBcLusTny5k/Rz0GQy6dFHH82RPlFwkKAFkOdcv35doaGhxuO+ffsaN/ZKFxERYdwF95tvvtHQoUPl6OgoZ2dndejQQcuXL1d8fLz++OMPSWk3oahVq5axvbu7u1q3bq2wsDBJ0uuvv67AwEBVrlxZsbGxOnv2rH777TdFRkYabe6lVKlScnFxMd7AZ86cqaefflq//PKLcSOrWzk4OKhNmzZGDak5c+bIyclJDz/8sEJCQmzqz0ppSbnatWtr3759SkpKUu/evdWzZ0898sgj+ueff3T69Gn98ssvSk1NtZrNm5s6depk1Iz64Ycf9P7776tJkyb6/fffrer+durU6b739dBDDxm///777/rxxx/l6uqq0qVLZ3gjiFs1bNjQGEjv27fP6hK97HByctLAgQNt6nllVt++ffXZZ5/p2rVrun79uoKDg21uHnLrnZaffPLJ+4oXAID8wsPDQ61atTLGFxMnTlRcXJw8PDz08ccfG7UoPT091bx58/veX4kSJXT69GlJaZMGHBwc5OjoqMceeyxTl+zf7oUXXtDVq1dlsVj04osv3rXtrUmm6OhoffTRR3r88ce1ceNGq9r7WVGzZk1VqVLFuDptxIgRGjBggK5fv67p06dnq88HZdKkSYqPj9d//vMfOTk5SfrfMUmfoXrrTNVbj1dGPD099eijjyoiIkLnzp3TpUuXrGaPZmfcWqVKFeOeEO+99566d++uv//++65lKW6dTRoWFqby5cvLyclJ3t7e2boq6l//+peRoJ06daquXr2q2rVrKyUlRefOndP+/fv1/fffa82aNapQoUKm+pw8ebJOnTolPz8/lS1bVq6urjpw4IDx+rJYLEpOTs6VBK2Dg4Nat25tTHJJ/5xUpkwZq9f8rWrVqqWKFSvq1KlTkv53nicnJ2vmzJkZ7icgIEAffvihEhIStGfPHg0aNEjt27eXm5ubLly4oKioKG3btk3PPPOMBgwYcF/P6eLFi8aNnh999FGrzzGARIIWQB60efNmY1apq6urhg4danOn1tjYWK1evVopKSm6ePGidu7cKX9/f0lpNwJbvny5VfuMirqPHz9ekZGRioiI0MmTJzV+/HibNrd+Q38vJpNJPXr00OLFiyVJn332mXFX2IYNG2Z4t9EhQ4Zo+/btunjxomJjY40Y3NzcrO70e6vp06erd+/eOn/+vP7++2+NGjXKpo097wjaqlUr9ejRQ8uXL5fFYtHSpUu1dOlSqzYvv/xytm60cLvGjRsbM2rOnDlj1LN76aWX9P/+3/+767bPPfecPvjgA6WmpurHH3+8552GM+P555/X4sWLreqCZZaHh4deeeUV4/xZvXq1goKCjA8RFotF27dvl5T2BUP6+Q4AQGEwfvx4HTlyRMePH9elS5dsbmxarFgxTZ8+PctXEGXEz89P+/fvl5SWoE2/smvFihXZurmTi4tLppM7JUuWVLt27bRhwwZJaXeylyRHR0c98cQT2ZrxajKZNGHCBPXr108pKSmKiIjQoEGDJKVNYrhw4UKW+3wQfvjhB4WFhalHjx5WNUe7du2qzz//XJs2bVJAQIAxeaJ9+/aZSnIFBAQYNUR//PFHq6vqsjNu7dmzp5GgPXr0qN577z1JaVdn3alWqZ+fn1HP9qefftJPP/0kSZo2bZo6dux4z+dwu27dumn37t1av369EhISjPPkfly/fl0//PDDHWcCt2zZ0uaS/gdp6NCh+umnn3T58mWrz0kuLi4qU6aMzXnr4OCgcePG6c0339SNGzeszvOMrpSU0l5v06ZN0/Dhw3X9+nVt3LjR6ibO6Vq1anXfzyf9viiS1K5du/vuDwWP7R1IAMDObi0H0KJFC5vkrJSWoLr1Rky3bnP7bNn0WbW38/T01OrVqzVy5EjVq1dPbm5uxgzWevXq6Y033tCcOXOyFPvgwYM1ePBgVaxYUc7OzvLx8dH06dPvOFu0dOnSWrlypdq0aaPixYvLxcVFTZs21X//+1+5u7sb7W79prpKlSpat26d+vfvr5o1a8rFxUVms1nlypXTk08+qaFDh2rChAlZijunvfvuu5o/f76aNWumhx56SEWKFFGJEiX01FNPadasWfrPf/6TI/upWrWq3n//fT366KPGLIvMKleunDHLZvfu3Tp79ux9x+Pg4KDBgwdne/tXX33V+FsnJSVZ3fDhjz/+MC577NixY67MXgAAIK8oXbq0vvzySw0cOFA1atRQsWLF5OTkpPLly+ull17S119/LT8/vxzZ15tvvqkuXbqoZMmSD/yeARmZNGmSevfurUceeURFixZV3bp1tXjxYjVu3DjbfTZp0kRLly6Vr6+vzGazPD091blzZ82dO9eqXU4kuLPj2rVrmjhxoh555BENHTrUat2jjz6qkJAQeXl56a233tL27dvVu3dvIzF6L507dzbGievXr7dZn9Vxa4cOHfTOO+8Ys2CrVKmi0aNHW5WjuN1LL72koKAgPfLIIxneCDarHBwcNGPGDM2aNUvNmjWTp6enihQpooceekg+Pj7q2rWrFi9erLJly2a6z/bt26tz586qXr26SpQoIUdHR7m4uKhmzZoaNGhQjiSBs6JMmTJatWqVWrdubXxO8vPz0/Lly+94pZy/v7+WLFmievXqyWw2q0SJEnrxxReNWtgZSZ+p26VLF1WuXFnOzs7G/TiefvppTZw40bgp9f1IP/ecnJwynDwEmCz5rTozABQwFovFZvB/5coVtWzZ0rh855tvvrG5ozHu3759+9S5c2dZLBa99tprevvtt+0d0h0NHjxYYWFhKlasmDZu3HjfNXMBAEDhkdF4U5K+//57vfnmm5LSLsMPDw/PkQRiXjNp0iR99tlnMplMWr9+vapVq2bvkFCIHDlyRB06dJDFYlHPnj1typgBEjNoAcDuevfurc8//1wHDhzQuXPn9PPPP+utt94ykrOPPfYYN4R6QGrXrm3Mrl65cqViY2PtHFHGoqKijDpoffr0ITkLAACyJCoqSoGBgdq4caMiIyN18uRJffvtt1Ylvjp06FAgk7OS1L9/f7m7u8tisWjRokX2DgeFzOLFi2WxWOTu7q7+/fvbOxzkUcygBQA78/Pz0+XLlzNcV7JkSS1btkzVq1fP5agAAABQUBw7dkwBAQF3XF+3bl0tXbo0WzdBAwDcP24SBgB21q1bN23fvl0nT55UXFycnJ2dVaVKFfn7+6tXr17ZurMrAAAAkK5kyZJ6+eWXtWfPHp0/f16JiYlydXVV9erVFRAQoJdeeinL9fwBADmHGbQAAAAAAAAAYCcFs8AMAAAAUIicOHFC48aNU8eOHVWzZk21b98+w3arV69WmzZtVLt2bT3//PP64YcfbNrExcVpzJgxatiwoXx9fTVo0CBdvHjxQT8FAACAQosELQAAAJDPHTlyRNu2bVPlypVVtWrVDNts2LBB7777rtq2bavg4GDVq1dPAwYM0J9//mnVbsiQIdq5c6cmTJig6dOnKyoqSv369dONGzdy4ZkAAAAUPpQ4yEf27Nkji8VCbSAAAFCopKSkyGQyydfX196h5FmpqanG3ddHjRql/fv3a/369VZt2rRpo8cff1wzZswwlnXt2lVubm4KDg6WlDbe7Nq1q0JCQtS0aVNJUmRkpAICAvThhx/e9SZDd8IYFgAAFEZZGcMygzYfsVgsIp8OAAAKG8ZA95aenL2TU6dO6fjx42rbtq3V8oCAAIWHhys5OVmStH37drm7u8vPz89o4+3trRo1amj79u3Zio2/HwAAKIyyMgYq8oBjQQ5Kn3VQu3ZtO0cCAACQe/bt22fvEPK9yMhISZKXl5fV8qpVqyolJUWnTp1S1apVFRkZKS8vL5lMJqt23t7eRh9ZxRgWAAAURlkZw5KgBQAAAAq4mJgYSZK7u7vV8vTH6etjY2Pl5uZms72Hh4f279+f7f1bLBYlJCRke3sAAID8xmKx2HzpfSckaAEAAAA8UCkpKTp48KC9wwAAAMhVZrM5U+1I0AIAAAAFnIeHhyQpLi5OpUuXNpbHxsZarXd3d9f58+dtto+JiTHaZIeTk5OqVauW7e0BAADym6NHj2a6LQlaAAAAoIDz9vaWlFaLNv339MdOTk6qWLGi0S48PNzmkryoqChVr1492/s3mUxycXHJ9vYAAAD5TWbLG0jS3W/3CgAAACDfq1ixoqpUqaKwsDCr5aGhoWrSpIlx+Z2/v79iYmIUHh5utImKitKBAwfk7++fqzEDAAAUFsygBQAAAPK5xMREbdu2TZJ05swZxcfHG8nYhg0bytPTUwMHDtSIESNUqVIlNWrUSKGhodq7d6+WL19u9OPr66umTZtqzJgxGjlypJydnTVz5kz5+Pjo2WeftctzAwAAKOhI0AIAAAD53JUrVzR48GCrZemPP/30UzVq1Ejt27dXYmKigoODtXjxYnl5eWnevHny9fW12m7WrFmaMmWKxo0bpxs3bqhp06YaO3asihThowMAAMCDYLJYLBZ7B4HM2bdvnySpdu3ado4EAAAg9zAGyt/4+wEAgMIoK2MgatACAAAAAAAAgJ2QoAUAAAAAAAAAOyFBCwAAAAAAAAB2QoIWAAAAAAAAAOyEBC0AAAAAAAAA2EkRewcA5Bfz58/X2rVr9cILL6h///72DgcAAAB5zIULF5SQkGDvMPIVFxcXlSlTxt5hAABgVyRogUxISkrS2rVrlZqaqrVr1yowMFBFixa1d1gAAADII2JjYzVs2DBZLBZ7h5KvODg4aMGCBXJ3d7d3KAAA2A0JWiATbty4odTUVElSamqqbty4YeeIAAAAkJe4u7vrww8/zHMzaM+cOaMFCxborbfeUvny5e0djg0XFxeSswCAQo8ELQAAAADkgLx8qX758uXl5eVl7zBQgFHiI+so8QEgXZ5N0H733Xdat26d/v77b8XGxqpy5crq2bOn/vWvf8lkMhntVq9erSVLlujs2bPy8vLS0KFD9fTTT1v1FRcXpylTpmjLli1KSUlRs2bNNHbsWD388MNW7Xbv3q33339fBw8eVMmSJdWtWzf169fPan8Wi0XBwcH673//q6tXr6pGjRoaPXq06tWrZ9XXhQsXNGnSJO3YsUNOTk5q3bq1Ro8eLVdX15w/WAAAAAAA2AklPrKHEh8A0uXZBO2yZctUvnx5jRo1Sg899JB+/vlnvfvuuzp//rwGDBggSdqwYYPeffddvfHGG2rcuLFCQ0M1YMAArVixwiphOmTIEB09elQTJkyQs7OzZs2apX79+unLL79UkSJph+DEiRMKDAyUn5+fhgwZosOHD2v69OlydHRUYGCg0VdwcLDmzJmjESNGyMfHRytWrFDfvn31zTffqGLFipKklJQUvfbaa5KkGTNmKCkpSe+//76GDx+uRYsW5dIRBAAAAADgwcurJT6kvF3mgxIfANLl2QTtRx99JE9PT+NxkyZNFB0drY8//lhvvfWWHBwcNGfOHLVr105DhgyRJDVu3FgRERGaP3++goODJUl79uzRjh07FBISoqZNm0qSvLy8FBAQoE2bNikgIECSFBISooceekgffvihzGazmjRpoqtXr2rhwoXq2bOnzGazrl+/rkWLFqlv377q06ePJKlBgwZ67rnnFBISogkTJkiSNm7cqCNHjig0NFTe3t6S0t6wAgMDtXfvXtWpUycXjiAAAAAAALkjr1+qT5kPAHmZg70DuJNbk7PpatSoofj4eCUkJOjUqVM6fvy42rZta9UmICBA4eHhSk5OliRt375d7u7u8vPzM9p4e3urRo0a2r59u7Fs+/btatWqlcxms1VfsbGx2rNnj6S0Egjx8fFW+zSbzWrdurVNXz4+PkZyVpL8/PxUokQJbdu2LbuHBAAAAAAAAEABk2cTtBn5448/VKZMGbm6uioyMlKSbL4Bq1q1qlJSUnTq1ClJUmRkpLy8vKzqyEppSdr0PhISEnTu3DmrhGp6G5PJZLRL/3l7u6pVq+rs2bNKSkoy2t3exmQyycvLy+gDAAAAAAAAAPJsiYPb/f777woNDdXIkSMlSTExMZJkU68l/XH6+tjYWLm5udn05+Hhof3790tKu4lYRn2ZzWYVK1bMqi+z2SxnZ2ebfVosFsXExKho0aJ33Wd6X9llsVjyZF2fgu72Y56QkCAHh3z1/QYAAPmWxWKx+bIdAAAgr7hw4QK5mixycXHJ86VRclO+SNCeP39eQ4cOVaNGjdSrVy97h2NXKSkpOnjwoL3DKHQSExOtHkdERKhYsWJ2igYAgMLn1jJUAAAAeUVsbKyGDRsmi8Vi71DyFQcHBy1YsIAb5f2fPJ+gjY2NVb9+/VSiRAnNnTvXmLXo4eEhKW32a+nSpa3a37re3d1d58+ft+k3JibGaJM+2zV9Jm265ORkJSYmWvWVnJys69evW82ijY2NlclksmoXHx+f4T7Lli2bjaPwP05OTqpWrdp99YGsu/3vWb16dbm6utopGgAACpejR4/aOwQAAIAMubu768MPP8yTM2jPnDmjBQsW6K233lL58uXtHY4VFxcXkrO3yNMJ2qSkJAUFBSkuLk6ff/65VdmA9Bqvt9d7jYyMlJOTkypWrGi0Cw8Pt7k0LioqStWrV5eUdlKULVvWpj5sVFSULBaL0X/6z6ioKD322GNW+yxXrpyKFi1qtIuIiLDqy2KxKCoqyupmZdlhMpnk4uJyX30g61JTU60eu7i48HcAACCXUN4AAADkZXn9Uv3y5cvb3MMJeUueLaJ548YNDRkyRJGRkVqyZInNyV6xYkVVqVJFYWFhVstDQ0PVpEkT4zI4f39/xcTEKDw83GgTFRWlAwcOyN/f31jm7++vrVu3KiUlxaovd3d3+fr6SpLq168vV1dXfffdd0ablJQUbdq0yaavQ4cO6fjx48ay8PBwRUdHq3nz5vdxVAAAAAAAAAAUJHl2Bu3EiRP1ww8/aNSoUYqPj9eff/5prKtZs6bMZrMGDhyoESNGqFKlSmrUqJFCQ0O1d+9eLV++3Gjr6+urpk2basyYMRo5cqScnZ01c+ZM+fj46NlnnzXaBQYG6ttvv9Xw4cPVrVs3RUREKCQkREOHDjWSvc7OzgoKCtLcuXPl6emp6tWra+XKlYqOjlZgYKDRV5s2bbRo0SINHDhQw4YNU2JioqZNm6YWLVqoTp06D/7gAQAAAAAAAMgX8myCdufOnZKkqVOn2qzbunWrKlSooPbt2ysxMVHBwcFavHixvLy8NG/ePGPGa7pZs2ZpypQpGjdunG7cuKGmTZtq7NixKlLkf0+/cuXKCgkJ0dSpU/X666/L09NTgwYNUt++fa366tevnywWi5YuXaqrV6+qRo0aCgkJMUoqSGl1YpcsWaJJkyZp2LBhKlKkiFq3bq0xY8bk5CECAAAAAAAAkM/l2QTt999/n6l2nTt3VufOne/axs3NTZMnT9bkyZPv2q5+/fr64osv7trGZDIpKChIQUFBd21XpkwZzZ07965tAAAAAAAAABRuebYGLQAAAAAAAAAUdCRoAQAAAAAAAMBOSNACAAAAAAAAgJ2QoAUAAAAAAAAAOyFBCwAAAAAAAAB2QoIWAAAAAAAAAOyEBC0AAAAAAAAA2AkJWgAAAAAAAACwExK0AAAAAAAAAGAnJGgBAAAAAAAAwE5I0AIAAAAAAACAnZCgBQAAAAAAAAA7IUELAAAAFAJfffWVfHx8bP5Nnz7dqt3q1avVpk0b1a5dW88//7x++OEHO0UMAABQOBSxdwAAAAAAcs+SJUvk5uZmPC5Tpozx+4YNG/Tuu+/qjTfeUOPGjRUaGqoBAwZoxYoVqlevnh2iBQAAKPhI0AIAAACFSK1ateTp6Znhujlz5qhdu3YaMmSIJKlx48aKiIjQ/PnzFRwcnItRAgAAFB6UOAAAAACgU6dO6fjx42rbtq3V8oCAAIWHhys5OdlOkQEAABRsJGgBAACAQqR9+/aqUaOGWrVqpUWLFunmzZuSpMjISEmSl5eXVfuqVasqJSVFp06dyvVYAQAACgNKHAAAAACFQOnSpTVw4EDVrVtXJpNJ33//vWbNmqULFy5o3LhxiomJkSS5u7tbbZf+OH19dlgsFiUkJGQ/eGRbUlKS8ZO/AQojXgMozDj/7ctischkMmWqLQnaQizVkioHE5Oo8WBxngEAkDc0a9ZMzZo1Mx43bdpUzs7O+uSTT/TGG2880H2npKTo4MGDD3QfyNiFCxckSVFRUXw4R6HEawCFGee//ZnN5ky1I0FbiDmYHLTir590IT77syEKi5TEJKvH838Jk1OxonaKJv8o4+qhV+o2u3dDAABgF23bttXSpUt18OBBeXh4SJLi4uJUunRpo01sbKwkGeuzw8nJSdWqVbu/YJEtLi4uktJKV1SuXNnO0QC5j9cACjPOf/s6evRoptuSoC3kLsTH6EzsVXuHkefdSLK+KcbZuGgVScnctyAAAAD5gbe3t6S0WrTpv6c/dnJyUsWKFbPdt8lkMj4kIncVLVrU+MnfAIURrwEUZpz/9pXZ8gYSNwkDAAAACq3Q0FA5OjqqZs2aqlixoqpUqaKwsDCbNk2aNMn0JXoAAADIGmbQAgAAAIVAYGCgGjVqJB8fH0nS1q1b9cUXX6hXr15GSYOBAwdqxIgRqlSpkho1aqTQ0FDt3btXy5cvt2foAAAABRoJWgAAAKAQ8PLy0pdffqnz588rNTVVVapU0ZgxY9SzZ0+jTfv27ZWYmKjg4GAtXrxYXl5emjdvnnx9fe0YOQAAQMFGghYAAAAoBMaOHZupdp07d1bnzp0fcDQAAABIRw1aAAAAAAAAALATErQAAAAAAAAAYCeUOAAAAACQb1y+fFlxcXH2DiPfOHPmjNVPZI6bm5tKlSpl7zAAAIUECVoAAAAA+cLly5c1fMQIpSQn2zuUfGfBggX2DiFfcTKbNWP6dJK0AIBcQYIWAAAAQL4QFxenlORklfCroyIexe0dDgqoGzHXFL1zr+Li4kjQAgByBQlaAAAAAPlKEY/icirpYe8wAAAAcgQ3CQMAAAAAAAAAOyFBCwAAAAAAAAB2QoIWAAAAAAAAAOyEBC0AAAAAAAAA2AkJWgAAAAAAAACwkyL2DgAAAAAAAGTO5cuXFRcXZ+8w8o0zZ85Y/UTmuLm5qVSpUvYOAyg0SNACAAAAAJAPXL58WcNHjFBKcrK9Q8l3FixYYO8Q8hUns1kzpk8nSQvkEhK0AAAAAADkA3FxcUpJTlYJvzoq4lHc3uGggLoRc03RO/cqLi6OBC2QS0jQAgAAAACQjxTxKC6nkh72DgMAkEO4SRgAAAAAAAAA2AkJWgAAAAAAAACwExK0AAAAAAAAAGAnJGgBAAAAAAAAwE5I0AIAAAAAAACAnZCgBQAAAAAAAAA7IUELAAAAAAAAAHaSpxO0J06c0Lhx49SxY0fVrFlT7du3t2nTs2dP+fj42Pw7duyYVbu4uDiNGTNGDRs2lK+vrwYNGqSLFy/a9Ld792516dJFderU0dNPP63FixfLYrFYtbFYLFq8eLFatGihOnXqqEuXLvrzzz9t+rpw4YIGDhwoX19fNWzYUP/+978VHx9/fwcFAAAAAAAAQIFRxN4B3M2RI0e0bds21a1bV6mpqTaJ0nT169fXyJEjrZZVqFDB6vGQIUN09OhRTZgwQc7Ozpo1a5b69eunL7/8UkWKpB2GEydOKDAwUH5+fhoyZIgOHz6s6dOny9HRUYGBgUZfwcHBmjNnjkaMGCEfHx+tWLFCffv21TfffKOKFStKklJSUvTaa69JkmbMmKGkpCS9//77Gj58uBYtWpRjxwgAAAAAAKAwuHz5suLi4uwdRr5x5swZq5/IHDc3N5UqVSpX95mnE7QtW7bUM888I0kaNWqU9u/fn2E7d3d31atX74797NmzRzt27FBISIiaNm0qSfLy8lJAQIA2bdqkgIAASVJISIgeeughffjhhzKbzWrSpImuXr2qhQsXqmfPnjKbzbp+/boWLVqkvn37qk+fPpKkBg0a6LnnnlNISIgmTJggSdq4caOOHDmi0NBQeXt7G3EGBgZq7969qlOnTg4cIQAAAAAAgILv8uXLGj5ihFKSk+0dSr6zYMECe4eQrziZzZoxfXquJmnzdILWwSFnKjBs375d7u7u8vPzM5Z5e3urRo0a2r59u5Gg3b59u1q3bi2z2Wy0CwgI0KJFi7Rnzx41atRIu3fvVnx8vNq2bWu0MZvNat26tTZv3my1Tx8fHyM5K0l+fn4qUaKEtm3bRoIWAAAAAAAgk+Li4pSSnKwSfnVUxKO4vcNBAXUj5pqid+5VXFwcCdqs+vXXX1WvXj3dvHlTdevW1eDBg/Xkk08a6yMjI+Xl5SWTyWS1nbe3tyIjIyVJCQkJOnfunFVCNb2NyWRSZGSkGjVqZLS/vV3VqlX1ySefKCkpSUWLFlVkZKRNG5PJJC8vL6MPAAAAAAAAZF4Rj+JyKulh7zCAHJXvE7RPPvmkOnbsqCpVqujixYsKCQnRq6++qs8++0y+vr6SpNjYWLm5udls6+HhYZRNSK9h4u7ubtXGbDarWLFiiomJMfoym81ydna2aufu7i6LxaKYmBgVLVr0rvtM7ys7LBaLEhISsr19OpPJpGLFit13P4WFg6ODZDJJFotkMqU9RqYlJibesYY0AAD3YrFYbL5oBwAAAAqKfJ+gHTRokNXjFi1aqH379lqwYIGCg4PtFNWDk5KSooMHD953P8WKFVPNmjVzIKLCwcGpiEr5PqbLew6plO9jcnDK9y+dXBUVFaXExER7hwEAyMduLUEF3IiJt3cIKMA4vwAAua3AZZlcXFzUvHlzbdy40Vjm7u6u8+fP27SNiYmRh0fatPj02a633w0wOTlZiYmJRjt3d3clJyfr+vXrVrNoY2NjZTKZrNrFx9u+scfExKhs2bLZfn5OTk6qVq1atrdPxyyUrKvQsqEqtGxo7zDyJS8vL2bQAgCy7ejRo/YOAXlM9M599g4BAAAgxxS4BG1GvL29FR4ebnN5XFRUlKpXry4pLbFbtmxZm/qwUVFRslgsRj3Z9J9RUVF67LHHjHaRkZEqV66cihYtarSLiIiw6stisSgqKsrqZmVZZTKZ5OLiku3tAXugnAYA4H7wxTJuV8Kvtop4uNo7DBRQN2Li+RIAAJCrClyCNiEhQT/++KNq165tLPP399eCBQsUHh6up556SlJagvXAgQN67bXXrNpt3bpVb7/9tpycnCRJoaGhcnd3N+rZ1q9fX66urvruu++MBG1KSoo2bdokf39/q77WrVun48ePq0qVKpKk8PBwRUdHq3nz5g/0GAAAAAAFWREPV24QAwAACow8naBNTEzUtm3bJElnzpxRfHy8wsLCJEkNGzZUZGSklixZotatW6t8+fK6ePGiPv74Y126dEmzZ882+vH19VXTpk01ZswYjRw5Us7Ozpo5c6Z8fHz07LPPGu0CAwP17bffavjw4erWrZsiIiIUEhKioUOHGnXPnJ2dFRQUpLlz58rT01PVq1fXypUrFR0drcDAQKOvNm3aaNGiRRo4cKCGDRumxMRETZs2TS1atFCdOnVy4/ABAAAAAAAAyOPydIL2ypUrGjx4sNWy9MeffvqpHnnkEaWkpGjmzJmKjo5WsWLF5Ovrq4kTJ9okQWfNmqUpU6Zo3LhxunHjhpo2baqxY8eqSJH/HYLKlSsrJCREU6dO1euvvy5PT08NGjRIffv2teqrX79+slgsWrp0qa5evaoaNWooJCREFStWNNo4OTlpyZIlmjRpkoYNG6YiRYqodevWGjNmTE4fJgAAACDHHDt2TJMmTdKePXtUvHhxdezYUUOGDOFGbQAAAA9Ink7QVqhQQYcPH75rm5CQkEz15ebmpsmTJ2vy5Ml3bVe/fn198cUXd21jMpkUFBSkoKCgu7YrU6aM5s6dm6n4AAAAAHuLiYlR7969VaVKFc2dO1cXLlzQ1KlTlZSUpHHjxtk7PAAAgAIpTydoAQAAAOSeVatW6dq1a5o3b55KlCghSbp586YmTpyooKAglSlTxr4BAgAAFEAO9g4AAAAAQN6wfft2NWnSxEjOSlLbtm2VmpqqnTt32i8wAACAAowELQAAAABJUmRkpLy9va2Wubu7q3Tp0oqMjLRTVAAAAAUbJQ4AAAAASJJiY2Pl7u5us9zDw0MxMTHZ7tdisSghIeF+QpMkJSUl3XcfQGYlJSXlyHmbk3gNIDfltdcA5z9yU06c/xaLRSaTKVNtSdACAAAAeKBSUlJ08ODB++7nwoULORANkDlRUVF5Kjkl/e81cCMm3s6RoCBLP7/y2muA9wDkppw6/81mc6bakaAFAAAAICmtnEFcXJzN8piYGHl4eGS7XycnJ1WrVu1+QpMkubi43HcfQGZ5eXmpcuXK9g7DSvprIHrnPjtHgsIgr70GeA9AbsqJ8//o0aOZbkuCFgAAAIAkydvb26bWbFxcnC5dumRTmzYrTCZTjnywLlq06H33AWRW0aJF81xCKP01UMKvtop4uNo5GhRUN2LiFb1zX557DfAegNyUE+d/ZssbSCRoAQAAAPwff39/LVy40KoWbVhYmBwcHOTn52fn6ACkK+LhKqeS2Z/VDgDIWxzsHQAAAACAvKFr164qXry4+vfvrx07dujLL7/UtGnT1LVrV5UpU8be4QEAABRIJGgBAAAASJI8PDz0ySefyNHRUf3799eMGTP00ksvadSoUfYODQAAoMCixAEAAAAAQ9WqVbVs2TJ7hwEAAFBoMIMWAAAAAAAAAOyEBC0AAAAAAAAA2AkJWgAAAAAAAACwExK0AAAAwH3o1auXwsPD77j+l19+Ua9evXIxIgAAAOQnJGgBAACA+/Drr7/q8uXLd1x/9epV/fbbb7kYEQAAAPITErQAAADAfTKZTHdcd+LECRUvXjwXowEAAEB+UsTeAQAAAAD5zddff62vv/7aePzRRx/piy++sGkXFxenw4cPy9/fPzfDAwAAQD5CghYAAADIosTERP3zzz/G42vXrsnBwfbiNBcXF3Xt2lX9+/fPzfAAAACQj5CgBQAAALKoe/fu6t69uySpZcuW+ve//61WrVrZOSoAAADkRyRoAQAAgPvw/fff2zsEAAAA5GPcJAwAAAC4Dz///LM+/PDDO66fOXOmwsPDczEiAAAA5CckaAEAAID7sGDBAp07d+6O6y9cuKCPPvooFyMCAABAfkKCFgAAALgPERERqlu37h3X165dW4cPH87FiAAAAJCfkKAFAAAA7kNycrJSUlLuuj4pKSkXIwIAAEB+QoIWAAAAuA+PPvqoNm/enOE6i8WiTZs2qWrVqrkcFQAAAPKLIvYOAAAAAMjPevTooZEjR2rQoEHq37+/kYw9evSoFixYoD///FOTJ0+2c5QAABQMN2Li7R0CCjB7nV8kaAEAAID70LFjR506dUoLFizQ5s2b5eCQdpFaamqqTCaT3nzzTXXq1MnOUQIAUDBE79xn7xCAHEeCFgAAALhPAwYM0PPPP6/Nmzfr1KlTkqRKlSrpmWeeUaVKlewcHQAABUcJv9oq4uFq7zBQQN2IibfLlwAkaAEAAIAcUKlSJQUGBto7DAAACrQiHq5yKulh7zCAHEWCFgAAAMgBERER2rZtm86cOSNJqlChgpo1ayYfHx87RwYAAIC8jAQtAAAAcB+Sk5M1btw4ffPNN7JYLFY1aGfMmKEOHTpo0qRJMpvNdo4UAAAAeREJWgAAAOA+fPDBB1q7dq26d++uHj16qFKlSjKZTDpx4oQ+++wzrVy5Uh4eHvr3v/9t71ABAACQBznYOwAAAAAgP1u3bp06duyocePGydvbW0WKFJGjo6O8vb01fvx4dejQQevWrbN3mAAAAMijSNACAAAA9+HGjRuqW7fuHdf7+vrq5s2buRgRAAAA8hMStAAAAMB9aNq0qXbs2HHH9T/99JP8/PxyMSIAAADkJyRoAQAAgPswePBgnT59WgMGDFB4eLjOnDmjM2fO6Oeff1b//v119uxZDR48WNHR0Vb/AAAAAImbhAEAAAD3JSAgQJIUERGhrVu3Wq2zWCySpHbt2tlsd/DgwQcfHAAAAPI8ErQAgHuaP3++1q5dqxdeeEH9+/e3dzgAkKf0799fJpPJ3mEAAAAgnyJBCwC4q6SkJK1du1apqalau3atAgMDVbRoUXuHBQB5xsCBA7PUPjU1VefPn1dycrLMZvMDigoAAAD5BTVoAQB3dePGDaWmpkpKSyrcuHHDzhEBQP529epVtWrVSn/88Ye9QwEAAEAeQIIWAAAAyGXptWkBAAAAErQAAAAAAAAAYCfUoAUAAACQr9yIuWbvEFCAcX4BAHIbCVoAAACgEBg1apS+/vprm+XBwcHy9/c3HicnJ2vmzJlat26drl27Jl9fX7377rvy9vbOzXAz5ObmJiezWdE799o7FBRwTmaz3Nzc7B0GAKCQeOAJ2lOnTqlixYoPejcAAAAA7qFixYqaPn261bKqVataPZ40aZJCQ0M1atQolSlTRgsXLlSfPn20YcMGuyesSpUqpRnTpysuLs6uceQnZ86c0YIFC/TWW2+pfPny9g4n33Bzc1OpUqXsHQYAoJB4YAnaQ4cOKTg4WBs3btT+/fuz1ceJEycUEhKiv/76S0eOHJG3t7fWr19v02716tVasmSJzp49Ky8vLw0dOlRPP/20VZu4uDhNmTJFW7ZsUUpKipo1a6axY8fq4Ycftmq3e/duvf/++zp48KBKliypbt26qV+/fjKZTEYbi8Wi4OBg/fe//9XVq1dVo0YNjR49WvXq1bPq68KFC5o0aZJ27NghJycntW7dWqNHj5arq2u2jgcAAABwP4oWLWozZr3V+fPntWbNGo0fP14vvfSSJKl27dp6+umntWrVKvXr1y+XIr2zUqVKkTjLhvLly8vLy8veYQAAgAxk6yZhR44c0XvvvafXXntNw4cP1+bNm411f//9t/r166dOnTpp06ZN6tChQ7aDO3LkiLZt26bKlSvbfLOfbsOGDXr33XfVtm1bBQcHq169ehowYID+/PNPq3ZDhgzRzp07NWHCBE2fPl1RUVHq16+fbty4YbQ5ceKEAgMDVbp0aS1atEi9e/fWnDlztHTpUqu+goODNWfOHPXp00eLFi1S6dKl1bdvX506dcpok5KSotdee03Hjx/XjBkzNGHCBO3YsUPDhw/P9vEAAAAAHqQdO3YoNTVVzz33nLGsRIkS8vPz0/bt2+0YGQAAQMGV5Rm0f/75p3r37q3r168by9Ivgbp586amT5+u4sWLKzAwUL169bKZoZoVLVu21DPPPCMprWZWRjNx58yZo3bt2mnIkCGSpMaNGysiIkLz589XcHCwJGnPnj3asWOHQkJC1LRpU0mSl5eXAgICtGnTJgUEBEiSQkJC9NBDD+nDDz+U2WxWkyZNdPXqVS1cuFA9e/aU2WzW9evXtWjRIvXt21d9+vSRJDVo0EDPPfecQkJCNGHCBEnSxo0bdeTIEYWGhhr1utzd3RUYGKi9e/eqTp062T4uAAAAyL9cXFw0YMAAu5QBO3HihBo0aKDr16+revXqeuutt4zxtiRFRkaqZMmS8vDwsNquatWqWrNmTW6HCwAAUChkOUE7f/58OTs7a968eXriiSd0+vRpjR49WnPmzNH169fVp08fvfnmmzlSn8rB4e4TfE+dOqXjx4/r7bfftloeEBCgadOmKTk5WWazWdu3b5e7u7v8/PyMNt7e3qpRo4a2b99uJGi3b9+u1q1by2w2W/W1aNEi7dmzR40aNdLu3bsVHx+vtm3bGm3MZrNat25tNZN4+/bt8vHxsbqZgp+fn0qUKKFt27aRoAUAAChg4uPjdfbsWcXGxspisdisf/LJJyX9L0Gb22rUqKHatWurWrVqiouL08qVK9W/f3/Nnj3bmDEbGxub4Tje3d1dMTEx2d63xWJRQkJCtrdH9iUlJRk/+Rvkf+l/TyA35LX/Nzj/kZty4vy3WCxWJVPvJssJ2r1796p79+5q1qyZJOnRRx/VqFGj1KNHD7366qt65513stpltkVGRkqSTS2lqlWrKiUlRadOnVLVqlUVGRkpLy8vm4Pi7e1t9JGQkKBz587Z3J3W29tbJpNJkZGRatSokdH+9nZVq1bVJ598oqSkJBUtWlSRkZE2bUwmk7y8vIw+AAAAkP/9888/+s9//qNNmzbp5s2bNuvTB+cHDx7M0f3GxcXp4sWL92xXsWJFmc1m9e7d22p5y5Yt1bVrV82ZM8eqpMGDkJKSkuPPH5lz4cIFSVJUVFSeSrQge9L/nkBuyGv/b3D+Izfl1Pl/6yTQu8lygjY2NlZVqlSxWpaeIG3cuHFWu7sv6d/iu7u7Wy1Pf5y+/k4zATw8PIyyCel3gr29L7PZrGLFiln1ZTab5ezsbLNPi8WimJgYFS1a9K77zAuzD0wmk4oVK3bf/QCZkZiYmOFMIuQPt/+fk5CQcM8rHAAgJ2Vl9oE9vPvuu/rhhx/Us2dPPfHEEzbjyQclLCxMY8eOvWe70NDQDO/n4ODgoGeffVYffPCBMcnA3d1d8fHxNm1jY2Ntyh5khZOTk6pVq5bt7ZF9Li4uktI+s1WuXNnO0eB+pf89gdyQ1/7f4PxHbsqJ8//o0aOZbpvlBK3FYpGjo6PVsvQP6pnNCiP7cmr2QbFixVSzZs0ciAi4t6ioKCUmJto7DGTT7X+7iIgIvuABkOvy8jhz586d6t27d65eSSZJnTt3VufOnXO0T29vb12+fFkxMTFWCdmMrg7LCpPJxAdrOylatKjxk79B/pf+9wRyQ177f4PzH7kpJ87/rEwwyHKCVpK2bdumy5cvG48TExNlMpkUFhamQ4cO2QSTfjOtnJY+aIyLi1Pp0qWN5bGxsVbr3d3ddf78eZvtbx14ps92TZ9Jmy45OVmJiYlWfSUnJ+v69etWs2hjY2NlMpms2mU0+yAmJkZly5bN3hNWzs0+yMuzUFDweHl5MYM2H7v9/7Lq1avL1dXVTtEAKIyyMvvAHooWLary5cvbO4wsS01NVVhYmB599FHjQ2/Tpk3l4OCgTZs2GcnfmJgY7dixQ2+99ZY9wwUAACiwspWgXb9+vdavX2+z/PPPP7dZ9iATtOnf4t/+jX5kZKScnJyMO+N6e3srPDzc5vK4qKgoVa9eXVLaVPmyZcva1IeNioqSxWIx+k//GRUVpccee8xqn+XKlTMGt97e3oqIiLDqy2KxKCoqyupmZVnF7APkR8y2zN9SU1OtHru4uPD/EIBclde/WH7++ee1ZcsWvfLKK/YO5Y7OnDmjUaNGqV27dqpcubJiYmK0cuVK7d+/X3PnzjXaPfLII3rppZc0bdo0OTg4qEyZMlq0aJHc3NzUtWtXOz4DAACAgivLCdqtW7c+iDiypWLFiqpSpYrCwsL0zDPPGMtDQ0PVpEkT41I4f39/LViwQOHh4XrqqackpSVYDxw4oNdee83Yzt/fX1u3btXbb78tJycnoy93d3f5+vpKkurXry9XV1d99913RoI2JSVFmzZtkr+/v1Vf69at0/Hjx42aveHh4YqOjlbz5s0f3EEBAABArmrTpo1+++03BQYGqkuXLnrkkUdsSoJJUq1atewQXZrixYvL1dVVH330ka5cuSInJyc9/vjjCg4ONm7+m27s2LEqXry4ZsyYoWvXrql+/fr6+OOPM7y/AgAAAO5flhO0uXn5VmJiorZt2yYp7Vv/+Ph4hYWFSZIaNmwoT09PDRw4UCNGjFClSpXUqFEjhYaGau/evVq+fLnRj6+vr5o2baoxY8Zo5MiRcnZ21syZM+Xj46Nnn33WaBcYGKhvv/1Ww4cPV7du3RQREaGQkBANHTrUSPY6OzsrKChIc+fOlaenp6pXr66VK1cqOjpagYGBRl9t2rTRokWLNHDgQA0bNkyJiYmaNm2aWrRooTp16uTG4QMAAEAu6N69u/H7zz//bLM+/SqunLiPQHaVKFFCH330Uabams1mjRw5UiNHjnzAUQEAAEDKZomD3HLlyhUNHjzYaln6408//VSNGjVS+/btlZiYqODgYC1evFheXl6aN2+eMeM13axZszRlyhSNGzdON27cUNOmTTV27FgVKfK/Q1C5cmWFhIRo6tSpev311+Xp6alBgwapb9++Vn3169dPFotFS5cu1dWrV1WjRg2FhIQYJRWktFqxS5Ys0aRJkzRs2DAVKVJErVu31pgxY3L6MAEAAMCOpkyZYu8QAAAAkI9lOUE7adKkLO9k7NixWd5GkipUqKDDhw/fs11m7mDr5uamyZMna/LkyXdtV79+fX3xxRd3bWMymRQUFKSgoKC7titTpoxVTS8AAAAUPJ06dbJ3CAAAAMjHspygvbV0wN3cejOH7CZoAQAAAAAAAKAgy3KC9tChQ/dss2XLFs2fP18HDx5U5cqVsxUYAAAAkBeNHj1aJpNJ//nPf+To6KjRo0ffcxuTyXTPK7kAILNuxFyzdwgowDi/gNyXozVot2zZogULFujgwYOqVKmSpkyZoueffz4ndwEAAADY1a5du2QymZSamipHR0ft2rXrntvcenUZAGSXm5ubnMxmRe/ca+9QUMA5mc1yc3OzdxhAoZEjCdr0xOyBAwdUuXJlIzHr4OCQE90DAAAAecb3339/18cA8KCUKlVKM6ZPV1xcnL1DyTfOnDmjBQsW6K233lL58uXtHU6+4ebmplKlStk7DKDQuK8EbXopg0OHDqlSpUqaOnUqiVkAAAAAAB6QUqVKkTjLhvLly8vLy8veYQBAhrKVoN28ebORmGXGLAAAAAAAAABkT5YTtB07dlRERISqVKmiadOmqUOHDtTUAgAAQKH12GOP3XM87OzsrDJlyqhRo0Z67bXXVKlSpVyKDgAAAHldlhO0hw8fliSdO3dOEyZM0IQJE+7a3mQy6Y8//shWcAAAAEBe179/f23dulVHjx5Vs2bNVLlyZUnS8ePHtWPHDlWvXl2NGjXSyZMn9dVXX2nDhg1asWKFHnvsMTtHDgAAgLwgywnaF154gRmzAPK9VEuqHEyUZcGDxXkGFA4PP/yw/vnnH3333XeqWLGi1boTJ06oZ8+eqlatmkaOHKnjx4+rS5cu+vDDD7V48WI7RQwAAIC8JMsJ2qlTpz6IOAAgVzmYHLTir590IT7G3qHkeSmJSVaP5/8SJqdiRe0UTf5RxtVDr9RtZu8wAOSCkJAQvfLKKzbJWUmqXLmyXnnlFS1evFj/+te/VKVKFXXt2lX//e9/7RApAAAA8qJs3SQMAAqCC/ExOhN71d5h5Hk3kpKtHp+Ni1aRFLOdogGAvOf8+fNydHS843pHR0edO3fOeFyhQgUlJyffsT0AAAAKlywnaKOjo7O8kxIlSmR5GwAAACA/qFatmlauXKmOHTuqVKlSVusuXbqklStXqlq1asayU6dO2bQDAABA4ZXlBG3jxo2zXIP24MGDWd0NAAAAkC+MHDlS/fr1U+vWrfXMM88YNwk7ceKEtmzZohs3bmjy5MmSpOvXr+urr76Sv7+/PUMGAABAHpLlBG3//v25SRgAAADwfxo1aqTPP/9cs2fP1ubNm5WUlFa729nZWU2aNNHAgQNVq1YtY9mOHTvsGS4AAADymCwnaAcOHPgg4gAAAADynZSUFB07dkwPPfSQFi5cqNTUVF25ckWSVLJkSTk4ONg5QgAAAOR1uTpivHz5smrUqKHw8PDc3C0AAADwQDg4OOhf//qXNm3aZDwuXbq0SpcuTXIWAAAAmZLro0aLxZLbuwQAAAAeCEdHR5UrV07Jycn2DgUAAAD5FF/rAwAAAPehR48e+uKLLxQdHW3vUAAAAJAPZbkGLQAAAID/SU1NldlsVuvWrdWmTRuVL19eRYsWtWpjMpnUp08f+wQIAACAPI0ELQAAAHAf3n//feP3NWvWZNiGBC0AAADuhAQtAAAAcB+2bt1q7xAAAACQj5GgBQAAAO5D+fLl7R0CAAAA8jFuEgYAAAAAAAAAdnJfM2jPnj0rT09Pm5sgpEtKStLVq1dVrlw5SVLRokXVqVMnPfzww/ezWwAAACBPOXTokJYvX64DBw4oLi5OqampVutNJpO2bNlip+gAAACQl93XDNpWrVpp8+bNd1z//fffq1WrVsZjV1dXTZkyRVWrVr2f3QIAAAB5xq5du9S5c2f9+OOPevjhh3Xq1ClVrFhRDz/8sM6ePSsXFxc9+eST9g4TAAAAedR9JWgtFstd16ekpMjBgSoKAAAAKLjmzJmjihUrKiwsTJMnT5YkBQUFaeXKlVq1apUuXLig5557zs5RAgAAIK/KcomD+Ph4xcbGGo+jo6N19uxZm3axsbEKDQ1V6dKl7y9CAAAAIA87cOCABg4cKFdXV8XExEiSUeKgbt266tKli2bPnq3mzZvbM0wAAADkUVlO0C5btkzz58+XlFZLa/LkycZMgdtZLBYNGTLkvgIEAAAA8jJHR0cVL15ckuTu7q4iRYroypUrxvqKFSvq2LFj9goPAAAAeVyWE7R+fn5ycXGRxWLRBx98oHbt2qlWrVpWbUwmk4oVK6ZatWqpdu3aORYsAAAAkNdUqlRJx48fl5Q2Dvb29taWLVv0/PPPS5J+/PFHlSpVyo4RAgAAIC/LcoLW19dXvr6+kqTExES1bt1aPj4+OR4YAAAAkB80b95cX375pYYPH64iRYro1Vdf1ejRo/Xss89Kkk6ePKlhw4bZOUoAAADkVVlO0N5qwIABORUHAAAAkC+99dZb6tWrlxwdHSVJnTp1koODgzZt2iRHR0e98cYbevHFF+0cJQAAAPKqLCVo582bJ5PJpDfffFMODg6aN2/ePbcxmUzq379/tgMEAAAA8jInJyc99NBDVss6duyojh072ikiAAAA5CfZStD269dPZrOZBC0AAABgZzt37tRXX32lv/76S6dOndIrr7yicePG2bRLTk7WzJkztW7dOl27dk2+vr5699135e3tbdXu2LFjmjRpkvbs2aPixYurY8eOGjJkiMxmc249JQAA7uhGzDV7h4ACzF7nV5YStIcOHbrrYwAAAKAwmDRpUpa3GTt27AOIRPrpp5906NAhPfnkk4qJiblju0mTJik0NFSjRo1SmTJltHDhQvXp00cbNmyQm5ubJCkmJka9e/dWlSpVNHfuXF24cEFTp05VUlJShklfAAByi5ubm5zMZkXv3GvvUFDAOZnNxtgot2QpQTtgwAD16dNHTzzxhCTpt99+U9WqVeXp6flAggMAAADyouXLl8tkMslisWSqvclkemAJ2nfeeUejRo2SJO3atSvDNufPn9eaNWs0fvx4vfTSS5Kk2rVr6+mnn9aqVavUr18/SdKqVat07do1zZs3TyVKlJAk3bx5UxMnTlRQUJDKlCnzQJ4DAAD3UqpUKc2YPl1xcXH2DiXfOHPmjBYsWKC33npL5cuXt3c4+Yabm5tKlSqVq/vMUoJ269atxt1oJalXr16aNm2aOnTokOOBAQAAAHmV2WyWyWRSixYt1KFDBzVv3lxOTk52icXBweGebXbs2KHU1FQ999xzxrISJUrIz89P27dvNxK027dvV5MmTYzkrCS1bdtW48eP186dO7nZGQDArkqVKpXribOCoHz58vLy8rJ3GLiLe4/mblGmTBkdPHjQeGyxWGQymXI8KAAAACAv+/nnnzVhwgTFx8dr8ODB8vPz09ixY/XLL7/YO7QMRUZGqmTJkvLw8LBaXrVqVUVGRlq1u70mrbu7u0qXLm3VDgAAADknSzNoAwICtHTpUn333XdGLYYZM2Zo0aJFd9zGZDJp3bp19xclAMBuHBwdJJNJslgkkyntMQAUcq6ururUqZM6deqky5cva8OGDVq/fr3WrFmj0qVLKyAgQO3bt1ft2rXtHaokKTY2NsNaau7u7lZ1a2NjY+Xu7m7TzsPD4671be/FYrEoISEh29sj+5KSkoyf/A1QGPEaQGHG+W9fWZnYmqUE7fDhw1W5cmXt2rVLV65ckclkUrFixawugQIAFCwOTkVUyvcxXd5zSKV8H5ODU5beOgCgwCtVqpR69+6t3r176+TJk1q3bp3Wr1+vTz/9VMOGDTPKB2RWXFycLl68eM92FStWlNlszm7YuSolJcXqSjzkngsXLkiSoqKi+HCOQonXAAozzn/7y+xYLUufsh0dHdWlSxd16dJFkvTYY4/pzTffpAYtABRwFVo2VIWWDe0dBgDkebGxsYqPj9e1a9dksVhUtGjRLPcRFhaWqRuKhYaGqmrVqpnq093dXfHx8RnGe2vZA3d39wxvvhITE2NTHiErnJycVK1atWxvj+xzcXGRJHl5ealy5cp2jgbIfbwGUJhx/tvX0aNHM932vqZBbd26VZ6envfTBQAAAJCvRUVFaf369Vq/fr1OnDghb29vdevWTR06dFDFihWz3F/nzp3VuXPnHI3R29tbly9ftkm03l5z1tvb26bWbFxcnC5dumRTmzYrTCaT8SERuSv9S4KiRYvyN0ChxGsAhRnnv31l5b5d95WgLV++vCTp1KlT2r59u86ePStJKleunPz9/bM1IAUAAADyugsXLmj9+vXasGGDDhw4oEceeUQBAQHq0KGDatSoYe/wbDRt2lQODg7atGmTkfyNiYnRjh079NZbbxnt/P39tXDhQqtatGFhYXJwcJCfn59dYgcAACjo7ruQ4NSpU/Xpp58qNTXVarmDg4N69+6tkSNH3u8uAAAAgDylRYsWcnZ2lr+/v95880098cQTxiyJ6OjoDLd5UPdtOHPmjPbt2ydJSkxM1MmTJxUWFiZJeu655yRJjzzyiF566SVNmzZNDg4OKlOmjBYtWiQ3Nzd17drV6Ktr16767LPP1L9/fwUFBenChQuaNm2aunbtqjJlyjyQ+AEAAAq7+0rQLl26VMuWLVObNm3Ut29fowbWsWPHtGzZMi1btkxlypRRnz59ciJWAAAAIE+wWCxKSkrS5s2btXnz5kxt86BukrVr1y6NHj3aePzTTz/pp59+kiQdPnzYWD527FgVL15cM2bM0LVr11S/fn19/PHHcnNzM9p4eHjok08+0X/+8x/1799fxYsX10svvaShQ4c+kNgBAABwnwnaL774Qi1bttTs2bOtltetW1czZ87U9evXtWrVKhK0AAAAKFAGDBhg7xAML774ol588cV7tjObzRo5cuQ9r3CrWrWqli1blkPRAQAA4F7uK0F75swZ9erV647rmzZtanx7DwAAABQUeSlBCwAAgPzN4X42LlmypA4dOnTH9YcOHZKnp+f97AIAAAAoUC5fvqwaNWooPDzc3qEAAAAgD7ivBO1zzz2nNWvWaPHixUpISDCWJyQkaPHixVqzZo0CAgLuO8i7+eqrr+Tz/9u787gq6/z//88DgoB6YFDDTFPAkdw1KxdIjXJ3zBwtrNxz0NDCNpcxHWe8pZI7i4phUPbRMZuPzUxGpjWZy8f5NjlNmUsKbqjgUgcUkO38/vDHNZ2OC/sF8rjfbt6O1/t6Xe/zuo4X8ubFdb3fQUFOf5YsWeIQ9/7776t///7q0KGDhg4dqs8//9ypr6ysLM2ePVsPPfSQunTpohdeeEEZGRlOcV9//bWeeuopdezYUY888oji4+Nlt9sdYux2u+Lj49WnTx917NhRTz31lP79739X6LkDAACgZvrl2BEAAAC1V7mmOHjxxRd16NAhLVu2TKtWrdJdd90lScrIyFBBQYG6deumF154oUISvZ233nrLYYGDn68y+9FHH+n111/X5MmT1b17d23btk1Tp07Ve++9p86dOxtxkZGROnbsmP7whz+obt26WrFihSZNmqQPPvhAdepc/6hOnjypiRMnKjg4WJGRkTpy5IiWLFkiV1dXTZw40ehr3bp1WrVqlV555RUFBQXpvffe04QJE/Thhx+qefPmlf+BAAAAAAAAAKj2ylWg9fT0VFJSknbs2KFdu3bp7Nmzkq7PPdu7d2+FhobKYrFUSKK3065du5tOp7Bq1SoNHjxYkZGRkqTu3bvr6NGjio2N1bp16yRJBw4c0O7du5WQkKCQkBBJkr+/vwYNGqTt27cbdwInJCToV7/6lZYtW4xwf14AADScSURBVCZ3d3f16NFDly9f1po1azR69Gi5u7vr2rVrWrt2rSZMmGAskNa1a1cNGDBACQkJ+sMf/lCpnwUAAAAAAACAmqHMBdqcnBy9+uqr6tevn4YOHarHHnusIvOqMKdPn9aJEyf06quvOrQPGjRIUVFRysvLk7u7u3bt2iWr1arg4GAjJiAgQG3atNGuXbuMAu2uXbvUt29fubu7O/S1du1aHThwQN26ddPXX3+tK1euaODAgUaMu7u7+vbtq08//bSSzxgAAAAAAABATVHmOWg9PT21d+9e5ebmVmQ+ZTZkyBC1adNGjz76qNauXavCwkJJUkpKiqTrd8P+XGBgoPLz83X69Gkjzt/f3+mO34CAAKOP7OxsnTt3TgEBAU4xFovFiCt+/WVcYGCgzp49W20+MwAAAAAAAADmKtcUB127dtWBAwf05JNPVlQ+pda4cWNNmzZNnTp1ksVi0WeffaYVK1YoPT1dc+fOlc1mkyRZrVaH44q3i/dnZmY6zGFbzNvbW999952k64uI3agvd3d3eXp6OvTl7u6uunXrOr2n3W6XzWaTh4dHmc7Xbrc7LMhWVhaLRZ6enuXuByiJnJycarUYCtc/qlJ1u/6Bmshut1fZtFkAAABAVStXgXbu3LmaOHGili9frlGjRqlJkyYVlVeJPfzww3r44YeN7ZCQENWtW1dJSUmaPHlyledT2fLz83Xo0KFy9+Pp6am2bdtWQEbA7aWmpionJ8fsNAxc/6hK1e36B2qqn08vBQAAANxJylWgHTp0qAoLCxUfH6/4+Hi5uro6DZ4tFov+9a9/lSvJ0ho4cKDWr1+vQ4cOydvbW9L1u18bN25sxGRmZkqSsd9qter8+fNOfdlsNiOm+A7b4jtpi+Xl5SknJ8ehr7y8PF27ds3hLtrMzExZLBYjrizc3NzUqlWrMh9fjLtQUJX8/f2r1R2EXP+oStXt+gdqomPHjpmdwi2dPXtWvr6+N31CKjc3V5cvX1bTpk0lSR4eHnriiSd01113VWWaAAAAqKbKVaAdMGBAReVRaYrngU1JSXGYEzYlJUVubm5q3ry5Ebdv3z6nR+hSU1PVunVrSZKXl5fuvvtuY47Zn8fY7Xaj/+LX1NRU3XfffQ7v2bRp0zJPbyBdLyx5eXmV+XjADEwngNqM6x8ov+r+i7VHH31UUVFR+s1vfnPD/Z999plefvll4ymo+vXra+HChVWZIgAAAKqxMhVor127pp07d8rf318+Pj7q06dPtboDYNu2bXJ1dVXbtm3VuHFjtWzZUsnJyXrsscccYnr06GHc8durVy/FxcVp37596tmzp6TrBdbvv/9ezz33nHFcr169tHPnTr366qtyc3Mz+rJarerSpYsk6f7771f9+vX18ccfGwXa/Px8bd++Xb169aqSzwAAAABV43Z3yefn58vFpcxr8wIAAOAOV+oC7aVLlxQWFqYzZ84Yd5t6eHgoNjbWKGxWpYkTJ6pbt24KCgqSJO3cuVObN2/WmDFjjCkNpk2bpldeeUX33nuvunXrpm3btuk///mPNmzYYPTTpUsXhYSEaPbs2ZoxY4bq1q2r5cuXKygoSP369XN4v7/97W96+eWXNWrUKB09elQJCQmaPn26UeytW7euwsPDFR0dLV9fX7Vu3VobN27UTz/9pIkTJ1bhpwMAAIDKcOXKFWPKLEn66aefdPbsWae4zMxMbdu2zWGqLQAAAODnSl2gjYuLU1pamsaNG6fu3bvr5MmTiouL09y5c7Vjx47KyPGW/P399cEHH+j8+fMqKipSy5YtNXv2bI0ePdqIGTJkiHJycrRu3TrFx8fL399fMTExxh2vxVasWKGFCxdq7ty5KigoUEhIiObMmaM6df77MbVo0UIJCQlatGiRfve738nX11cvvPCCJkyY4NDXpEmTZLfbtX79el2+fFlt2rRRQkKCMaUCAAAAaq7ExETFxsZKuj4FwxtvvKE33njjhrF2u12RkZFVmB0AAABqklIXaHfv3q3HH39cM2bMMNoaNWqkl19+2Wme16owZ86cEsWNHDlSI0eOvGVMgwYNbjm4Lnb//fdr8+bNt4yxWCwKDw9XeHh4ifIDAABAzREcHCwvLy/Z7Xa9+eabGjx4sNq1a+cQY7FY5OnpqXbt2qlDhw4mZQoAAIDqrtQF2nPnzqlr164ObV27dpXdbtelS5eqvEALAAAAVLUuXboYT2Pl5OSob9++xpRbAAAAQGmUukCbl5enunXrOrQVz71aUFBQMVkBAAAANcTUqVPNTgEAAAA1WKkLtJKUlpamgwcPGttZWVmSpJMnT8pqtTrF//JxLwAAAKCmiomJkcVi0ZQpU+Ti4qKYmJjbHmOxWBQREVEF2QEAAKCmKVOBduXKlVq5cqVT+/z58x227Xa7LBaLDh06VLbsAAAAgGqmuEA7adIkubu7U6AFAABAuZS6QLtw4cLKyAMAAACoEQ4fPnzLbQAAAKA0Sl2gfeKJJyojDwAAAKBGmDp1qsaNG6cHHnhAkvT//t//U2BgoHx9fU3ODAAAADWRi9kJAAAAADXJzp07dfbsWWN7zJgx2rNnj4kZAQAAoCajQAsAAACUgp+fn8MaC8XrLgAAAABlUaZFwgAAAIDaatCgQVq/fr0+/vhjNWjQQJK0dOlSrV279qbHWCwW/fWvf62qFAEAAFCDUKAFAAAASuHll19WixYttH//fl26dEkWi0Wenp7y8fExOzUAAADUQBRoAQAAgFJwdXXVU089paeeekqSdN9992nKlCn6zW9+Y3JmAAAAqIko0AIAAADlsHPnTvn6+pqdBgAAAGooCrQAAABAOdxzzz2SpNOnT2vXrl06e/asJKlp06bq1auXmjdvbmZ6AAAAqOYo0AIAAADltGjRIr3zzjsqKipyaHdxcdHYsWM1Y8YMkzIDAABAdUeBFgAAACiH9evXKzExUf3799eECRMUGBgoSTp+/LgSExOVmJgoPz8/jRs3ztxEAQAAUC1RoAUAAADKYfPmzQoNDdXKlSsd2jt16qTly5fr2rVr2rRpEwVaAAAA3JCL2QkAAAAANVlaWppCQkJuuj8kJERpaWlVmBEAAABqEgq0AAAAQDk0bNhQhw8fvun+w4cPy9fXtwozAgAAQE3CFAcAAABAOQwYMEDvvPOOmjVrpmeffVZeXl6SpOzsbG3YsEFbtmzR2LFjK+399+zZo7/85S/65ptvdPr0aT3zzDOaO3euU1xQUJBTW6NGjbRnzx6HtuPHj2vBggU6cOCA6tWrp8cff1yRkZFyd3evtHMAAACozSjQAgAAAOXw4osv6tChQ1q2bJlWrVqlu+66S5KUkZGhgoICdevWTS+88EKlvf+XX36pw4cP68EHH5TNZrtl7OjRozVkyBBj283NzWG/zWbT2LFj1bJlS0VHRys9PV2LFi1Sbm7uDYu+AAAAKD8KtAAAAEA5eHp6KikpSTt27NCuXbt09uxZSdfnnu3du7dCQ0NlsVgq7f1fe+01zZw5U5K0f//+W8befffd6ty58033b9q0SVevXlVMTIx8fHwkSYWFhZo/f77Cw8Pl5+dXUWkDAADg/0eBFgAAACijnJwcvfrqq+rXr5+GDh2qxx57rMpzcHGpuGUldu3apR49ehjFWUkaOHCg5s2bpz179mj48OEV9l4AAAC4jkXCAAAAgDLy9PTU3r17lZuba3YqJRIfH6927drpgQceUGRkpHG3b7GUlBQFBAQ4tFmtVjVu3FgpKSlVmSoAAECtwR20AAAAQDl07dpVBw4c0JNPPml2Krc0bNgw9enTR40aNdLRo0e1evVqPf300/rwww/l7e0tScrMzJTVanU61tvb+7bz296K3W5XdnZ2mY9H2RX/8iA3N5d/A9RKfA2gNuP6N5fdbi/xNFcUaAEAAIBymDt3riZOnKjly5dr1KhRatKkSbn6y8rKUkZGxm3jmjdvLnd39xL3u3jxYuPvDz74oLp27arhw4dr8+bNmjRpUplyLan8/HwdOnSoUt8DN5aeni5JSk1N5Ydz1Ep8DaA24/o3X0nHahRoAQAAgHIYOnSoCgsLFR8fr/j4eLm6ujoNxi0Wi/71r3+VqL/k5GTNmTPntnHbtm1TYGBgmXKWpPvuu0/+/v46ePCg0Wa1WpWVleUUa7PZjLtsy8LNzU2tWrUq8/EoOy8vL0mSv7+/WrRoYXI2QNXjawC1Gde/uY4dO1biWAq0AAAAQDkMGDCgQvsbOXKkRo4cWaF9llRAQIDTXLNZWVm6cOGC09y0pWGxWIwfElG1PDw8jFf+DVAb8TWA2ozr31wlnd5AokALAAAAlMm1a9e0c+dO+fv7y8fHR3369NFdd91ldloldujQIaWmpmr48OFGW69evbRmzRqHuWiTk5Pl4uKi4OBgs1IFAAC4o1GgBQAAAErp0qVLCgsL05kzZ4wFIDw8PBQbG6uePXtWaS5paWn69ttvJUk5OTk6deqUkpOTJf337t6EhASdOnVK3bp1k6+vr3744QetWbNGTZo0cbhbNywsTO+++64iIiIUHh6u9PR0RUVFKSwsTH5+flV6XgAAALUFBVoAAACglOLi4pSWlqZx48ape/fuOnnypOLi4jR37lzt2LGjSnPZv3+/Zs2aZWx/+eWX+vLLLyVJR44ckXR97rnt27fr448/1tWrV/WrX/1KvXv3VmRkpHGnrCR5e3srKSlJf/rTnxQREaF69eppxIgRmj59epWeEwAAQG1CgRYAAAAopd27d+vxxx/XjBkzjLZGjRrp5ZdfVkpKSrnmay2t4cOHO0xTcCOhoaEKDQ0tUX+BgYFKTEysgMwAAABQEi5mJwAAAADUNOfOnVPXrl0d2rp27Sq73a5Lly6ZlBUAAABqIgq0AAAAQCnl5eWpbt26Dm3u7u6SpIKCAjNSAgAAQA3FFAcAAABAGaSlpengwYPGdlZWliTp5MmTDvO6FmvXrl2V5QYAAICagwItAAAAUAYrV67UypUrndrnz5/vsG2322WxWHTo0KGqSg0AAAA1CAVaAAAAoJQWLlxodgoAAAC4Q1CgBQAAAErpiSeeMDsFVEPp6enKzs42Ow0HaWlpDq/VjZeXl/z8/MxOAwAAU1GgBQAAAIByyszM1EsvvSS73W52KjcUFxdndgo35OLiori4uBvO2wwAQG1BgRYAAAAAyslqtWrZsmXV7g7a6s7Ly4viLACg1qNACwAAAAAVgEf1AQBAWbiYnQAAAAAAAAAA1FYUaAEAAG4jNjZWffv2VWxsrNmpAAAAALjDUKAFAAC4hdzcXG3dulVFRUXaunWrcnNzzU4JAAAAwB2EAi0AAMAtFBQUqKioSJJUVFSkgoICkzMCAAAAcCehQAsAAAAAAAAAJqFACwAAAAAAAAAmoUBbiY4fP67x48erc+fOCg4OVlRUlPLy8sxOCwAAAAAAAEA1UcfsBO5UNptNY8eOVcuWLRUdHa309HQtWrRIubm5mjt3rtnpAQAAAAAAAKgGKNBWkk2bNunq1auKiYmRj4+PJKmwsFDz589XeHi4/Pz8zE0QAAAAAAAAgOmY4qCS7Nq1Sz169DCKs5I0cOBAFRUVac+ePeYlBgAAAAAAAKDaoEBbSVJSUhQQEODQZrVa1bhxY6WkpJiUFQAAAAAAAIDqhCkOKklmZqasVqtTu7e3t2w2W5n7tdvtys7OLk9qkiSLxSJPT0/51fcud1/AzRRfXzk5ObLb7SZn819c/6gK1fX6L2axWMxOocbIyclx2nZ1dTUpm5qloq59u93ONQsAAIA7FgXaGiY/P1+HDh0qdz9ubm5q266dnun0cAVkBdxcQWGhfvjhB+Xn55udioHrH1WlOl7/0n+/BupQZCyRwsJCh21PT095enqalE3NUVBYqO8PHqyw69/d3b1C+gEAAACqGwq0lcRqtSorK8up3Wazydu77Hftubm5qVWrVuVJzZCfl6fqVTLAnaqirtmKxPWPqlIdr3+LxaI6rq5675svlX6l7E911Bb5ObkO27H/lyw3Tw+TsqkZ/Op765lOD+vXv/51hdxFe+zYsQrICgAAAKieKNBWkoCAAKe5ZrOysnThwgWnuWlLw2KxyMvLq7zpAQCg9Cs2pWVeNjuNaq8gN89h+2zWT6qTz92cJVFRdxozvQEAAADuZCwSVkl69eqlvXv3KjMz02hLTk6Wi4uLgoODTcwMAAAAAAAAQHVBgbaShIWFqV69eoqIiNDu3bv1wQcfKCoqSmFhYfLz8zM7PQAAAAAAAADVAAXaSuLt7a2kpCS5uroqIiJCS5cu1YgRIzRz5kyzUwMAAAAAAABQTTAHbSUKDAxUYmKi2WkAAAAAAAAAqKa4gxYAAAAAAAAATEKBFgAAAAAAAABMQoEWAAAAAAAAAExCgRYAAAAAAAAATEKBFgAAAAAAAABMQoEWAAAAqKEKCwu1bt06PfPMM+rWrZseeughjR49Wl999ZVTbF5enhYvXqzg4GB17txZ48ePV0pKilPc8ePHNX78eHXu3FnBwcGKiopSXl5eVZwOAABArUSBFgAAAKihcnNzFR8fr3bt2mnx4sVasmSJvL29NWbMGO3bt88hdsGCBXr//fc1ffp0RUdHKy8vT+PGjVNWVpYRY7PZNHbsWOXn5ys6OlrTp0/X5s2btWjRoqo+NQAAgFqjjtkJAAAAACgbDw8P7dixQ97e3kZbcHCwhgwZoqSkJPXo0UOSdP78eW3ZskXz5s3TiBEjJEkdOnTQI488ok2bNmnSpEmSpE2bNunq1auKiYmRj4+PpOt36c6fP1/h4eHy8/Or2hMEUGOkp6crOzvb7DScpKWlObxWJ15eXvy/CkASBVoAAACgxnJ1dXUozha3BQUF6dSpU0bb7t27VVRUpAEDBhhtPj4+Cg4O1q5du4wC7a5du9SjRw+jOCtJAwcO1Lx587Rnzx4NHz68ck8IQI2UmZmpl156SXa73exUbiouLs7sFJy4uLgoLi5OVqvV7FQAmIwCLQAAAHAHKSgo0DfffKOuXbsabSkpKWrYsKFTMTcwMFBbtmxxiPvtb3/rEGO1WtW4ceMbzlcLANL1/yeWLVtWLe+grc68vLwozgKQRIEWAAAAuKO89dZbSk9P17hx44y2zMxMNWjQwCnWarXKZrM5xN2oWODt7e0QV1p2u53CDXCHa9CgwQ3/n8Gt8X8jKlNubq7xyrVW9ex2uywWS4liKdACAAAA1UhWVpYyMjJuG9e8eXO5u7s7tO3Zs0fR0dF6/vnn1b59+8pKsdTy8/N16NAhs9MAAKBWSU9PlySlpqZSoDXJL8dqN0OBFgAAAKhGkpOTNWfOnNvGbdu2TYGBgcb2wYMHNW3aNA0ZMkRTp051iLVarbpy5YpTH5mZmQ7THlitVmVlZTnF2Ww2p+kRSsPNzU2tWrUq8/EAAKD0vLy8JEn+/v5q0aKFydnUPseOHStxLAVaAAAAoBoZOXKkRo4cWapjTp48qUmTJqlLly5asGCB0/6AgABdvHjRqdCakpKigIAAh7hfzjWblZWlCxcuOMSVlsViMX5IBAAAVcPDw8N45ftw1Svp9AaS5FKJeQAAAACoZBkZGZowYYLuvvturVq1Sm5ubk4xISEhcnFx0fbt2402m82m3bt3q1evXkZbr169tHfvXmVmZhptycnJcnFxUXBwcOWeCAAAQC3FHbQAAABADZWbm6tJkybpxx9/1O9//3v98MMPxj53d3e1bdtWktSkSRONGDFCUVFRcnFxkZ+fn9auXasGDRooLCzMOCYsLEzvvvuuIiIiFB4ervT0dEVFRSksLEx+fn5Vfn4AAAC1AQVaAAAAoIa6ePGiDh8+LEmaMmWKw7577rlHn332mbE9Z84c1atXT0uXLtXVq1d1//336+2333ZYdd3b21tJSUn605/+pIiICNWrV08jRozQ9OnTq+aEAAAAaiEKtAAAAEAN1axZMx05cqREse7u7poxY4ZmzJhxy7jAwEAlJiZWQHYAAAAoCeagBQAAAAAAAACTUKAFAAAAAAAAAJNQoAUAAAAAAAAAk1CgBQAAAAAAAACTsEgYAAC1lF99b7NTqBHy3XL13c+2mzbwkZunh2n51ARcWwAAAEDJUaAFAKAWKrIX6ZlOD5udRo1w5coVbddqYzui+wDVr1/fxIxqhiJ7kVwsPKwFAAAA3A6jZgAAaiEKZ6hsXGMAAABAyTByBgAAAAAAAACTUKAFAAAAAAAAAJNQoAUAAAAAAAAAk1CgBQAAAAAAAACTUKAFAAAAAAAAAJNQoAUAAAAAAAAAk1CgBQAAAAAAAACTUKAFAAAAAAAAAJNQoAUAAAAAAAAAk1CgBQAAAAAAAACTUKAFAAAAAAAAAJNQoAUAAAAAAAAAk1CgBQAAAAAAAACTUKAFAAAAAAAAAJNQoAUAAAAAAAAAk1CgBQAAAAAAAACTUKAFAAAAAAAAAJNQoAUAAAAAAAAAk1CgBQAAAAAAAACTUKAFAAAAAAAAAJNQoAUAAAAAAAAAk1CgBQAAAAAAAACT1OgC7cyZMxUUFOT0Z9euXQ5xeXl5Wrx4sYKDg9W5c2eNHz9eKSkpTv0dP35c48ePV+fOnRUcHKyoqCjl5eU5xb3//vvq37+/OnTooKFDh+rzzz93isnKytLs2bP10EMPqUuXLnrhhReUkZFRcScPAAAAAAAAoMarY3YC5dW8eXMtWbLEoS0wMNBhe8GCBdq2bZtmzpwpPz8/rVmzRuPGjdNHH32kBg0aSJJsNpvGjh2rli1bKjo6Wunp6Vq0aJFyc3M1d+5co6+PPvpIr7/+uiZPnqzu3btr27Ztmjp1qt577z117tzZiIuMjNSxY8f0hz/8QXXr1tWKFSs0adIkffDBB6pTp8Z/7AAAAAAAAAAqQI2vFHp4eDgURn/p/Pnz2rJli+bNm6cRI0ZIkjp06KBHHnlEmzZt0qRJkyRJmzZt0tWrVxUTEyMfHx9JUmFhoebPn6/w8HD5+flJklatWqXBgwcrMjJSktS9e3cdPXpUsbGxWrdunSTpwIED2r17txISEhQSEiJJ8vf316BBg7R9+3YNGjSoEj4JAAAAAAAAADVNjZ7ioCR2796toqIiDRgwwGjz8fFRcHCww1QIu3btUo8ePYzirCQNHDhQRUVF2rNnjyTp9OnTOnHihAYOHOjwHoMGDdK+ffuM6RB27dolq9Wq4OBgIyYgIEBt2rRxmn4BAAAAAAAAQO1V4wu0J0+eVNeuXdW+fXsNHz5cO3bscNifkpKihg0bytvb26E9MDDQYR7alJQUBQQEOMRYrVY1btzYiCt+9ff3d+orPz9fp0+fNuL8/f1lsVgc4gICAm449y0AAAAAAACA2qlGT3HQpk0bdejQQa1atVJWVpY2btyoiIgIrVy50rhjNjMz05hn9uesVqtsNpuxnZmZKavV6hTn7e1txBW//jKueLt4/83e09vbW999911ZTtVgt9uVnZ1drj4AAEDJ/fL7bnZ2tlxcavzvuGsUu93u9ItvXFdYWKj169frH//4h44dOya73a6goCC9+OKLeuCBBxxig4KCnI5v1KiR8bRYsePHj2vBggU6cOCA6tWrp8cff1yRkZFyd3ev1HMBAACorapVgTYrK0sZGRm3jWvevLnc3d01duxYh/bQ0FCFhYVp1apVDlMa3Eny8/N16NAhs9MAAKDWyMnJcdg+evSoPD09Tcqm9qI4eGO5ubmKj4/XE088oUmTJsnFxUWbN2/WmDFjlJCQoB49ejjEjx49WkOGDDG23dzcHPaXdOFcAAAAVJxqVaBNTk7WnDlzbhu3bds2BQYGOrW7uLioX79+evPNN5WbmysPDw9ZrVZduXLFKTYzM9Nh2gOr1aqsrCynOJvNZsQVv2ZlZalx48YOff18v9Vq1fnz52/ZV1m5ubmpVatW5eoDAACU3C/HEa1bt1b9+vVNyqZ2OnbsmNkpVFseHh7asWOHwxgzODhYQ4YMUVJSklOB9u67777lArslXTgXAAAAFadaFWhHjhypkSNHVmifAQEBunjxolNx9Jdzzt5oftisrCxduHDBiCt+/eWxKSkpcnNzU/PmzY24ffv2OT2Ol5qaqtatW5frfCwWi7y8vMrVBwAAKLmioiKHbS8vL74XVzGmN7g5V1dXpxsAXF1dFRQUpFOnTpW6v5stnDtv3jzt2bNHw4cPL2/KAAAA+IU7agK1oqIiJScn69e//rU8PDwkSSEhIXJxcdH27duNOJvNpt27d6tXr15GW69evbR3717jbljp+h29Li4uCg4OlnR9aoWWLVsqOTnZ4X23bdumHj16GI/e9erVSzabTfv27TNiUlNT9f333zu8JwAAAFDRCgoK9M033zgtgCtJ8fHxateunR544AFFRkbq7NmzDvtLsnAuAAAAKla1uoO2NNLS0jRz5kwNHjxYLVq0kM1m08aNG/Xdd98pOjraiGvSpIlGjBihqKgoubi4yM/PT2vXrlWDBg0UFhZmxIWFhendd99VRESEwsPDlZ6erqioKIWFhTk8yjVt2jS98soruvfee9WtWzdt27ZN//nPf7RhwwYjpkuXLgoJCdHs2bM1Y8YM1a1bV8uXL1dQUJD69etXNR8QAAAAaqW33npL6enpGjdunEP7sGHD1KdPHzVq1EhHjx7V6tWr9fTTT+vDDz807sItycK5ZcFCtwAAVL3c3Fzjle/DVa80C93W2AJtvXr1VL9+fa1evVqXLl2Sm5ub2rdvr3Xr1unhhx92iJ0zZ47q1aunpUuX6urVq7r//vv19ttvq0GDBkaMt7e3kpKS9Kc//UkRERGqV6+eRowYoenTpzv0NWTIEOXk5GjdunWKj4+Xv7+/YmJi1KVLF4e4FStWaOHChZo7d64KCgoUEhKiOXPmqE6dGvuRAwAAoAqUduHcn9uzZ4+io6P1/PPPq3379g77Fi9ebPz9wQcfVNeuXTV8+HBt3rxZkyZNqpjkb4KFbgEAqHrp6emSrj/VTYHWHCVd6LbGVgt9fHy0evXqEsW6u7trxowZmjFjxi3jAgMDlZiYeNv+SjJXboMGDfTGG2/ojTfeKFGOAAAAgFT2hXMPHjyoadOmaciQIZo6deptj7/vvvvk7++vgwcPGm0lWTi3LFjoFgCAqle8boK/v79atGhhcja1T2kWuq2xBVoAAADgTlSWhXNPnjypSZMmqUuXLlqwYEGZ37skC+eWBQvdAgBQ9YrXZ/Lw8OD7sAlKs9DtHbVIGAAAAFDbZGRkaMKECbr77ru1atUqubm5lei4Q4cOKTU1VR06dDDaSrJwLgAAACoWd9ACAAAANVRubq4mTZqkH3/8Ub///e/1ww8/GPvc3d3Vtm1bSVJCQoJOnTqlbt26ydfXVz/88IPWrFmjJk2aONytW9KFcwEAwH+lp6dXyzle09LSHF6rEy8vL8YWP0OBFgAA4Bbq1KkjFxcXFRUVycXFhQU/Ua1cvHhRhw8fliRNmTLFYd8999yjzz77TNL1uee2b9+ujz/+WFevXtWvfvUr9e7dW5GRkbJarcYxJV04FwAAXJeZmamXXnpJdrvd7FRuKi4uzuwUnLi4uCguLs5hHFKb8RMGAADALXh4eGjYsGHaunWrhg0bZszlBVQHzZo105EjR24bFxoaqtDQ0BL1WdKFcwEAwPUFNpctW1Yt76Ctzry8vCjO/gwFWgAAgNuIiIhQRESE2WkAAACgGuJRfZQXi4QBAAAAAAAAgEko0AIAAAAAAACASSjQAgAAAAAAAIBJKNACAAAAAAAAgEko0AIAAAAAAACASSjQAgAAAAAAAIBJKNACAAAAAAAAgEko0AIAAAAAAACASSjQAgAAAAAAAIBJKNACAAAAAAAAgEko0AIAAAAAAACASSjQAgAAAAAAAIBJ6pidAEouPz9fdrtd3377rdmpAAAAVJm8vDxZLBaz00AZMYYFAAC1UWnGsBRoaxB+MAEAALWRxWJhHFSD8W8HAABqo9KMYS12u91eyfkAAAAAAAAAAG6AOWgBAAAAAAAAwCQUaAEAAAAAAADAJBRoAQAAAAAAAMAkFGgBAAAAAAAAwCQUaAEAAAAAAADAJBRoAQAAAAAAAMAkFGgBAAAAAAAAwCQUaAEAAAAAAADAJBRoAQAAAAAAAMAkFGgBAAAAAAAAwCQUaAEAAAAAAADAJBRocceKjo5Wly5dnNoXLVqk++67T++//75mzpypIUOGVGoe+/fvV1BQkL799luj7aefflJERIQefPBBBQUFaceOHZWaA1AsOjpaQUFBxp9u3bpp1KhR+uKLL0rdV1BQkBISEm4Zc6PrHzBD8bV4qz/R0dEl7i80NFR//OMfbxmTmZmpoKAg/eUvfylv+gBqEcawgDPGsKjNGMfWDnXMTgCoSm+++aYSExM1f/58jRw5Uv/6178q/T3btWunP//5zwoMDDTa3n77be3fv1+LFy9Ww4YN5e/vX+l5AMU8PDyUlJQkScrIyNCaNWs0efJkvffee7r//vsr9L1udP0DZii+Fm9k5cqV+uc//6mQkJAS9xcTEyOr1VpR6QHALTGGBRjDovZiHFs7UKBFrbF8+XK99dZbmjdvnp566qlKfz+73a78/HzVr19fnTt3dtiXmpqqoKAgPfroo5WeB/BLLi4uDtdkp06d1Lt3b23durXCB7c3uv4BM9zsWty5c6f27t2rF1988YZ3rN1M27ZtKzA7ALg5xrDAdYxhUVsxjq0dmOIAtUJ0dLTWrFmj119/XU8//bTT/v3792vYsGHq3LmzRowYoe+++85h//r16/Xb3/5WXbt2VY8ePRQeHq7U1FSHmOJHzb744gsNHTpUHTp00Geffeb0eExQUJA++eQTffXVV8bjCICZ/Pz85Ovrq7Nnz0q6fkfCrFmz9Oijj6pjx47q16+fli1bpry8PKdjCwsLFRUVpe7du6tLly6aOXOmrly5Yuzn8TBUZ+np6Zo9e7YeeughTZ48WZKUnZ2tP/7xj+rfv786deqk0NBQzZ07V1lZWQ7H3ujRsM2bNys0NFSdOnXS2LFjdfLkySo7FwB3JsawwM0xhkVtxjj2zsMdtLjjrV69WjExMZo1a5aeffZZp/0XLlzQggUL9Lvf/U4NGjTQ0qVLNXXqVH366adyc3OTJJ0/f17PPvusmjZtqitXrmjTpk0KCwvTJ598Ih8fH6OvjIwMLViwQFOmTNHdd9+tpk2b6vz58w7v9+c//1lLlizR1atXNW/evEo9d6Akrl69KpvNpmbNmkmSfvzxR/n4+GjWrFmyWq06ceKEoqOjdeHCBS1cuNDh2HfffVft2rXT4sWLdebMGS1ZskTXrl3T8uXLzTgVoMSKior06quvSpKWLFkiF5frv7POzc1VYWGhpk+fLl9fX507d05r1qzR888/r3ffffem/X3++ed6/fXXNXz4cA0aNEgHDx7Uiy++WCXnAuDOxBgWuDXGsKitGMfemSjQ4o6WnZ2tFStWaOTIkRo3btwNY2w2mzZs2KBf//rXkiRPT0+NGTNG33zzjR544AFJ0uzZs434wsJCBQcHq0ePHvrkk08cHjWz2Wxat26dOnXqZLT9cnDbuXNnWa1WWSwWHpuBaQoKCiRd/4HszTffVL169TRmzBhJ1++QmTFjhhF7//33y9PTUzNnztTcuXPl6elp7HN3d1dsbKxcXV0lSXXr1tWcOXM0depU5uxCtbZu3Trt379fq1evlp+fn9Hu6+ur+fPnG9sFBQVq1qyZnn76aaWmpt50vsXVq1frgQceMH4AfPjhh3Xt2jXFxcVV7okAuCMxhgVujDEswDj2TkWBFnc0Dw8PdejQQX//+9/1xBNPqGvXrk4xd911lzGwlaRWrVpJuv7IQLF///vfWrlypb7//nv99NNPRvuJEycc+vLx8XEY2ALVUXZ2ttq1a2dsu7q6Ki4uTgEBAZKuzz2XlJSkzZs368yZM7p27ZoRe/r0abVu3drYfuSRR4yBrSQNGDBAv//97/Xtt98yuEW19c0332jVqlUaPXq0QkNDnfZv3bpViYmJOnnypLKzs432EydO3HBgW1hYqIMHDxp3MhTr378/A1sAZcIYFnDGGBZgHHsnYw5a3NFcXFy0evVqtWzZUpMnT9aRI0ecYn65emHxI2HF39DPnj2rCRMmqLCwUPPnz9fGjRu1ZcsWNWzY0OGbviQ1atSoks4EqDgeHh7asmWL3n//fb355ptq3LixZsyYoYyMDElSUlKSFi9erEcffVRxcXF6//33NXfuXElyuuYbNmzosF2/fn3VrVvX6Auobq5cuaKXXnpJrVq10muvvea0/9NPP9WMGTPUsWNHrVixQps3b1ZsbKwk5+u/2OXLl1VQUCBfX1+Hdr4nACgrxrCAM8awqO0Yx97ZuIMWd7wGDRooISFBo0aN0sSJE7Vx40Y1b968xMd/+eWXys7OVkxMjDEQLigokM1mc4q1WCwVljdQWVxcXNShQwdJUseOHeXv768nn3xSsbGxmj9/vpKTkxUaGqqXX37ZOOb48eM37OvSpUsO21euXNG1a9d01113Vd4JAOUwb948Xbp0SfHx8XJ3d3fan5ycrDZt2jgsnPDPf/7zln36+vqqTp06unz5skP7xYsXKyZpALUSY1jAEWNY1HaMY+9s3EGLWqFhw4Zav369LBaLJkyYoAsXLpT42NzcXFksFtWp89/fZ3z88cfG/EdATdehQwcNHjxYf/nLX3ThwgXl5uYad+EU+9vf/nbDYz///HMVFhYa28nJybJYLMbgGahOtm7dqr///e+aM2fOTR9fLM31X8zV1VVt27bVp59+6tD+ySeflC9hALUeY1jg5hjDojZhHHvn4w5a1BrNmjVTQkKCnn32WT333HPasGFDiY7r3r27JGnWrFkKCwvTDz/8oLffftvpsTKgJnv++ee1bds2JSUlqWfPnnrnnXe0YcMGtWzZUn/961918uTJGx6Xl5eniIgIjRo1ylgBt3///szdhWrn1KlTmj9/vtq3b69WrVrp3//+t1NM/fr11bNnT/3xj39UbGysunTpoi+++EL79u27bf+TJ0/W888/r1mzZhmr33744YeVcCYAahvGsMDNMYZFbcA4tnagQItapXXr1lq7dq3Gjx+v8PDwEj3CEhQUpIULFyomJkbh4eFq06aNVq5cqcjIyMpPGKgiAQEBGjRokDZu3Kh//OMf+vHHH7Vq1SpJ1yeInzNnjiZPnux03OjRo3X58mW99tprysvLU9++fY25voDq5KuvvlJ2dra+++47h5XLf+6hhx5SYmKizpw5ow0bNighIUEhISFaunSpnnzyyVv2/+ijj2r+/Plas2aNPvroI3Xq1MlYgR0AyosxLHBjjGFRGzCOrR0sdrvdbnYSAAAAAAAAAFAbMQctAAAAAAAAAJiEAi0AAAAAAAAAmIQCLQAAAAAAAACYhAItAAAAAAAAAJiEAi0AAAAAAAAAmIQCLQAAAAAAAACYhAItAAAAAAAAAJiEAi0AAAAAAAAAmIQCLQAAAAAAAACYpI7ZCQAAyubIkSOKjY3Vt99+q4sXL8rHx0etWrVSaGioRo8ebXZ6AAAAwA0xjgUARxa73W43OwkAQOl8/fXXGjNmjJo2baphw4apcePGOnfunL755hudOnVKn376qdkpAgAAAE4YxwKAM+6gBYAaaM2aNWrQoIG2bNkiq9XqsO/SpUsmZQUAAADcGuNYAHDGHLQAUAOdOnVKrVq1chrUSlLDhg0dtj/88EMNHz5cHTt21EMPPaTp06fr3LlzDjFfffWVXnjhBfXp00ft27dX79699cYbbyg3N9ch7sKFC5o1a5Z69eql9u3bKyQkRFOmTNGZM2cc4t577z0NHjzYiJk/f74yMzMdYkaPHq0hQ4bo2LFjGj16tDp16qSHH35Y69atK89HAwAAgGqMcSwAOOMOWgCoge655x4dOHBAR48eVevWrW8at3r1aq1cuVIDBw7UiBEjdPnyZW3YsEHPPPOMtm7dagyMk5OTlZubq1GjRsnHx0f/+c9/tGHDBp0/f16rVq0y+ps2bZqOHTumZ599Vvfcc48uX76sPXv26Ny5c2rWrJkkKTo6WjExMerZs6dGjRql1NRUbdy4Ud9++602btwoNzc3oz+bzabnnntOffv21cCBA/XJJ59oyZIlat26tXr37l1Jnx4AAADMwjgWAG7ADgCocXbv3m1v06aNvU2bNvannnrKHhUVZf/yyy/teXl5RsyZM2fsbdq0sa9evdrh2CNHjtjbtm3r0J6Tk+P0HmvXrrUHBQXZ09LS7Ha73W6z2eytW7e2v/XWWzfN69KlS/Z27drZJ0yYYC8sLDTaN2zYYG/durV9y5YtRtuzzz5rb926tf1///d/jbZr167Zg4OD7dOmTSv5hwEAAIAag3EsADhjigMAqIGCg4O1adMmhYaG6vDhw3rrrbc0ceJE9erVSzt37pQkffrppyoqKtLAgQN1+fJl40+jRo3UokUL7d+/3+jPw8PD+Ht2drYuX76sLl26yG636/vvvzdi3Nzc9M9//lM2m+2Gee3du1f5+fkaM2aMXFz++y1m5MiRql+/vr744guHeC8vLz3++OPGtru7uzp06KDTp0+X/0MCAABAtcM4FgCcMcUBANRQHTt2VExMjPLy8nT48GHt2LFDiYmJevHFF7V161adOHFCdrtd/fr1u+Hxder891vA2bNntWrVKn322WdOg9YrV65Iuj7ofOWVV7R48WIFBwerU6dO6tOnj7H6bnE/khQQEODQh7u7u5o3b660tDSH9iZNmshisTi0eXt768iRI2X4RAAAAFATMI4FAEcUaAGghnN3d1fHjh3VsWNHtWzZUrNmzVJycrKKiopksVi0bt06ubq6Oh3n5eUlSSosLNT48eONebQCAgLk5eWl9PR0zZw5U0VFRcYx48aNU2hoqHbs2KHdu3dr5cqVio+PV1JSktq2bVvq3G+UFwAAAGoHxrEAcB0FWgC4g7Rv316SlJGRoXvvvVd2u13NmjWTv7//TY85evSoTpw4ocWLF2vYsGFG+549e24Yf++992rChAmaMGGCTpw4oWHDhmn9+vVasmSJmjZtKklKSUlR8+bNjWPy8vJ05swZ9ezZswLOEgAAAHcaxrEAajPmoAWAGuj//u//ZLfbndqL58YKCAhQv3795OrqqpiYGKdYu92uH3/8UZKMObZ+HmO32/XOO+84HJOTk6Nr1645tN17772qV6+e8vLyJEk9e/aUm5ub3n33XYf+tmzZoqysLFa0BQAAqOUYxwKAM+6gBYAaaMGCBcrJyVHfvn0VEBCg/Px8ff311/r44491zz33aPjw4bJarYqMjNTSpUuVlpamxx57TPXq1dOZM2e0Y8cOPfnkk5o4caICAgJ07733avHixUpPT1f9+vX1ySefKDMz0+E9T5w4oXHjxmnAgAFq1aqVXF1dtWPHDl28eFGDBw+WJPn6+io8PFwxMTF67rnnFBoaqtTUVP3P//yPOnTooKFDh5rxcQEAAKCaYBwLAM4o0AJADfTaa68pOTlZX3zxhf785z8rPz9fTZs21dNPP60pU6bIarVKkn73u9+pZcuWSkxMVGxsrKTrCxoEBwcrNDRUkuTm5qY1a9ZowYIFWrt2rerWrau+ffvqmWeecViZtkmTJho8eLD27dunv/71r3J1dVVAQIBWrFih/v37G3HTpk2Tr6+vNmzYoIULF8rb21tPPvmkXnrpJbm5uVXhpwQAAIDqhnEsADiz2G/0bAEAAAAAAAAAoNIxBy0AAAAAAAAAmIQCLQAAAAAAAACYhAItAAAAAAAAAJiEAi0AAAAAAAAAmIQCLQAAAAAAAACYhAItAAAAAAAAAJiEAi0AAAAAAAAAmIQCLQAAAAAAAACYhAItAAAAAAAAAJiEAi0AAAAAAAAAmIQCLQAAAAAAAACYhAItAAAAAAAAAJiEAi0AAAAAAAAAmOT/A0/sxdWy/s+AAAAAAElFTkSuQmC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2" name="Picture 11" descr="3rd.png"/>
          <p:cNvPicPr>
            <a:picLocks noChangeAspect="1"/>
          </p:cNvPicPr>
          <p:nvPr/>
        </p:nvPicPr>
        <p:blipFill>
          <a:blip r:embed="rId3"/>
          <a:stretch>
            <a:fillRect/>
          </a:stretch>
        </p:blipFill>
        <p:spPr>
          <a:xfrm>
            <a:off x="845388" y="1716657"/>
            <a:ext cx="9126748" cy="4866986"/>
          </a:xfrm>
          <a:prstGeom prst="rect">
            <a:avLst/>
          </a:prstGeom>
        </p:spPr>
      </p:pic>
    </p:spTree>
    <p:extLst>
      <p:ext uri="{BB962C8B-B14F-4D97-AF65-F5344CB8AC3E}">
        <p14:creationId xmlns=""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latin typeface="Times New Roman" pitchFamily="18" charset="0"/>
                <a:cs typeface="Times New Roman" pitchFamily="18" charset="0"/>
              </a:rPr>
              <a:t>RESULTS </a:t>
            </a:r>
            <a:endParaRPr lang="en-IN" dirty="0">
              <a:latin typeface="Times New Roman" pitchFamily="18" charset="0"/>
              <a:cs typeface="Times New Roman" pitchFamily="18" charset="0"/>
            </a:endParaRPr>
          </a:p>
        </p:txBody>
      </p:sp>
      <p:sp>
        <p:nvSpPr>
          <p:cNvPr id="7" name="Text Placeholder 30">
            <a:extLst>
              <a:ext uri="{FF2B5EF4-FFF2-40B4-BE49-F238E27FC236}">
                <a16:creationId xmlns=""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p:cNvSpPr txBox="1"/>
          <p:nvPr/>
        </p:nvSpPr>
        <p:spPr>
          <a:xfrm>
            <a:off x="698740" y="1147312"/>
            <a:ext cx="5357004" cy="461665"/>
          </a:xfrm>
          <a:prstGeom prst="rect">
            <a:avLst/>
          </a:prstGeom>
          <a:noFill/>
        </p:spPr>
        <p:txBody>
          <a:bodyPr wrap="square" rtlCol="0">
            <a:spAutoFit/>
          </a:bodyPr>
          <a:lstStyle/>
          <a:p>
            <a:r>
              <a:rPr lang="en-US" sz="2400" b="1" dirty="0" smtClean="0">
                <a:latin typeface="Times New Roman" pitchFamily="18" charset="0"/>
                <a:cs typeface="Times New Roman" pitchFamily="18" charset="0"/>
              </a:rPr>
              <a:t>Profitability by Season</a:t>
            </a:r>
            <a:endParaRPr lang="en-US" sz="2400" b="1" dirty="0">
              <a:latin typeface="Times New Roman" pitchFamily="18" charset="0"/>
              <a:cs typeface="Times New Roman" pitchFamily="18" charset="0"/>
            </a:endParaRPr>
          </a:p>
        </p:txBody>
      </p:sp>
      <p:pic>
        <p:nvPicPr>
          <p:cNvPr id="7169" name="Picture 1"/>
          <p:cNvPicPr>
            <a:picLocks noChangeAspect="1" noChangeArrowheads="1"/>
          </p:cNvPicPr>
          <p:nvPr/>
        </p:nvPicPr>
        <p:blipFill>
          <a:blip r:embed="rId3"/>
          <a:srcRect/>
          <a:stretch>
            <a:fillRect/>
          </a:stretch>
        </p:blipFill>
        <p:spPr bwMode="auto">
          <a:xfrm>
            <a:off x="851829" y="1777042"/>
            <a:ext cx="7779558" cy="4954797"/>
          </a:xfrm>
          <a:prstGeom prst="rect">
            <a:avLst/>
          </a:prstGeom>
          <a:noFill/>
          <a:ln w="9525">
            <a:noFill/>
            <a:miter lim="800000"/>
            <a:headEnd/>
            <a:tailEnd/>
          </a:ln>
          <a:effectLst/>
        </p:spPr>
      </p:pic>
    </p:spTree>
    <p:extLst>
      <p:ext uri="{BB962C8B-B14F-4D97-AF65-F5344CB8AC3E}">
        <p14:creationId xmlns=""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latin typeface="Times New Roman" pitchFamily="18" charset="0"/>
                <a:cs typeface="Times New Roman" pitchFamily="18" charset="0"/>
              </a:rPr>
              <a:t>RESULTS </a:t>
            </a:r>
            <a:endParaRPr lang="en-IN" dirty="0">
              <a:latin typeface="Times New Roman" pitchFamily="18" charset="0"/>
              <a:cs typeface="Times New Roman" pitchFamily="18" charset="0"/>
            </a:endParaRPr>
          </a:p>
        </p:txBody>
      </p:sp>
      <p:sp>
        <p:nvSpPr>
          <p:cNvPr id="7" name="Text Placeholder 30">
            <a:extLst>
              <a:ext uri="{FF2B5EF4-FFF2-40B4-BE49-F238E27FC236}">
                <a16:creationId xmlns=""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p:cNvSpPr txBox="1"/>
          <p:nvPr/>
        </p:nvSpPr>
        <p:spPr>
          <a:xfrm>
            <a:off x="759125" y="1078301"/>
            <a:ext cx="5357004" cy="461665"/>
          </a:xfrm>
          <a:prstGeom prst="rect">
            <a:avLst/>
          </a:prstGeom>
          <a:noFill/>
        </p:spPr>
        <p:txBody>
          <a:bodyPr wrap="square" rtlCol="0">
            <a:spAutoFit/>
          </a:bodyPr>
          <a:lstStyle/>
          <a:p>
            <a:r>
              <a:rPr lang="en-US" sz="2400" b="1" dirty="0" smtClean="0">
                <a:latin typeface="Times New Roman" pitchFamily="18" charset="0"/>
                <a:cs typeface="Times New Roman" pitchFamily="18" charset="0"/>
              </a:rPr>
              <a:t>Resource Usage by Season</a:t>
            </a:r>
            <a:endParaRPr lang="en-US" sz="2400" b="1" dirty="0">
              <a:latin typeface="Times New Roman" pitchFamily="18" charset="0"/>
              <a:cs typeface="Times New Roman" pitchFamily="18" charset="0"/>
            </a:endParaRPr>
          </a:p>
        </p:txBody>
      </p:sp>
      <p:pic>
        <p:nvPicPr>
          <p:cNvPr id="9" name="Picture 8" descr="5th.png"/>
          <p:cNvPicPr>
            <a:picLocks noChangeAspect="1"/>
          </p:cNvPicPr>
          <p:nvPr/>
        </p:nvPicPr>
        <p:blipFill>
          <a:blip r:embed="rId3"/>
          <a:stretch>
            <a:fillRect/>
          </a:stretch>
        </p:blipFill>
        <p:spPr>
          <a:xfrm>
            <a:off x="517325" y="1578633"/>
            <a:ext cx="9118381" cy="5175849"/>
          </a:xfrm>
          <a:prstGeom prst="rect">
            <a:avLst/>
          </a:prstGeom>
        </p:spPr>
      </p:pic>
    </p:spTree>
    <p:extLst>
      <p:ext uri="{BB962C8B-B14F-4D97-AF65-F5344CB8AC3E}">
        <p14:creationId xmlns=""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AFE3A2AF-177E-45E6-A191-0F8523DB7FFA}"/>
              </a:ext>
            </a:extLst>
          </p:cNvPr>
          <p:cNvSpPr>
            <a:spLocks noGrp="1"/>
          </p:cNvSpPr>
          <p:nvPr>
            <p:ph type="title"/>
          </p:nvPr>
        </p:nvSpPr>
        <p:spPr>
          <a:xfrm>
            <a:off x="675957" y="232567"/>
            <a:ext cx="2981643" cy="830997"/>
          </a:xfrm>
        </p:spPr>
        <p:txBody>
          <a:bodyPr>
            <a:normAutofit/>
          </a:bodyPr>
          <a:lstStyle/>
          <a:p>
            <a:r>
              <a:rPr lang="en-GB" dirty="0">
                <a:latin typeface="Times New Roman" pitchFamily="18" charset="0"/>
                <a:cs typeface="Times New Roman" pitchFamily="18" charset="0"/>
              </a:rPr>
              <a:t>RESULTS </a:t>
            </a:r>
            <a:endParaRPr lang="en-IN" dirty="0">
              <a:latin typeface="Times New Roman" pitchFamily="18" charset="0"/>
              <a:cs typeface="Times New Roman" pitchFamily="18" charset="0"/>
            </a:endParaRPr>
          </a:p>
        </p:txBody>
      </p:sp>
      <p:sp>
        <p:nvSpPr>
          <p:cNvPr id="7" name="Text Placeholder 30">
            <a:extLst>
              <a:ext uri="{FF2B5EF4-FFF2-40B4-BE49-F238E27FC236}">
                <a16:creationId xmlns=""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p:cNvSpPr txBox="1"/>
          <p:nvPr/>
        </p:nvSpPr>
        <p:spPr>
          <a:xfrm>
            <a:off x="741870" y="879893"/>
            <a:ext cx="5357004" cy="461665"/>
          </a:xfrm>
          <a:prstGeom prst="rect">
            <a:avLst/>
          </a:prstGeom>
          <a:noFill/>
        </p:spPr>
        <p:txBody>
          <a:bodyPr wrap="square" rtlCol="0">
            <a:spAutoFit/>
          </a:bodyPr>
          <a:lstStyle/>
          <a:p>
            <a:r>
              <a:rPr lang="en-US" sz="2400" b="1" dirty="0" smtClean="0">
                <a:latin typeface="Times New Roman" pitchFamily="18" charset="0"/>
                <a:cs typeface="Times New Roman" pitchFamily="18" charset="0"/>
              </a:rPr>
              <a:t>Correlation Between Variables</a:t>
            </a:r>
            <a:endParaRPr lang="en-US" sz="2400" b="1" dirty="0">
              <a:latin typeface="Times New Roman" pitchFamily="18" charset="0"/>
              <a:cs typeface="Times New Roman" pitchFamily="18" charset="0"/>
            </a:endParaRPr>
          </a:p>
        </p:txBody>
      </p:sp>
      <p:pic>
        <p:nvPicPr>
          <p:cNvPr id="9" name="Picture 8" descr="6th.png"/>
          <p:cNvPicPr>
            <a:picLocks noChangeAspect="1"/>
          </p:cNvPicPr>
          <p:nvPr/>
        </p:nvPicPr>
        <p:blipFill>
          <a:blip r:embed="rId3"/>
          <a:stretch>
            <a:fillRect/>
          </a:stretch>
        </p:blipFill>
        <p:spPr>
          <a:xfrm>
            <a:off x="483077" y="1354346"/>
            <a:ext cx="9238892" cy="5400137"/>
          </a:xfrm>
          <a:prstGeom prst="rect">
            <a:avLst/>
          </a:prstGeom>
        </p:spPr>
      </p:pic>
    </p:spTree>
    <p:extLst>
      <p:ext uri="{BB962C8B-B14F-4D97-AF65-F5344CB8AC3E}">
        <p14:creationId xmlns=""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latin typeface="Times New Roman" pitchFamily="18" charset="0"/>
                <a:cs typeface="Times New Roman" pitchFamily="18" charset="0"/>
              </a:rPr>
              <a:t>RESULTS </a:t>
            </a:r>
            <a:endParaRPr lang="en-IN" dirty="0">
              <a:latin typeface="Times New Roman" pitchFamily="18" charset="0"/>
              <a:cs typeface="Times New Roman" pitchFamily="18" charset="0"/>
            </a:endParaRPr>
          </a:p>
        </p:txBody>
      </p:sp>
      <p:sp>
        <p:nvSpPr>
          <p:cNvPr id="7" name="Text Placeholder 30">
            <a:extLst>
              <a:ext uri="{FF2B5EF4-FFF2-40B4-BE49-F238E27FC236}">
                <a16:creationId xmlns=""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p:cNvSpPr txBox="1"/>
          <p:nvPr/>
        </p:nvSpPr>
        <p:spPr>
          <a:xfrm>
            <a:off x="724619" y="1121434"/>
            <a:ext cx="6021238" cy="461665"/>
          </a:xfrm>
          <a:prstGeom prst="rect">
            <a:avLst/>
          </a:prstGeom>
          <a:noFill/>
        </p:spPr>
        <p:txBody>
          <a:bodyPr wrap="square" rtlCol="0">
            <a:spAutoFit/>
          </a:bodyPr>
          <a:lstStyle/>
          <a:p>
            <a:r>
              <a:rPr lang="en-US" sz="2400" b="1" dirty="0" smtClean="0">
                <a:latin typeface="Times New Roman" pitchFamily="18" charset="0"/>
                <a:cs typeface="Times New Roman" pitchFamily="18" charset="0"/>
              </a:rPr>
              <a:t>Unusual Pattern — High Yield, Low Profit</a:t>
            </a:r>
            <a:endParaRPr lang="en-US" sz="2400" b="1" dirty="0">
              <a:latin typeface="Times New Roman" pitchFamily="18" charset="0"/>
              <a:cs typeface="Times New Roman" pitchFamily="18" charset="0"/>
            </a:endParaRPr>
          </a:p>
        </p:txBody>
      </p:sp>
      <p:pic>
        <p:nvPicPr>
          <p:cNvPr id="4097" name="Picture 1"/>
          <p:cNvPicPr>
            <a:picLocks noChangeAspect="1" noChangeArrowheads="1"/>
          </p:cNvPicPr>
          <p:nvPr/>
        </p:nvPicPr>
        <p:blipFill>
          <a:blip r:embed="rId3"/>
          <a:srcRect/>
          <a:stretch>
            <a:fillRect/>
          </a:stretch>
        </p:blipFill>
        <p:spPr bwMode="auto">
          <a:xfrm>
            <a:off x="705180" y="1604513"/>
            <a:ext cx="8788475" cy="4796737"/>
          </a:xfrm>
          <a:prstGeom prst="rect">
            <a:avLst/>
          </a:prstGeom>
          <a:noFill/>
          <a:ln w="9525">
            <a:noFill/>
            <a:miter lim="800000"/>
            <a:headEnd/>
            <a:tailEnd/>
          </a:ln>
          <a:effectLst/>
        </p:spPr>
      </p:pic>
    </p:spTree>
    <p:extLst>
      <p:ext uri="{BB962C8B-B14F-4D97-AF65-F5344CB8AC3E}">
        <p14:creationId xmlns=""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B097C2C-D75A-31D4-CD9F-366F39CDE51D}"/>
              </a:ext>
            </a:extLst>
          </p:cNvPr>
          <p:cNvSpPr>
            <a:spLocks noGrp="1"/>
          </p:cNvSpPr>
          <p:nvPr>
            <p:ph type="title"/>
          </p:nvPr>
        </p:nvSpPr>
        <p:spPr>
          <a:xfrm>
            <a:off x="727715" y="629381"/>
            <a:ext cx="4735798" cy="830997"/>
          </a:xfrm>
        </p:spPr>
        <p:txBody>
          <a:bodyPr>
            <a:normAutofit/>
          </a:bodyPr>
          <a:lstStyle/>
          <a:p>
            <a:r>
              <a:rPr lang="en-IN" dirty="0">
                <a:latin typeface="Times New Roman" pitchFamily="18" charset="0"/>
                <a:cs typeface="Times New Roman" pitchFamily="18" charset="0"/>
              </a:rPr>
              <a:t>Future scope</a:t>
            </a:r>
          </a:p>
        </p:txBody>
      </p:sp>
      <p:sp>
        <p:nvSpPr>
          <p:cNvPr id="7" name="Text Placeholder 30">
            <a:extLst>
              <a:ext uri="{FF2B5EF4-FFF2-40B4-BE49-F238E27FC236}">
                <a16:creationId xmlns=""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p:cNvSpPr txBox="1"/>
          <p:nvPr/>
        </p:nvSpPr>
        <p:spPr>
          <a:xfrm>
            <a:off x="810882" y="1975449"/>
            <a:ext cx="8097473" cy="3970318"/>
          </a:xfrm>
          <a:prstGeom prst="rect">
            <a:avLst/>
          </a:prstGeom>
          <a:noFill/>
        </p:spPr>
        <p:txBody>
          <a:bodyPr wrap="square" rtlCol="0">
            <a:spAutoFit/>
          </a:bodyPr>
          <a:lstStyle/>
          <a:p>
            <a:pPr>
              <a:buClr>
                <a:schemeClr val="accent5"/>
              </a:buClr>
              <a:buFont typeface="Wingdings" pitchFamily="2" charset="2"/>
              <a:buChar char="§"/>
            </a:pPr>
            <a:r>
              <a:rPr lang="en-US" dirty="0" smtClean="0"/>
              <a:t> </a:t>
            </a:r>
            <a:r>
              <a:rPr lang="en-US" dirty="0" smtClean="0">
                <a:latin typeface="Times New Roman" pitchFamily="18" charset="0"/>
                <a:cs typeface="Times New Roman" pitchFamily="18" charset="0"/>
              </a:rPr>
              <a:t>Extend the analysis with multivariate regression to isolate the individual effect of</a:t>
            </a:r>
          </a:p>
          <a:p>
            <a:pPr>
              <a:buClr>
                <a:schemeClr val="accent5"/>
              </a:buClr>
            </a:pPr>
            <a:r>
              <a:rPr lang="en-US" dirty="0" smtClean="0">
                <a:latin typeface="Times New Roman" pitchFamily="18" charset="0"/>
                <a:cs typeface="Times New Roman" pitchFamily="18" charset="0"/>
              </a:rPr>
              <a:t>   each factor (season, crop, region) on yield and profit while controlling for the</a:t>
            </a:r>
          </a:p>
          <a:p>
            <a:pPr>
              <a:buClr>
                <a:schemeClr val="accent5"/>
              </a:buClr>
            </a:pPr>
            <a:r>
              <a:rPr lang="en-US" dirty="0" smtClean="0">
                <a:latin typeface="Times New Roman" pitchFamily="18" charset="0"/>
                <a:cs typeface="Times New Roman" pitchFamily="18" charset="0"/>
              </a:rPr>
              <a:t>   others.</a:t>
            </a:r>
          </a:p>
          <a:p>
            <a:pPr>
              <a:buClr>
                <a:schemeClr val="accent5"/>
              </a:buClr>
            </a:pPr>
            <a:endParaRPr lang="en-US" dirty="0" smtClean="0">
              <a:latin typeface="Times New Roman" pitchFamily="18" charset="0"/>
              <a:cs typeface="Times New Roman" pitchFamily="18" charset="0"/>
            </a:endParaRPr>
          </a:p>
          <a:p>
            <a:pPr>
              <a:buClr>
                <a:schemeClr val="accent5"/>
              </a:buClr>
              <a:buFont typeface="Wingdings" pitchFamily="2" charset="2"/>
              <a:buChar char="§"/>
            </a:pPr>
            <a:r>
              <a:rPr lang="en-US" dirty="0" smtClean="0">
                <a:latin typeface="Times New Roman" pitchFamily="18" charset="0"/>
                <a:cs typeface="Times New Roman" pitchFamily="18" charset="0"/>
              </a:rPr>
              <a:t> Incorporate additional years of data to study year-over-year seasonal trends, not just</a:t>
            </a:r>
          </a:p>
          <a:p>
            <a:pPr>
              <a:buClr>
                <a:schemeClr val="accent5"/>
              </a:buClr>
            </a:pPr>
            <a:r>
              <a:rPr lang="en-US" dirty="0" smtClean="0">
                <a:latin typeface="Times New Roman" pitchFamily="18" charset="0"/>
                <a:cs typeface="Times New Roman" pitchFamily="18" charset="0"/>
              </a:rPr>
              <a:t>   a single-year snapshot.</a:t>
            </a:r>
          </a:p>
          <a:p>
            <a:pPr>
              <a:buClr>
                <a:schemeClr val="accent5"/>
              </a:buClr>
            </a:pPr>
            <a:endParaRPr lang="en-US" dirty="0" smtClean="0">
              <a:latin typeface="Times New Roman" pitchFamily="18" charset="0"/>
              <a:cs typeface="Times New Roman" pitchFamily="18" charset="0"/>
            </a:endParaRPr>
          </a:p>
          <a:p>
            <a:pPr>
              <a:buClr>
                <a:schemeClr val="accent5"/>
              </a:buClr>
              <a:buFont typeface="Wingdings" pitchFamily="2" charset="2"/>
              <a:buChar char="§"/>
            </a:pPr>
            <a:r>
              <a:rPr lang="en-US" dirty="0" smtClean="0">
                <a:latin typeface="Times New Roman" pitchFamily="18" charset="0"/>
                <a:cs typeface="Times New Roman" pitchFamily="18" charset="0"/>
              </a:rPr>
              <a:t> Build a simple predictive model (e.g. profit or yield forecasting) to support</a:t>
            </a:r>
          </a:p>
          <a:p>
            <a:pPr>
              <a:buClr>
                <a:schemeClr val="accent5"/>
              </a:buClr>
            </a:pPr>
            <a:r>
              <a:rPr lang="en-US" dirty="0" smtClean="0">
                <a:latin typeface="Times New Roman" pitchFamily="18" charset="0"/>
                <a:cs typeface="Times New Roman" pitchFamily="18" charset="0"/>
              </a:rPr>
              <a:t>   proactive seasonal </a:t>
            </a:r>
            <a:r>
              <a:rPr lang="en-US" dirty="0" smtClean="0">
                <a:latin typeface="Times New Roman" pitchFamily="18" charset="0"/>
                <a:cs typeface="Times New Roman" pitchFamily="18" charset="0"/>
              </a:rPr>
              <a:t>planning.</a:t>
            </a:r>
            <a:endParaRPr lang="en-US" dirty="0" smtClean="0">
              <a:latin typeface="Times New Roman" pitchFamily="18" charset="0"/>
              <a:cs typeface="Times New Roman" pitchFamily="18" charset="0"/>
            </a:endParaRPr>
          </a:p>
          <a:p>
            <a:pPr>
              <a:buClr>
                <a:schemeClr val="accent5"/>
              </a:buClr>
            </a:pPr>
            <a:r>
              <a:rPr lang="en-US" dirty="0" smtClean="0">
                <a:latin typeface="Times New Roman" pitchFamily="18" charset="0"/>
                <a:cs typeface="Times New Roman" pitchFamily="18" charset="0"/>
              </a:rPr>
              <a:t>.</a:t>
            </a:r>
          </a:p>
          <a:p>
            <a:pPr>
              <a:buClr>
                <a:schemeClr val="accent5"/>
              </a:buClr>
              <a:buFont typeface="Wingdings" pitchFamily="2" charset="2"/>
              <a:buChar char="§"/>
            </a:pPr>
            <a:r>
              <a:rPr lang="en-US" dirty="0" smtClean="0">
                <a:latin typeface="Times New Roman" pitchFamily="18" charset="0"/>
                <a:cs typeface="Times New Roman" pitchFamily="18" charset="0"/>
              </a:rPr>
              <a:t> Add satellite/weather API data for real-time seasonal advisories.</a:t>
            </a:r>
          </a:p>
          <a:p>
            <a:pPr>
              <a:buClr>
                <a:schemeClr val="accent5"/>
              </a:buClr>
            </a:pPr>
            <a:endParaRPr lang="en-US" dirty="0" smtClean="0">
              <a:latin typeface="Times New Roman" pitchFamily="18" charset="0"/>
              <a:cs typeface="Times New Roman" pitchFamily="18" charset="0"/>
            </a:endParaRPr>
          </a:p>
          <a:p>
            <a:pPr>
              <a:buClr>
                <a:schemeClr val="accent5"/>
              </a:buClr>
              <a:buFont typeface="Wingdings" pitchFamily="2" charset="2"/>
              <a:buChar char="§"/>
            </a:pPr>
            <a:r>
              <a:rPr lang="en-US" dirty="0" smtClean="0">
                <a:latin typeface="Times New Roman" pitchFamily="18" charset="0"/>
                <a:cs typeface="Times New Roman" pitchFamily="18" charset="0"/>
              </a:rPr>
              <a:t> Deploy the analysis as an interactive dashboard (e.g. </a:t>
            </a:r>
            <a:r>
              <a:rPr lang="en-US" dirty="0" err="1" smtClean="0">
                <a:latin typeface="Times New Roman" pitchFamily="18" charset="0"/>
                <a:cs typeface="Times New Roman" pitchFamily="18" charset="0"/>
              </a:rPr>
              <a:t>Streamlit</a:t>
            </a:r>
            <a:r>
              <a:rPr lang="en-US" dirty="0" smtClean="0">
                <a:latin typeface="Times New Roman" pitchFamily="18" charset="0"/>
                <a:cs typeface="Times New Roman" pitchFamily="18" charset="0"/>
              </a:rPr>
              <a:t> or Power BI) for use</a:t>
            </a:r>
          </a:p>
          <a:p>
            <a:pPr>
              <a:buClr>
                <a:schemeClr val="accent5"/>
              </a:buClr>
            </a:pPr>
            <a:r>
              <a:rPr lang="en-US" dirty="0" smtClean="0">
                <a:latin typeface="Times New Roman" pitchFamily="18" charset="0"/>
                <a:cs typeface="Times New Roman" pitchFamily="18" charset="0"/>
              </a:rPr>
              <a:t>   by extension officers and farmers.</a:t>
            </a:r>
            <a:endParaRPr lang="en-US" dirty="0">
              <a:latin typeface="Times New Roman" pitchFamily="18" charset="0"/>
              <a:cs typeface="Times New Roman" pitchFamily="18" charset="0"/>
            </a:endParaRPr>
          </a:p>
        </p:txBody>
      </p:sp>
    </p:spTree>
    <p:extLst>
      <p:ext uri="{BB962C8B-B14F-4D97-AF65-F5344CB8AC3E}">
        <p14:creationId xmlns=""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901A2257-2F98-CB88-038E-C0F1D0A1A363}"/>
              </a:ext>
            </a:extLst>
          </p:cNvPr>
          <p:cNvSpPr>
            <a:spLocks noGrp="1"/>
          </p:cNvSpPr>
          <p:nvPr>
            <p:ph type="title"/>
          </p:nvPr>
        </p:nvSpPr>
        <p:spPr>
          <a:xfrm>
            <a:off x="624198" y="646634"/>
            <a:ext cx="4735798" cy="830997"/>
          </a:xfrm>
        </p:spPr>
        <p:txBody>
          <a:bodyPr>
            <a:normAutofit/>
          </a:bodyPr>
          <a:lstStyle/>
          <a:p>
            <a:r>
              <a:rPr lang="en-IN" dirty="0">
                <a:latin typeface="Times New Roman" pitchFamily="18" charset="0"/>
                <a:cs typeface="Times New Roman" pitchFamily="18" charset="0"/>
              </a:rPr>
              <a:t>GitHub Link</a:t>
            </a:r>
          </a:p>
        </p:txBody>
      </p:sp>
      <p:sp>
        <p:nvSpPr>
          <p:cNvPr id="7" name="Text Placeholder 30">
            <a:extLst>
              <a:ext uri="{FF2B5EF4-FFF2-40B4-BE49-F238E27FC236}">
                <a16:creationId xmlns=""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 xmlns:a16="http://schemas.microsoft.com/office/drawing/2014/main" id="{5F0B37E4-66B1-8633-7266-68B321742757}"/>
              </a:ext>
            </a:extLst>
          </p:cNvPr>
          <p:cNvSpPr txBox="1"/>
          <p:nvPr/>
        </p:nvSpPr>
        <p:spPr>
          <a:xfrm>
            <a:off x="668871" y="2173565"/>
            <a:ext cx="8130072" cy="830997"/>
          </a:xfrm>
          <a:prstGeom prst="rect">
            <a:avLst/>
          </a:prstGeom>
          <a:noFill/>
        </p:spPr>
        <p:txBody>
          <a:bodyPr wrap="square">
            <a:spAutoFit/>
          </a:bodyPr>
          <a:lstStyle/>
          <a:p>
            <a:r>
              <a:rPr lang="en-US" sz="2400" b="1" dirty="0" smtClean="0">
                <a:latin typeface="Times New Roman" pitchFamily="18" charset="0"/>
                <a:cs typeface="Times New Roman" pitchFamily="18" charset="0"/>
                <a:hlinkClick r:id="rId3"/>
              </a:rPr>
              <a:t>https://github.com/nikhilmaurya78/Seasonal-Agriculture-Performance-Analysis.git</a:t>
            </a:r>
            <a:endParaRPr lang="en-US" sz="2400" b="1" dirty="0">
              <a:latin typeface="Times New Roman" pitchFamily="18" charset="0"/>
              <a:cs typeface="Times New Roman" pitchFamily="18" charset="0"/>
            </a:endParaRPr>
          </a:p>
        </p:txBody>
      </p:sp>
    </p:spTree>
    <p:extLst>
      <p:ext uri="{BB962C8B-B14F-4D97-AF65-F5344CB8AC3E}">
        <p14:creationId xmlns=""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 xmlns:a16="http://schemas.microsoft.com/office/drawing/2014/main" id="{42B692F6-18B4-BC16-EA0C-48FFBD5621DF}"/>
              </a:ext>
            </a:extLst>
          </p:cNvPr>
          <p:cNvSpPr>
            <a:spLocks noGrp="1"/>
          </p:cNvSpPr>
          <p:nvPr>
            <p:ph type="title"/>
          </p:nvPr>
        </p:nvSpPr>
        <p:spPr>
          <a:xfrm>
            <a:off x="675957" y="215661"/>
            <a:ext cx="8019469" cy="785004"/>
          </a:xfrm>
        </p:spPr>
        <p:txBody>
          <a:bodyPr>
            <a:normAutofit fontScale="90000"/>
          </a:bodyPr>
          <a:lstStyle/>
          <a:p>
            <a:r>
              <a:rPr lang="en-IN" sz="3200" dirty="0">
                <a:latin typeface="Times New Roman" pitchFamily="18" charset="0"/>
                <a:cs typeface="Times New Roman" pitchFamily="18" charset="0"/>
              </a:rPr>
              <a:t>VOIS Course completion certificate - </a:t>
            </a:r>
            <a:br>
              <a:rPr lang="en-IN" sz="3200" dirty="0">
                <a:latin typeface="Times New Roman" pitchFamily="18" charset="0"/>
                <a:cs typeface="Times New Roman" pitchFamily="18" charset="0"/>
              </a:rPr>
            </a:br>
            <a:endParaRPr lang="en-IN" sz="3200" dirty="0">
              <a:latin typeface="Times New Roman" pitchFamily="18" charset="0"/>
              <a:cs typeface="Times New Roman" pitchFamily="18" charset="0"/>
            </a:endParaRPr>
          </a:p>
        </p:txBody>
      </p:sp>
      <p:sp>
        <p:nvSpPr>
          <p:cNvPr id="7" name="Text Placeholder 30">
            <a:extLst>
              <a:ext uri="{FF2B5EF4-FFF2-40B4-BE49-F238E27FC236}">
                <a16:creationId xmlns=""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descr="Certificate DA_page-0001.jpg"/>
          <p:cNvPicPr>
            <a:picLocks noChangeAspect="1"/>
          </p:cNvPicPr>
          <p:nvPr/>
        </p:nvPicPr>
        <p:blipFill>
          <a:blip r:embed="rId3"/>
          <a:stretch>
            <a:fillRect/>
          </a:stretch>
        </p:blipFill>
        <p:spPr>
          <a:xfrm>
            <a:off x="664233" y="847419"/>
            <a:ext cx="10222303" cy="5867302"/>
          </a:xfrm>
          <a:prstGeom prst="rect">
            <a:avLst/>
          </a:prstGeom>
        </p:spPr>
      </p:pic>
    </p:spTree>
    <p:extLst>
      <p:ext uri="{BB962C8B-B14F-4D97-AF65-F5344CB8AC3E}">
        <p14:creationId xmlns=""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 xmlns:a16="http://schemas.microsoft.com/office/drawing/2014/main" id="{D88C20CF-C1EE-4092-B52D-FD4AB2AB2508}"/>
              </a:ext>
            </a:extLst>
          </p:cNvPr>
          <p:cNvSpPr>
            <a:spLocks noGrp="1"/>
          </p:cNvSpPr>
          <p:nvPr>
            <p:ph type="title"/>
          </p:nvPr>
        </p:nvSpPr>
        <p:spPr>
          <a:xfrm>
            <a:off x="0" y="3002711"/>
            <a:ext cx="11340000" cy="700114"/>
          </a:xfrm>
          <a:prstGeom prst="rect">
            <a:avLst/>
          </a:prstGeom>
        </p:spPr>
        <p:txBody>
          <a:bodyPr anchor="ctr">
            <a:noAutofit/>
          </a:bodyPr>
          <a:lstStyle/>
          <a:p>
            <a:pPr algn="ctr"/>
            <a:r>
              <a:rPr lang="en-US" sz="4800" b="1" dirty="0">
                <a:solidFill>
                  <a:schemeClr val="tx1"/>
                </a:solidFill>
                <a:latin typeface="Times New Roman" pitchFamily="18" charset="0"/>
                <a:cs typeface="Times New Roman" pitchFamily="18" charset="0"/>
              </a:rPr>
              <a:t>Thank you</a:t>
            </a:r>
          </a:p>
        </p:txBody>
      </p:sp>
      <p:sp>
        <p:nvSpPr>
          <p:cNvPr id="31" name="Text Placeholder 30">
            <a:extLst>
              <a:ext uri="{FF2B5EF4-FFF2-40B4-BE49-F238E27FC236}">
                <a16:creationId xmlns="" xmlns:a16="http://schemas.microsoft.com/office/drawing/2014/main" id="{97AB1F14-3A1E-4057-A473-9975BA59F012}"/>
              </a:ext>
            </a:extLst>
          </p:cNvPr>
          <p:cNvSpPr>
            <a:spLocks noGrp="1"/>
          </p:cNvSpPr>
          <p:nvPr>
            <p:ph type="body" sz="quarter" idx="13"/>
          </p:nvPr>
        </p:nvSpPr>
        <p:spPr>
          <a:xfrm>
            <a:off x="3727865" y="4616047"/>
            <a:ext cx="2139695" cy="1108635"/>
          </a:xfrm>
        </p:spPr>
        <p:txBody>
          <a:bodyPr>
            <a:normAutofit/>
          </a:bodyPr>
          <a:lstStyle/>
          <a:p>
            <a:r>
              <a:rPr lang="en-US" dirty="0"/>
              <a:t>.</a:t>
            </a:r>
          </a:p>
        </p:txBody>
      </p:sp>
      <p:sp>
        <p:nvSpPr>
          <p:cNvPr id="17" name="Text Placeholder 28">
            <a:extLst>
              <a:ext uri="{FF2B5EF4-FFF2-40B4-BE49-F238E27FC236}">
                <a16:creationId xmlns=""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1483</TotalTime>
  <Words>676</Words>
  <Application>Microsoft Office PowerPoint</Application>
  <PresentationFormat>Custom</PresentationFormat>
  <Paragraphs>88</Paragraphs>
  <Slides>17</Slides>
  <Notes>1</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Facet</vt:lpstr>
      <vt:lpstr> Project Title - Seasonal Agriculture Performance Analysis</vt:lpstr>
      <vt:lpstr>PROBLEM  STATEMENT</vt:lpstr>
      <vt:lpstr>Project Description  </vt:lpstr>
      <vt:lpstr>Key Findings  </vt:lpstr>
      <vt:lpstr>WHO ARE THE END USERS?</vt:lpstr>
      <vt:lpstr>Technology Used</vt:lpstr>
      <vt:lpstr>RESULTS </vt:lpstr>
      <vt:lpstr>RESULTS </vt:lpstr>
      <vt:lpstr>RESULTS </vt:lpstr>
      <vt:lpstr>RESULTS </vt:lpstr>
      <vt:lpstr>RESULTS </vt:lpstr>
      <vt:lpstr>RESULTS </vt:lpstr>
      <vt:lpstr>RESULTS </vt:lpstr>
      <vt:lpstr>Future scope</vt:lpstr>
      <vt:lpstr>GitHub Link</vt:lpstr>
      <vt:lpstr>VOIS Course completion certificate -  </vt:lpstr>
      <vt:lpstr>Thank you</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HP</cp:lastModifiedBy>
  <cp:revision>113</cp:revision>
  <dcterms:created xsi:type="dcterms:W3CDTF">2021-07-11T13:13:15Z</dcterms:created>
  <dcterms:modified xsi:type="dcterms:W3CDTF">2026-09-08T20:09:09Z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